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9"/>
  </p:notesMasterIdLst>
  <p:sldIdLst>
    <p:sldId id="288" r:id="rId2"/>
    <p:sldId id="260" r:id="rId3"/>
    <p:sldId id="289" r:id="rId4"/>
    <p:sldId id="290" r:id="rId5"/>
    <p:sldId id="294" r:id="rId6"/>
    <p:sldId id="291" r:id="rId7"/>
    <p:sldId id="292" r:id="rId8"/>
  </p:sldIdLst>
  <p:sldSz cx="21388388" cy="15114588"/>
  <p:notesSz cx="15114588" cy="21388388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3" roundtripDataSignature="AMtx7mg8WMx/Q7KB6ZImfuxPZj/si7vz/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36" d="100"/>
          <a:sy n="36" d="100"/>
        </p:scale>
        <p:origin x="1411" y="1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customschemas.google.com/relationships/presentationmetadata" Target="metadata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519575" y="1604125"/>
            <a:ext cx="10076875" cy="80206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1511450" y="10159475"/>
            <a:ext cx="12091650" cy="9624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7674F-865E-0B26-F590-C8AD9E341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4CD5E6-FC84-87D3-E125-F152412C58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882775" y="1603375"/>
            <a:ext cx="11350625" cy="80216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D684A3-B76D-9963-2B4E-6D95B979E9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3FFF6D-2709-FAE7-4194-F3AB42ADE01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80853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a31053399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-622300" y="0"/>
            <a:ext cx="4244975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1" name="Google Shape;61;g3ca31053399_0_5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g3ca31053399_0_5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>
          <a:extLst>
            <a:ext uri="{FF2B5EF4-FFF2-40B4-BE49-F238E27FC236}">
              <a16:creationId xmlns:a16="http://schemas.microsoft.com/office/drawing/2014/main" id="{ACD8F1F1-6753-AF92-10BE-BD0CD0A8A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a31053399_0_56:notes">
            <a:extLst>
              <a:ext uri="{FF2B5EF4-FFF2-40B4-BE49-F238E27FC236}">
                <a16:creationId xmlns:a16="http://schemas.microsoft.com/office/drawing/2014/main" id="{CC505D93-97D0-75C4-91CD-BA56FC36E9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622300" y="0"/>
            <a:ext cx="4244975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1" name="Google Shape;61;g3ca31053399_0_56:notes">
            <a:extLst>
              <a:ext uri="{FF2B5EF4-FFF2-40B4-BE49-F238E27FC236}">
                <a16:creationId xmlns:a16="http://schemas.microsoft.com/office/drawing/2014/main" id="{8B0E014A-F693-FB98-676A-27A935004A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g3ca31053399_0_56:notes">
            <a:extLst>
              <a:ext uri="{FF2B5EF4-FFF2-40B4-BE49-F238E27FC236}">
                <a16:creationId xmlns:a16="http://schemas.microsoft.com/office/drawing/2014/main" id="{1B5F5BAA-A375-91FD-71C4-338751FCA72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4559098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>
          <a:extLst>
            <a:ext uri="{FF2B5EF4-FFF2-40B4-BE49-F238E27FC236}">
              <a16:creationId xmlns:a16="http://schemas.microsoft.com/office/drawing/2014/main" id="{A56A8589-A313-D1CE-B55E-42429D1BF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a31053399_0_56:notes">
            <a:extLst>
              <a:ext uri="{FF2B5EF4-FFF2-40B4-BE49-F238E27FC236}">
                <a16:creationId xmlns:a16="http://schemas.microsoft.com/office/drawing/2014/main" id="{C01C3203-C590-E1A2-594E-F8B1353AD5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622300" y="0"/>
            <a:ext cx="4244975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1" name="Google Shape;61;g3ca31053399_0_56:notes">
            <a:extLst>
              <a:ext uri="{FF2B5EF4-FFF2-40B4-BE49-F238E27FC236}">
                <a16:creationId xmlns:a16="http://schemas.microsoft.com/office/drawing/2014/main" id="{68B8FD2F-4A63-40E0-D3C0-95EF971178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g3ca31053399_0_56:notes">
            <a:extLst>
              <a:ext uri="{FF2B5EF4-FFF2-40B4-BE49-F238E27FC236}">
                <a16:creationId xmlns:a16="http://schemas.microsoft.com/office/drawing/2014/main" id="{BBD82AFF-F3F3-2EDD-5982-06C8C4D3374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309728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>
          <a:extLst>
            <a:ext uri="{FF2B5EF4-FFF2-40B4-BE49-F238E27FC236}">
              <a16:creationId xmlns:a16="http://schemas.microsoft.com/office/drawing/2014/main" id="{1ED7C4F7-C78B-0F34-70AE-9BA8140BF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a31053399_0_56:notes">
            <a:extLst>
              <a:ext uri="{FF2B5EF4-FFF2-40B4-BE49-F238E27FC236}">
                <a16:creationId xmlns:a16="http://schemas.microsoft.com/office/drawing/2014/main" id="{A7C562F0-A368-0579-00FC-C663BD35B0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622300" y="0"/>
            <a:ext cx="4244975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1" name="Google Shape;61;g3ca31053399_0_56:notes">
            <a:extLst>
              <a:ext uri="{FF2B5EF4-FFF2-40B4-BE49-F238E27FC236}">
                <a16:creationId xmlns:a16="http://schemas.microsoft.com/office/drawing/2014/main" id="{9D7CFCD0-EEAB-7A51-0339-AA77E2511B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g3ca31053399_0_56:notes">
            <a:extLst>
              <a:ext uri="{FF2B5EF4-FFF2-40B4-BE49-F238E27FC236}">
                <a16:creationId xmlns:a16="http://schemas.microsoft.com/office/drawing/2014/main" id="{29136FAB-E410-8D10-5E7A-DD79F3760CA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723539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819D9229-BEA0-652B-4BA4-673CD3393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ca31053399_0_44:notes">
            <a:extLst>
              <a:ext uri="{FF2B5EF4-FFF2-40B4-BE49-F238E27FC236}">
                <a16:creationId xmlns:a16="http://schemas.microsoft.com/office/drawing/2014/main" id="{19794C44-C80A-9A1D-738F-03A6E1D3D5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622300" y="0"/>
            <a:ext cx="4244975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" name="Google Shape;48;g3ca31053399_0_44:notes">
            <a:extLst>
              <a:ext uri="{FF2B5EF4-FFF2-40B4-BE49-F238E27FC236}">
                <a16:creationId xmlns:a16="http://schemas.microsoft.com/office/drawing/2014/main" id="{B16EB5EA-FEB5-A474-974C-50EEA6D7C3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g3ca31053399_0_44:notes">
            <a:extLst>
              <a:ext uri="{FF2B5EF4-FFF2-40B4-BE49-F238E27FC236}">
                <a16:creationId xmlns:a16="http://schemas.microsoft.com/office/drawing/2014/main" id="{FB159903-DEDD-6131-C58B-2DE94E805C3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578479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F78922E0-9319-B2A2-4233-D5DEA3C32C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ca31053399_0_44:notes">
            <a:extLst>
              <a:ext uri="{FF2B5EF4-FFF2-40B4-BE49-F238E27FC236}">
                <a16:creationId xmlns:a16="http://schemas.microsoft.com/office/drawing/2014/main" id="{9A82FF02-E0F8-0208-4585-BF69379FA2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622300" y="0"/>
            <a:ext cx="4244975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" name="Google Shape;48;g3ca31053399_0_44:notes">
            <a:extLst>
              <a:ext uri="{FF2B5EF4-FFF2-40B4-BE49-F238E27FC236}">
                <a16:creationId xmlns:a16="http://schemas.microsoft.com/office/drawing/2014/main" id="{D79F47B0-ADE7-0E76-EDB5-A04BB3E8CD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g3ca31053399_0_44:notes">
            <a:extLst>
              <a:ext uri="{FF2B5EF4-FFF2-40B4-BE49-F238E27FC236}">
                <a16:creationId xmlns:a16="http://schemas.microsoft.com/office/drawing/2014/main" id="{1C9B7F8D-EFBD-7562-B48B-D3D484E90AA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7029104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10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8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8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8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6AA952-A8C4-DD81-1C06-96C7E1D074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6" name="Picture 12">
            <a:extLst>
              <a:ext uri="{FF2B5EF4-FFF2-40B4-BE49-F238E27FC236}">
                <a16:creationId xmlns:a16="http://schemas.microsoft.com/office/drawing/2014/main" id="{7423503B-7AE4-44DF-9ED8-F1C2664659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27731" y="7116251"/>
            <a:ext cx="2635785" cy="19135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DD754735-9FB4-41CC-A33E-48CEEE05ED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31709" y="8770041"/>
            <a:ext cx="8755925" cy="6558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6FB91758-6DAF-48F6-B377-4638438912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1997" y="10607405"/>
            <a:ext cx="5769879" cy="3401645"/>
          </a:xfrm>
          <a:prstGeom prst="rect">
            <a:avLst/>
          </a:prstGeom>
        </p:spPr>
      </p:pic>
      <p:pic>
        <p:nvPicPr>
          <p:cNvPr id="2" name="Image 0" descr=" ">
            <a:extLst>
              <a:ext uri="{FF2B5EF4-FFF2-40B4-BE49-F238E27FC236}">
                <a16:creationId xmlns:a16="http://schemas.microsoft.com/office/drawing/2014/main" id="{95339EA9-7F55-B63D-42ED-676D006C92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498685" y="9332149"/>
            <a:ext cx="6324900" cy="5220774"/>
          </a:xfrm>
          <a:prstGeom prst="rect">
            <a:avLst/>
          </a:prstGeom>
        </p:spPr>
      </p:pic>
      <p:pic>
        <p:nvPicPr>
          <p:cNvPr id="3" name="Image 1" descr=" ">
            <a:extLst>
              <a:ext uri="{FF2B5EF4-FFF2-40B4-BE49-F238E27FC236}">
                <a16:creationId xmlns:a16="http://schemas.microsoft.com/office/drawing/2014/main" id="{1C55D82B-93D4-92A5-2014-2F7D215E5B0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796618" y="1042904"/>
            <a:ext cx="6591198" cy="7727137"/>
          </a:xfrm>
          <a:prstGeom prst="rect">
            <a:avLst/>
          </a:prstGeom>
        </p:spPr>
      </p:pic>
      <p:sp>
        <p:nvSpPr>
          <p:cNvPr id="4" name="Shape 0">
            <a:extLst>
              <a:ext uri="{FF2B5EF4-FFF2-40B4-BE49-F238E27FC236}">
                <a16:creationId xmlns:a16="http://schemas.microsoft.com/office/drawing/2014/main" id="{572DCAF8-D217-13F1-0D19-BF38A8C02884}"/>
              </a:ext>
            </a:extLst>
          </p:cNvPr>
          <p:cNvSpPr/>
          <p:nvPr/>
        </p:nvSpPr>
        <p:spPr>
          <a:xfrm>
            <a:off x="0" y="1193961"/>
            <a:ext cx="21387816" cy="25403"/>
          </a:xfrm>
          <a:prstGeom prst="rect">
            <a:avLst/>
          </a:prstGeom>
          <a:solidFill>
            <a:srgbClr val="ED3237">
              <a:alpha val="10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52A6F04D-4E63-3658-A3A1-6016C1BDAEDA}"/>
              </a:ext>
            </a:extLst>
          </p:cNvPr>
          <p:cNvSpPr/>
          <p:nvPr/>
        </p:nvSpPr>
        <p:spPr>
          <a:xfrm>
            <a:off x="0" y="15115032"/>
            <a:ext cx="21387816" cy="152420"/>
          </a:xfrm>
          <a:prstGeom prst="rect">
            <a:avLst/>
          </a:prstGeom>
          <a:solidFill>
            <a:srgbClr val="413E3C">
              <a:alpha val="100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4" descr=" ">
            <a:extLst>
              <a:ext uri="{FF2B5EF4-FFF2-40B4-BE49-F238E27FC236}">
                <a16:creationId xmlns:a16="http://schemas.microsoft.com/office/drawing/2014/main" id="{92045E18-F570-2D0F-0245-BFABEA52598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7441655" y="192932"/>
            <a:ext cx="1321886" cy="788994"/>
          </a:xfrm>
          <a:prstGeom prst="rect">
            <a:avLst/>
          </a:prstGeom>
        </p:spPr>
      </p:pic>
      <p:pic>
        <p:nvPicPr>
          <p:cNvPr id="27" name="Image 17" descr=" ">
            <a:extLst>
              <a:ext uri="{FF2B5EF4-FFF2-40B4-BE49-F238E27FC236}">
                <a16:creationId xmlns:a16="http://schemas.microsoft.com/office/drawing/2014/main" id="{7BEA9652-20CA-B46A-571A-D29BC6591E3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10400" y="7151335"/>
            <a:ext cx="5042140" cy="5156893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F82F4AA4-BDF5-4A59-8CD4-DC4D5401D5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86747" y="0"/>
            <a:ext cx="2345138" cy="1563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AF33386-2C97-423D-81F4-0A94BC5C5E12}"/>
              </a:ext>
            </a:extLst>
          </p:cNvPr>
          <p:cNvSpPr txBox="1"/>
          <p:nvPr/>
        </p:nvSpPr>
        <p:spPr>
          <a:xfrm>
            <a:off x="531997" y="162747"/>
            <a:ext cx="18231544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5000" b="1" dirty="0">
                <a:solidFill>
                  <a:srgbClr val="0070C0"/>
                </a:solidFill>
                <a:latin typeface="Arial Black" panose="020B0A04020102020204" pitchFamily="34" charset="0"/>
              </a:rPr>
              <a:t>Group presentation</a:t>
            </a:r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FC3E4A22-E3DD-4AE9-80E6-3477F363E805}"/>
              </a:ext>
            </a:extLst>
          </p:cNvPr>
          <p:cNvGrpSpPr/>
          <p:nvPr/>
        </p:nvGrpSpPr>
        <p:grpSpPr>
          <a:xfrm>
            <a:off x="4698095" y="9232410"/>
            <a:ext cx="10963040" cy="620334"/>
            <a:chOff x="4367650" y="8366534"/>
            <a:chExt cx="10963040" cy="620334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077FB70-31E6-47FC-A085-08260F525D3A}"/>
                </a:ext>
              </a:extLst>
            </p:cNvPr>
            <p:cNvSpPr txBox="1"/>
            <p:nvPr/>
          </p:nvSpPr>
          <p:spPr>
            <a:xfrm>
              <a:off x="4367650" y="8463648"/>
              <a:ext cx="3595348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US" sz="2800" b="1" dirty="0">
                  <a:latin typeface="Arial Black" panose="020B0A04020102020204" pitchFamily="34" charset="0"/>
                </a:rPr>
                <a:t>Ulugbek Islomov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90BE792-FC02-460E-9C9C-5214DE1F12D8}"/>
                </a:ext>
              </a:extLst>
            </p:cNvPr>
            <p:cNvSpPr txBox="1"/>
            <p:nvPr/>
          </p:nvSpPr>
          <p:spPr>
            <a:xfrm>
              <a:off x="8139994" y="8423764"/>
              <a:ext cx="3595348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US" sz="2800" b="1" dirty="0">
                  <a:latin typeface="Arial Black" panose="020B0A04020102020204" pitchFamily="34" charset="0"/>
                </a:rPr>
                <a:t>Maurice Goode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E75F7957-C0FD-48EE-BF35-052F7E669646}"/>
                </a:ext>
              </a:extLst>
            </p:cNvPr>
            <p:cNvSpPr txBox="1"/>
            <p:nvPr/>
          </p:nvSpPr>
          <p:spPr>
            <a:xfrm>
              <a:off x="11735342" y="8366534"/>
              <a:ext cx="3595348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US" sz="2800" b="1" dirty="0" err="1">
                  <a:latin typeface="Arial Black" panose="020B0A04020102020204" pitchFamily="34" charset="0"/>
                </a:rPr>
                <a:t>Soumae</a:t>
              </a:r>
              <a:r>
                <a:rPr lang="en-US" sz="2800" b="1" dirty="0">
                  <a:latin typeface="Arial Black" panose="020B0A04020102020204" pitchFamily="34" charset="0"/>
                </a:rPr>
                <a:t> Patidar</a:t>
              </a:r>
            </a:p>
          </p:txBody>
        </p:sp>
      </p:grpSp>
      <p:pic>
        <p:nvPicPr>
          <p:cNvPr id="1028" name="Picture 4">
            <a:extLst>
              <a:ext uri="{FF2B5EF4-FFF2-40B4-BE49-F238E27FC236}">
                <a16:creationId xmlns:a16="http://schemas.microsoft.com/office/drawing/2014/main" id="{8114E668-25B2-48D1-938D-BA12D70BEC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646848" y="10899697"/>
            <a:ext cx="6591198" cy="23172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47CD2BAB-C3D1-4B36-B734-E98B79C8A892}"/>
              </a:ext>
            </a:extLst>
          </p:cNvPr>
          <p:cNvSpPr txBox="1"/>
          <p:nvPr/>
        </p:nvSpPr>
        <p:spPr>
          <a:xfrm>
            <a:off x="3674533" y="4233656"/>
            <a:ext cx="1247213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0" b="1" dirty="0">
                <a:solidFill>
                  <a:srgbClr val="0070C0"/>
                </a:solidFill>
                <a:latin typeface="Arial Black" panose="020B0A04020102020204" pitchFamily="34" charset="0"/>
              </a:rPr>
              <a:t>Project-2</a:t>
            </a:r>
          </a:p>
          <a:p>
            <a:pPr algn="ctr"/>
            <a:r>
              <a:rPr lang="en-US" sz="6000" b="1" dirty="0">
                <a:solidFill>
                  <a:srgbClr val="0070C0"/>
                </a:solidFill>
                <a:latin typeface="Arial Black" panose="020B0A04020102020204" pitchFamily="34" charset="0"/>
              </a:rPr>
              <a:t>Credit risk dataset</a:t>
            </a:r>
          </a:p>
        </p:txBody>
      </p:sp>
    </p:spTree>
    <p:extLst>
      <p:ext uri="{BB962C8B-B14F-4D97-AF65-F5344CB8AC3E}">
        <p14:creationId xmlns:p14="http://schemas.microsoft.com/office/powerpoint/2010/main" val="10728793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48DBCDA-ABE3-2FBD-6622-EA545F81BF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598" y="2118593"/>
            <a:ext cx="8865103" cy="8223737"/>
          </a:xfrm>
          <a:prstGeom prst="rect">
            <a:avLst/>
          </a:prstGeom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BF021F0E-9FC0-8572-E467-720EF591EE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86747" y="0"/>
            <a:ext cx="2345138" cy="1563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4" name="Google Shape;64;g3ca31053399_0_56" descr=" 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2498685" y="9332149"/>
            <a:ext cx="6324900" cy="5220774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g3ca31053399_0_56"/>
          <p:cNvSpPr/>
          <p:nvPr/>
        </p:nvSpPr>
        <p:spPr>
          <a:xfrm>
            <a:off x="488" y="1470024"/>
            <a:ext cx="21387900" cy="25500"/>
          </a:xfrm>
          <a:prstGeom prst="rect">
            <a:avLst/>
          </a:prstGeom>
          <a:solidFill>
            <a:srgbClr val="ED323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g3ca31053399_0_56"/>
          <p:cNvSpPr/>
          <p:nvPr/>
        </p:nvSpPr>
        <p:spPr>
          <a:xfrm>
            <a:off x="0" y="15115032"/>
            <a:ext cx="21387900" cy="152400"/>
          </a:xfrm>
          <a:prstGeom prst="rect">
            <a:avLst/>
          </a:prstGeom>
          <a:solidFill>
            <a:srgbClr val="413E3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8" name="Google Shape;68;g3ca31053399_0_56" descr=" 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7441655" y="192932"/>
            <a:ext cx="1321886" cy="788994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g3ca31053399_0_56" descr=" 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74737" y="9629829"/>
            <a:ext cx="5042140" cy="5156893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g3ca31053399_0_56"/>
          <p:cNvSpPr txBox="1"/>
          <p:nvPr/>
        </p:nvSpPr>
        <p:spPr>
          <a:xfrm>
            <a:off x="2789063" y="201136"/>
            <a:ext cx="14822860" cy="78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just"/>
            <a:r>
              <a:rPr lang="en-US" sz="3800" b="1" dirty="0">
                <a:solidFill>
                  <a:srgbClr val="FF0000"/>
                </a:solidFill>
              </a:rPr>
              <a:t>Does interest rate influence the probability of loan default, even after controlling for borrower and loan characteristics?</a:t>
            </a:r>
          </a:p>
          <a:p>
            <a:pPr algn="just"/>
            <a:endParaRPr lang="en-US" sz="3600" b="1" dirty="0">
              <a:solidFill>
                <a:srgbClr val="FF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EAB20AB-7C0C-28B7-A279-CD07E7824DD7}"/>
              </a:ext>
            </a:extLst>
          </p:cNvPr>
          <p:cNvSpPr txBox="1"/>
          <p:nvPr/>
        </p:nvSpPr>
        <p:spPr>
          <a:xfrm>
            <a:off x="1994561" y="10685205"/>
            <a:ext cx="16411863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Logistic Regression Metrics: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P-Value of Interest Rate: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Below 0.05. Unlikely the observed relationship occurred by random chance in the data</a:t>
            </a:r>
            <a:endParaRPr lang="en-US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Odds Ratio of Interest Rate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A one-unit increase in interest rate increases the odds of default by 1.0881, holding all else constant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McFadden R²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The R-Squared value = 0.3632. 36.32% of the model is explained by the training set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85.93%. This is an excellent/good performance</a:t>
            </a:r>
          </a:p>
          <a:p>
            <a:endParaRPr lang="en-US" sz="3200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E22D4011-A114-4941-80A3-C1F367E28652}"/>
              </a:ext>
            </a:extLst>
          </p:cNvPr>
          <p:cNvSpPr/>
          <p:nvPr/>
        </p:nvSpPr>
        <p:spPr>
          <a:xfrm>
            <a:off x="253263" y="536473"/>
            <a:ext cx="2706068" cy="5842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0070C0"/>
                </a:solidFill>
                <a:latin typeface="Arial Black" panose="020B0A04020102020204" pitchFamily="34" charset="0"/>
              </a:rPr>
              <a:t>SMQ-3</a:t>
            </a:r>
            <a:endParaRPr lang="uz-Cyrl-UZ" sz="4000" b="1" dirty="0">
              <a:solidFill>
                <a:srgbClr val="0070C0"/>
              </a:solidFill>
              <a:latin typeface="Arial Black" panose="020B0A04020102020204" pitchFamily="34" charset="0"/>
            </a:endParaRPr>
          </a:p>
          <a:p>
            <a:pPr marL="0" indent="0" algn="l">
              <a:buNone/>
            </a:pPr>
            <a:endParaRPr lang="en-US" sz="3000" b="1" dirty="0">
              <a:solidFill>
                <a:srgbClr val="0070C0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4682B22-8866-57B1-FA3D-9D5FE435EEF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37330" y="2750111"/>
            <a:ext cx="9976321" cy="708233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>
          <a:extLst>
            <a:ext uri="{FF2B5EF4-FFF2-40B4-BE49-F238E27FC236}">
              <a16:creationId xmlns:a16="http://schemas.microsoft.com/office/drawing/2014/main" id="{2489405B-3E27-744E-E457-5BBA3C2BC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FC7BD0DB-E6D2-AD5F-523F-511FC804B7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3950" y="2556042"/>
            <a:ext cx="10330086" cy="7211811"/>
          </a:xfrm>
          <a:prstGeom prst="rect">
            <a:avLst/>
          </a:prstGeom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7380B23B-F33A-AA46-7818-95629B2932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86747" y="0"/>
            <a:ext cx="2345138" cy="1563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4" name="Google Shape;64;g3ca31053399_0_56" descr=" ">
            <a:extLst>
              <a:ext uri="{FF2B5EF4-FFF2-40B4-BE49-F238E27FC236}">
                <a16:creationId xmlns:a16="http://schemas.microsoft.com/office/drawing/2014/main" id="{9E5D4D3B-8404-9194-7449-9A356A4DADF2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2498685" y="9332149"/>
            <a:ext cx="6324900" cy="5220774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g3ca31053399_0_56">
            <a:extLst>
              <a:ext uri="{FF2B5EF4-FFF2-40B4-BE49-F238E27FC236}">
                <a16:creationId xmlns:a16="http://schemas.microsoft.com/office/drawing/2014/main" id="{2B7E9075-4DD7-9C53-053E-4CEE52B2366A}"/>
              </a:ext>
            </a:extLst>
          </p:cNvPr>
          <p:cNvSpPr/>
          <p:nvPr/>
        </p:nvSpPr>
        <p:spPr>
          <a:xfrm>
            <a:off x="488" y="1470024"/>
            <a:ext cx="21387900" cy="25500"/>
          </a:xfrm>
          <a:prstGeom prst="rect">
            <a:avLst/>
          </a:prstGeom>
          <a:solidFill>
            <a:srgbClr val="ED323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g3ca31053399_0_56">
            <a:extLst>
              <a:ext uri="{FF2B5EF4-FFF2-40B4-BE49-F238E27FC236}">
                <a16:creationId xmlns:a16="http://schemas.microsoft.com/office/drawing/2014/main" id="{F451BF6F-0056-28C6-4AB5-BF142D31E4D7}"/>
              </a:ext>
            </a:extLst>
          </p:cNvPr>
          <p:cNvSpPr/>
          <p:nvPr/>
        </p:nvSpPr>
        <p:spPr>
          <a:xfrm>
            <a:off x="0" y="15115032"/>
            <a:ext cx="21387900" cy="152400"/>
          </a:xfrm>
          <a:prstGeom prst="rect">
            <a:avLst/>
          </a:prstGeom>
          <a:solidFill>
            <a:srgbClr val="413E3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8" name="Google Shape;68;g3ca31053399_0_56" descr=" ">
            <a:extLst>
              <a:ext uri="{FF2B5EF4-FFF2-40B4-BE49-F238E27FC236}">
                <a16:creationId xmlns:a16="http://schemas.microsoft.com/office/drawing/2014/main" id="{04B1108E-5F05-135E-89A6-AEC1A61B67B7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7441655" y="192932"/>
            <a:ext cx="1321886" cy="788994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g3ca31053399_0_56" descr=" ">
            <a:extLst>
              <a:ext uri="{FF2B5EF4-FFF2-40B4-BE49-F238E27FC236}">
                <a16:creationId xmlns:a16="http://schemas.microsoft.com/office/drawing/2014/main" id="{213F664B-40EF-3A0E-5EF6-A20057EC1C48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74737" y="9629829"/>
            <a:ext cx="5042140" cy="5156893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g3ca31053399_0_56">
            <a:extLst>
              <a:ext uri="{FF2B5EF4-FFF2-40B4-BE49-F238E27FC236}">
                <a16:creationId xmlns:a16="http://schemas.microsoft.com/office/drawing/2014/main" id="{45D7120B-71E3-CA82-AA76-E7EC0BCD92B5}"/>
              </a:ext>
            </a:extLst>
          </p:cNvPr>
          <p:cNvSpPr txBox="1"/>
          <p:nvPr/>
        </p:nvSpPr>
        <p:spPr>
          <a:xfrm>
            <a:off x="2789063" y="201136"/>
            <a:ext cx="14822860" cy="78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just"/>
            <a:r>
              <a:rPr lang="en-US" sz="3800" b="1" dirty="0">
                <a:solidFill>
                  <a:srgbClr val="FF0000"/>
                </a:solidFill>
              </a:rPr>
              <a:t>Classification Tree</a:t>
            </a:r>
            <a:endParaRPr lang="en-US" sz="3600" b="1" dirty="0">
              <a:solidFill>
                <a:srgbClr val="FF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08A7CE-BA68-7EA7-1E23-26605E3DC961}"/>
              </a:ext>
            </a:extLst>
          </p:cNvPr>
          <p:cNvSpPr txBox="1"/>
          <p:nvPr/>
        </p:nvSpPr>
        <p:spPr>
          <a:xfrm>
            <a:off x="2564803" y="11015258"/>
            <a:ext cx="17490163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Decision Tree Metrics: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Variable Importance: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loan_int_rate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the 4th most important</a:t>
            </a:r>
            <a:endParaRPr lang="en-US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Optimal Complexity Parameter =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0.000540. The model is relatively complex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Sensitivity =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70.57%. Higher than the logistic regression model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Specificity =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99.55%. Very high, could be because it is a single decision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90.32%. This is an outstanding/perfect performance</a:t>
            </a:r>
          </a:p>
          <a:p>
            <a:endParaRPr lang="en-US" sz="3200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ED294595-EAD3-674B-AE29-6664EBA0B7E0}"/>
              </a:ext>
            </a:extLst>
          </p:cNvPr>
          <p:cNvSpPr/>
          <p:nvPr/>
        </p:nvSpPr>
        <p:spPr>
          <a:xfrm>
            <a:off x="253263" y="536473"/>
            <a:ext cx="2706068" cy="5842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0070C0"/>
                </a:solidFill>
                <a:latin typeface="Arial Black" panose="020B0A04020102020204" pitchFamily="34" charset="0"/>
              </a:rPr>
              <a:t>SMQ-3</a:t>
            </a:r>
            <a:endParaRPr lang="uz-Cyrl-UZ" sz="4000" b="1" dirty="0">
              <a:solidFill>
                <a:srgbClr val="0070C0"/>
              </a:solidFill>
              <a:latin typeface="Arial Black" panose="020B0A04020102020204" pitchFamily="34" charset="0"/>
            </a:endParaRPr>
          </a:p>
          <a:p>
            <a:pPr marL="0" indent="0" algn="l">
              <a:buNone/>
            </a:pPr>
            <a:endParaRPr lang="en-US" sz="3000" b="1" dirty="0">
              <a:solidFill>
                <a:srgbClr val="0070C0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BDE79D-E58A-D5CA-95FD-C9BBE5DDB76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2205" y="2671545"/>
            <a:ext cx="9054933" cy="6794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4348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>
          <a:extLst>
            <a:ext uri="{FF2B5EF4-FFF2-40B4-BE49-F238E27FC236}">
              <a16:creationId xmlns:a16="http://schemas.microsoft.com/office/drawing/2014/main" id="{84569070-DC59-B12F-185A-7D07B4BA66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1A22F33-83BA-937B-CA34-807D32BC80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8196" y="3944419"/>
            <a:ext cx="10506630" cy="7012738"/>
          </a:xfrm>
          <a:prstGeom prst="rect">
            <a:avLst/>
          </a:prstGeom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4F40B11C-0AEB-4855-3EFE-B247ED495C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86747" y="0"/>
            <a:ext cx="2345138" cy="1563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4" name="Google Shape;64;g3ca31053399_0_56" descr=" ">
            <a:extLst>
              <a:ext uri="{FF2B5EF4-FFF2-40B4-BE49-F238E27FC236}">
                <a16:creationId xmlns:a16="http://schemas.microsoft.com/office/drawing/2014/main" id="{ADC94E50-445A-BBC2-89EC-F5A74591CC60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2498685" y="9332149"/>
            <a:ext cx="6324900" cy="5220774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g3ca31053399_0_56">
            <a:extLst>
              <a:ext uri="{FF2B5EF4-FFF2-40B4-BE49-F238E27FC236}">
                <a16:creationId xmlns:a16="http://schemas.microsoft.com/office/drawing/2014/main" id="{C3CD7BC3-1C12-A28A-EA7D-D772BBE4C620}"/>
              </a:ext>
            </a:extLst>
          </p:cNvPr>
          <p:cNvSpPr/>
          <p:nvPr/>
        </p:nvSpPr>
        <p:spPr>
          <a:xfrm>
            <a:off x="488" y="1470024"/>
            <a:ext cx="21387900" cy="25500"/>
          </a:xfrm>
          <a:prstGeom prst="rect">
            <a:avLst/>
          </a:prstGeom>
          <a:solidFill>
            <a:srgbClr val="ED323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g3ca31053399_0_56">
            <a:extLst>
              <a:ext uri="{FF2B5EF4-FFF2-40B4-BE49-F238E27FC236}">
                <a16:creationId xmlns:a16="http://schemas.microsoft.com/office/drawing/2014/main" id="{09727955-1AD5-A30E-BF9F-2AA576144484}"/>
              </a:ext>
            </a:extLst>
          </p:cNvPr>
          <p:cNvSpPr/>
          <p:nvPr/>
        </p:nvSpPr>
        <p:spPr>
          <a:xfrm>
            <a:off x="0" y="15115032"/>
            <a:ext cx="21387900" cy="152400"/>
          </a:xfrm>
          <a:prstGeom prst="rect">
            <a:avLst/>
          </a:prstGeom>
          <a:solidFill>
            <a:srgbClr val="413E3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8" name="Google Shape;68;g3ca31053399_0_56" descr=" ">
            <a:extLst>
              <a:ext uri="{FF2B5EF4-FFF2-40B4-BE49-F238E27FC236}">
                <a16:creationId xmlns:a16="http://schemas.microsoft.com/office/drawing/2014/main" id="{566939C6-5637-0233-D3A2-20B31F86D3EE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7441655" y="192932"/>
            <a:ext cx="1321886" cy="788994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g3ca31053399_0_56" descr=" ">
            <a:extLst>
              <a:ext uri="{FF2B5EF4-FFF2-40B4-BE49-F238E27FC236}">
                <a16:creationId xmlns:a16="http://schemas.microsoft.com/office/drawing/2014/main" id="{5E0D18F9-2C92-D283-2AC4-261BE4C12C95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74737" y="9629829"/>
            <a:ext cx="5042140" cy="5156893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g3ca31053399_0_56">
            <a:extLst>
              <a:ext uri="{FF2B5EF4-FFF2-40B4-BE49-F238E27FC236}">
                <a16:creationId xmlns:a16="http://schemas.microsoft.com/office/drawing/2014/main" id="{D5C352B7-2C55-F365-234D-CBE12A6BD924}"/>
              </a:ext>
            </a:extLst>
          </p:cNvPr>
          <p:cNvSpPr txBox="1"/>
          <p:nvPr/>
        </p:nvSpPr>
        <p:spPr>
          <a:xfrm>
            <a:off x="2789063" y="201136"/>
            <a:ext cx="14822860" cy="78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just"/>
            <a:r>
              <a:rPr lang="en-US" sz="3800" b="1" dirty="0">
                <a:solidFill>
                  <a:srgbClr val="FF0000"/>
                </a:solidFill>
              </a:rPr>
              <a:t>Random Forest</a:t>
            </a:r>
          </a:p>
          <a:p>
            <a:pPr algn="just"/>
            <a:endParaRPr lang="en-US" sz="3600" b="1" dirty="0">
              <a:solidFill>
                <a:srgbClr val="FF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07E620-1857-6F8C-039C-C866A89DD680}"/>
              </a:ext>
            </a:extLst>
          </p:cNvPr>
          <p:cNvSpPr txBox="1"/>
          <p:nvPr/>
        </p:nvSpPr>
        <p:spPr>
          <a:xfrm>
            <a:off x="1268256" y="4600126"/>
            <a:ext cx="7736596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Random Forest Metrics: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Mean Decrease Accuracy: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Even though interest rate is used to make splits, the model can still predict the outcome almost as well without it</a:t>
            </a:r>
            <a:endParaRPr lang="en-US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Mean Decrease Gini: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Interest rate is frequently used for splits across many trees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Summary: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loan_int_rate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might have a relationship to other variables</a:t>
            </a:r>
            <a:endParaRPr lang="en-US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A5073830-EC43-5DF0-E2B4-29FDF7543607}"/>
              </a:ext>
            </a:extLst>
          </p:cNvPr>
          <p:cNvSpPr/>
          <p:nvPr/>
        </p:nvSpPr>
        <p:spPr>
          <a:xfrm>
            <a:off x="253263" y="536473"/>
            <a:ext cx="2706068" cy="5842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0070C0"/>
                </a:solidFill>
                <a:latin typeface="Arial Black" panose="020B0A04020102020204" pitchFamily="34" charset="0"/>
              </a:rPr>
              <a:t>SMQ-3</a:t>
            </a:r>
            <a:endParaRPr lang="uz-Cyrl-UZ" sz="4000" b="1" dirty="0">
              <a:solidFill>
                <a:srgbClr val="0070C0"/>
              </a:solidFill>
              <a:latin typeface="Arial Black" panose="020B0A04020102020204" pitchFamily="34" charset="0"/>
            </a:endParaRPr>
          </a:p>
          <a:p>
            <a:pPr marL="0" indent="0" algn="l">
              <a:buNone/>
            </a:pPr>
            <a:endParaRPr lang="en-US" sz="3000" b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22187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>
          <a:extLst>
            <a:ext uri="{FF2B5EF4-FFF2-40B4-BE49-F238E27FC236}">
              <a16:creationId xmlns:a16="http://schemas.microsoft.com/office/drawing/2014/main" id="{1720E150-5069-3AF3-7A94-1296C6740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33630766-3A7B-8DB4-709E-CAFC3419AE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86747" y="0"/>
            <a:ext cx="2345138" cy="1563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4" name="Google Shape;64;g3ca31053399_0_56" descr=" ">
            <a:extLst>
              <a:ext uri="{FF2B5EF4-FFF2-40B4-BE49-F238E27FC236}">
                <a16:creationId xmlns:a16="http://schemas.microsoft.com/office/drawing/2014/main" id="{F21923BA-78BC-7899-7A48-B81271796271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498685" y="9332149"/>
            <a:ext cx="6324900" cy="5220774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g3ca31053399_0_56">
            <a:extLst>
              <a:ext uri="{FF2B5EF4-FFF2-40B4-BE49-F238E27FC236}">
                <a16:creationId xmlns:a16="http://schemas.microsoft.com/office/drawing/2014/main" id="{D9ABA9FF-1330-1A6E-C194-3754F432D7AB}"/>
              </a:ext>
            </a:extLst>
          </p:cNvPr>
          <p:cNvSpPr/>
          <p:nvPr/>
        </p:nvSpPr>
        <p:spPr>
          <a:xfrm>
            <a:off x="488" y="1470024"/>
            <a:ext cx="21387900" cy="25500"/>
          </a:xfrm>
          <a:prstGeom prst="rect">
            <a:avLst/>
          </a:prstGeom>
          <a:solidFill>
            <a:srgbClr val="ED323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g3ca31053399_0_56">
            <a:extLst>
              <a:ext uri="{FF2B5EF4-FFF2-40B4-BE49-F238E27FC236}">
                <a16:creationId xmlns:a16="http://schemas.microsoft.com/office/drawing/2014/main" id="{A50DC1F0-0CBA-3C3C-5CBF-B1252F5BB452}"/>
              </a:ext>
            </a:extLst>
          </p:cNvPr>
          <p:cNvSpPr/>
          <p:nvPr/>
        </p:nvSpPr>
        <p:spPr>
          <a:xfrm>
            <a:off x="0" y="15115032"/>
            <a:ext cx="21387900" cy="152400"/>
          </a:xfrm>
          <a:prstGeom prst="rect">
            <a:avLst/>
          </a:prstGeom>
          <a:solidFill>
            <a:srgbClr val="413E3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8" name="Google Shape;68;g3ca31053399_0_56" descr=" ">
            <a:extLst>
              <a:ext uri="{FF2B5EF4-FFF2-40B4-BE49-F238E27FC236}">
                <a16:creationId xmlns:a16="http://schemas.microsoft.com/office/drawing/2014/main" id="{B399EDCD-A3F9-77E8-BD2F-F8C1DCB6D467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7441655" y="192932"/>
            <a:ext cx="1321886" cy="788994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g3ca31053399_0_56" descr=" ">
            <a:extLst>
              <a:ext uri="{FF2B5EF4-FFF2-40B4-BE49-F238E27FC236}">
                <a16:creationId xmlns:a16="http://schemas.microsoft.com/office/drawing/2014/main" id="{D96A94D9-D35B-A5FD-E666-0FAC2C9EBB57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74737" y="9629829"/>
            <a:ext cx="5042140" cy="5156893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g3ca31053399_0_56">
            <a:extLst>
              <a:ext uri="{FF2B5EF4-FFF2-40B4-BE49-F238E27FC236}">
                <a16:creationId xmlns:a16="http://schemas.microsoft.com/office/drawing/2014/main" id="{C751ED37-257E-2F12-33E5-0E02A792EA49}"/>
              </a:ext>
            </a:extLst>
          </p:cNvPr>
          <p:cNvSpPr txBox="1"/>
          <p:nvPr/>
        </p:nvSpPr>
        <p:spPr>
          <a:xfrm>
            <a:off x="2789063" y="201136"/>
            <a:ext cx="14822860" cy="78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just"/>
            <a:r>
              <a:rPr lang="en-US" sz="3800" b="1" dirty="0">
                <a:solidFill>
                  <a:srgbClr val="FF0000"/>
                </a:solidFill>
              </a:rPr>
              <a:t>Random Forest Cont.</a:t>
            </a:r>
          </a:p>
          <a:p>
            <a:pPr algn="just"/>
            <a:endParaRPr lang="en-US" sz="3600" b="1" dirty="0">
              <a:solidFill>
                <a:srgbClr val="FF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66BDBE-2C46-DDD0-5253-A15F1B67AE65}"/>
              </a:ext>
            </a:extLst>
          </p:cNvPr>
          <p:cNvSpPr txBox="1"/>
          <p:nvPr/>
        </p:nvSpPr>
        <p:spPr>
          <a:xfrm>
            <a:off x="1989668" y="10501660"/>
            <a:ext cx="16421649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Random Forest Metrics: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Plot 1: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Interest rate has an upward slope; it has real predictive power even after controlling the other variables</a:t>
            </a:r>
            <a:endParaRPr lang="en-US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Plot 2: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gradient for each loan grade gets flatter. Loan grade is absorbing interest rate’s influence on the model.</a:t>
            </a:r>
            <a:endParaRPr lang="en-US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B9474347-8882-0F8F-B3AA-C279E71011C1}"/>
              </a:ext>
            </a:extLst>
          </p:cNvPr>
          <p:cNvSpPr/>
          <p:nvPr/>
        </p:nvSpPr>
        <p:spPr>
          <a:xfrm>
            <a:off x="253263" y="536473"/>
            <a:ext cx="2706068" cy="5842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0070C0"/>
                </a:solidFill>
                <a:latin typeface="Arial Black" panose="020B0A04020102020204" pitchFamily="34" charset="0"/>
              </a:rPr>
              <a:t>SMQ-3</a:t>
            </a:r>
            <a:endParaRPr lang="uz-Cyrl-UZ" sz="4000" b="1" dirty="0">
              <a:solidFill>
                <a:srgbClr val="0070C0"/>
              </a:solidFill>
              <a:latin typeface="Arial Black" panose="020B0A04020102020204" pitchFamily="34" charset="0"/>
            </a:endParaRPr>
          </a:p>
          <a:p>
            <a:pPr marL="0" indent="0" algn="l">
              <a:buNone/>
            </a:pPr>
            <a:endParaRPr lang="en-US" sz="3000" b="1" dirty="0">
              <a:solidFill>
                <a:srgbClr val="0070C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BAD1499-A29D-7C6D-36AF-35438599CF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6005" y="2895129"/>
            <a:ext cx="10167945" cy="683136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3BBFB87-162E-ADBF-2C0F-05CE99A1B84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63940" y="3033449"/>
            <a:ext cx="10167945" cy="6860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15027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D8EB12FA-5A99-A38F-DB7C-787B50268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A75A7F25-A553-CEA0-6CCA-CC59BCF830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86747" y="0"/>
            <a:ext cx="2345138" cy="1563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Google Shape;51;g3ca31053399_0_44" descr=" ">
            <a:extLst>
              <a:ext uri="{FF2B5EF4-FFF2-40B4-BE49-F238E27FC236}">
                <a16:creationId xmlns:a16="http://schemas.microsoft.com/office/drawing/2014/main" id="{4FE21C9C-E9FA-3425-D0A4-2060A2D6F8E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498685" y="9332149"/>
            <a:ext cx="6324900" cy="5220774"/>
          </a:xfrm>
          <a:prstGeom prst="rect">
            <a:avLst/>
          </a:prstGeom>
          <a:noFill/>
          <a:ln>
            <a:noFill/>
          </a:ln>
        </p:spPr>
      </p:pic>
      <p:pic>
        <p:nvPicPr>
          <p:cNvPr id="52" name="Google Shape;52;g3ca31053399_0_44" descr=" ">
            <a:extLst>
              <a:ext uri="{FF2B5EF4-FFF2-40B4-BE49-F238E27FC236}">
                <a16:creationId xmlns:a16="http://schemas.microsoft.com/office/drawing/2014/main" id="{A137F6E7-6668-0894-68CE-C5320A07E982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4796618" y="1042904"/>
            <a:ext cx="6591197" cy="7727137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g3ca31053399_0_44">
            <a:extLst>
              <a:ext uri="{FF2B5EF4-FFF2-40B4-BE49-F238E27FC236}">
                <a16:creationId xmlns:a16="http://schemas.microsoft.com/office/drawing/2014/main" id="{5815EB99-9112-8B61-CB31-2FB6D1BD547C}"/>
              </a:ext>
            </a:extLst>
          </p:cNvPr>
          <p:cNvSpPr/>
          <p:nvPr/>
        </p:nvSpPr>
        <p:spPr>
          <a:xfrm>
            <a:off x="0" y="1193961"/>
            <a:ext cx="21387900" cy="25500"/>
          </a:xfrm>
          <a:prstGeom prst="rect">
            <a:avLst/>
          </a:prstGeom>
          <a:solidFill>
            <a:srgbClr val="ED323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g3ca31053399_0_44">
            <a:extLst>
              <a:ext uri="{FF2B5EF4-FFF2-40B4-BE49-F238E27FC236}">
                <a16:creationId xmlns:a16="http://schemas.microsoft.com/office/drawing/2014/main" id="{880C6377-139F-111D-12A7-035EC80A5A4B}"/>
              </a:ext>
            </a:extLst>
          </p:cNvPr>
          <p:cNvSpPr/>
          <p:nvPr/>
        </p:nvSpPr>
        <p:spPr>
          <a:xfrm>
            <a:off x="0" y="15115032"/>
            <a:ext cx="21387900" cy="152400"/>
          </a:xfrm>
          <a:prstGeom prst="rect">
            <a:avLst/>
          </a:prstGeom>
          <a:solidFill>
            <a:srgbClr val="413E3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5" name="Google Shape;55;g3ca31053399_0_44" descr=" ">
            <a:extLst>
              <a:ext uri="{FF2B5EF4-FFF2-40B4-BE49-F238E27FC236}">
                <a16:creationId xmlns:a16="http://schemas.microsoft.com/office/drawing/2014/main" id="{3EF63A08-B605-4A2D-072B-59F7171CC215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7441655" y="192932"/>
            <a:ext cx="1321886" cy="788994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g3ca31053399_0_44" descr=" ">
            <a:extLst>
              <a:ext uri="{FF2B5EF4-FFF2-40B4-BE49-F238E27FC236}">
                <a16:creationId xmlns:a16="http://schemas.microsoft.com/office/drawing/2014/main" id="{52E9769F-4D80-30D1-B792-C691DB49CFF2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74737" y="9629829"/>
            <a:ext cx="5042140" cy="5156893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g3ca31053399_0_44">
            <a:extLst>
              <a:ext uri="{FF2B5EF4-FFF2-40B4-BE49-F238E27FC236}">
                <a16:creationId xmlns:a16="http://schemas.microsoft.com/office/drawing/2014/main" id="{F9F639A8-8590-56F0-902C-DB4E6EF076A5}"/>
              </a:ext>
            </a:extLst>
          </p:cNvPr>
          <p:cNvSpPr txBox="1"/>
          <p:nvPr/>
        </p:nvSpPr>
        <p:spPr>
          <a:xfrm>
            <a:off x="2366127" y="240806"/>
            <a:ext cx="6901500" cy="78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just"/>
            <a:r>
              <a:rPr lang="en-US" sz="3200" b="1" dirty="0">
                <a:solidFill>
                  <a:srgbClr val="FF0000"/>
                </a:solidFill>
              </a:rPr>
              <a:t>Smart Question 3 Summary</a:t>
            </a:r>
          </a:p>
        </p:txBody>
      </p:sp>
      <p:sp>
        <p:nvSpPr>
          <p:cNvPr id="58" name="Google Shape;58;g3ca31053399_0_44">
            <a:extLst>
              <a:ext uri="{FF2B5EF4-FFF2-40B4-BE49-F238E27FC236}">
                <a16:creationId xmlns:a16="http://schemas.microsoft.com/office/drawing/2014/main" id="{2A23D6C7-0A5F-A57A-93C9-E0D29FCCA0B6}"/>
              </a:ext>
            </a:extLst>
          </p:cNvPr>
          <p:cNvSpPr txBox="1"/>
          <p:nvPr/>
        </p:nvSpPr>
        <p:spPr>
          <a:xfrm>
            <a:off x="1549350" y="2967364"/>
            <a:ext cx="18289200" cy="1080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6C8676C-1C64-9139-5DEC-2DCD5205211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7533" y="3368333"/>
            <a:ext cx="11753845" cy="772169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C018A98-CCC9-47E1-4983-1A64C22204E6}"/>
              </a:ext>
            </a:extLst>
          </p:cNvPr>
          <p:cNvSpPr txBox="1"/>
          <p:nvPr/>
        </p:nvSpPr>
        <p:spPr>
          <a:xfrm>
            <a:off x="11652990" y="5156064"/>
            <a:ext cx="9377377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Conclusion: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Yes, interest rate influences the probability of default.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Other important variables: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loan_percentage_income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cb_person_default_on_file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cb_credit_hist_length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loan_grade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Bias: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data is imbalanced. 78% of the data are non-default borrowers.</a:t>
            </a:r>
          </a:p>
          <a:p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412CB485-91F4-34A7-7EED-981C0F05B734}"/>
              </a:ext>
            </a:extLst>
          </p:cNvPr>
          <p:cNvSpPr/>
          <p:nvPr/>
        </p:nvSpPr>
        <p:spPr>
          <a:xfrm>
            <a:off x="253263" y="536473"/>
            <a:ext cx="2706068" cy="5842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0070C0"/>
                </a:solidFill>
                <a:latin typeface="Arial Black" panose="020B0A04020102020204" pitchFamily="34" charset="0"/>
              </a:rPr>
              <a:t>SMQ-3</a:t>
            </a:r>
            <a:endParaRPr lang="uz-Cyrl-UZ" sz="4000" b="1" dirty="0">
              <a:solidFill>
                <a:srgbClr val="0070C0"/>
              </a:solidFill>
              <a:latin typeface="Arial Black" panose="020B0A04020102020204" pitchFamily="34" charset="0"/>
            </a:endParaRPr>
          </a:p>
          <a:p>
            <a:pPr marL="0" indent="0" algn="l">
              <a:buNone/>
            </a:pPr>
            <a:endParaRPr lang="en-US" sz="3000" b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73616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AFEE5EF2-73B2-8F54-271D-5C83EB9BF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6AF47A96-CBAD-ECEB-744F-F690C21619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86747" y="0"/>
            <a:ext cx="2345138" cy="1563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Google Shape;51;g3ca31053399_0_44" descr=" ">
            <a:extLst>
              <a:ext uri="{FF2B5EF4-FFF2-40B4-BE49-F238E27FC236}">
                <a16:creationId xmlns:a16="http://schemas.microsoft.com/office/drawing/2014/main" id="{2DCB16BF-8B18-A175-6D93-8FC4C7D1385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498685" y="9332149"/>
            <a:ext cx="6324900" cy="5220774"/>
          </a:xfrm>
          <a:prstGeom prst="rect">
            <a:avLst/>
          </a:prstGeom>
          <a:noFill/>
          <a:ln>
            <a:noFill/>
          </a:ln>
        </p:spPr>
      </p:pic>
      <p:pic>
        <p:nvPicPr>
          <p:cNvPr id="52" name="Google Shape;52;g3ca31053399_0_44" descr=" ">
            <a:extLst>
              <a:ext uri="{FF2B5EF4-FFF2-40B4-BE49-F238E27FC236}">
                <a16:creationId xmlns:a16="http://schemas.microsoft.com/office/drawing/2014/main" id="{4712A96C-431D-BDDF-0C31-A10963D979A5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4796618" y="1042904"/>
            <a:ext cx="6591197" cy="7727137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g3ca31053399_0_44">
            <a:extLst>
              <a:ext uri="{FF2B5EF4-FFF2-40B4-BE49-F238E27FC236}">
                <a16:creationId xmlns:a16="http://schemas.microsoft.com/office/drawing/2014/main" id="{0C7F5EA4-B751-AAA0-B661-7908DD695F02}"/>
              </a:ext>
            </a:extLst>
          </p:cNvPr>
          <p:cNvSpPr/>
          <p:nvPr/>
        </p:nvSpPr>
        <p:spPr>
          <a:xfrm>
            <a:off x="0" y="1193961"/>
            <a:ext cx="21387900" cy="25500"/>
          </a:xfrm>
          <a:prstGeom prst="rect">
            <a:avLst/>
          </a:prstGeom>
          <a:solidFill>
            <a:srgbClr val="ED323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g3ca31053399_0_44">
            <a:extLst>
              <a:ext uri="{FF2B5EF4-FFF2-40B4-BE49-F238E27FC236}">
                <a16:creationId xmlns:a16="http://schemas.microsoft.com/office/drawing/2014/main" id="{FDA1D188-94D9-88CC-91BB-CEA18773408A}"/>
              </a:ext>
            </a:extLst>
          </p:cNvPr>
          <p:cNvSpPr/>
          <p:nvPr/>
        </p:nvSpPr>
        <p:spPr>
          <a:xfrm>
            <a:off x="0" y="15115032"/>
            <a:ext cx="21387900" cy="152400"/>
          </a:xfrm>
          <a:prstGeom prst="rect">
            <a:avLst/>
          </a:prstGeom>
          <a:solidFill>
            <a:srgbClr val="413E3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5" name="Google Shape;55;g3ca31053399_0_44" descr=" ">
            <a:extLst>
              <a:ext uri="{FF2B5EF4-FFF2-40B4-BE49-F238E27FC236}">
                <a16:creationId xmlns:a16="http://schemas.microsoft.com/office/drawing/2014/main" id="{0D11295A-6761-8D41-1963-CC2742C6FA92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7441655" y="192932"/>
            <a:ext cx="1321886" cy="788994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g3ca31053399_0_44" descr=" ">
            <a:extLst>
              <a:ext uri="{FF2B5EF4-FFF2-40B4-BE49-F238E27FC236}">
                <a16:creationId xmlns:a16="http://schemas.microsoft.com/office/drawing/2014/main" id="{373FFCC9-E399-3A86-080A-2C1C39882BD4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74737" y="9629829"/>
            <a:ext cx="5042140" cy="5156893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g3ca31053399_0_44">
            <a:extLst>
              <a:ext uri="{FF2B5EF4-FFF2-40B4-BE49-F238E27FC236}">
                <a16:creationId xmlns:a16="http://schemas.microsoft.com/office/drawing/2014/main" id="{357B6308-8515-72F6-7A86-5DF3A0142109}"/>
              </a:ext>
            </a:extLst>
          </p:cNvPr>
          <p:cNvSpPr txBox="1"/>
          <p:nvPr/>
        </p:nvSpPr>
        <p:spPr>
          <a:xfrm>
            <a:off x="1387225" y="186350"/>
            <a:ext cx="6901500" cy="78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Appendix</a:t>
            </a:r>
          </a:p>
        </p:txBody>
      </p:sp>
      <p:sp>
        <p:nvSpPr>
          <p:cNvPr id="58" name="Google Shape;58;g3ca31053399_0_44">
            <a:extLst>
              <a:ext uri="{FF2B5EF4-FFF2-40B4-BE49-F238E27FC236}">
                <a16:creationId xmlns:a16="http://schemas.microsoft.com/office/drawing/2014/main" id="{E6BB464D-F7C9-7A12-5515-54DA14B3B8F5}"/>
              </a:ext>
            </a:extLst>
          </p:cNvPr>
          <p:cNvSpPr txBox="1"/>
          <p:nvPr/>
        </p:nvSpPr>
        <p:spPr>
          <a:xfrm>
            <a:off x="1549350" y="2967364"/>
            <a:ext cx="18289200" cy="1080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CCA89CC-2DA8-ABC6-A619-D5F4BC7CAC5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64318" y="2565929"/>
            <a:ext cx="14927898" cy="10391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48310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358</TotalTime>
  <Words>365</Words>
  <Application>Microsoft Office PowerPoint</Application>
  <PresentationFormat>Custom</PresentationFormat>
  <Paragraphs>46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Arial Black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PptxGenJS</dc:creator>
  <cp:lastModifiedBy>Goode, Maurice</cp:lastModifiedBy>
  <cp:revision>151</cp:revision>
  <dcterms:created xsi:type="dcterms:W3CDTF">2024-11-21T08:39:52Z</dcterms:created>
  <dcterms:modified xsi:type="dcterms:W3CDTF">2026-04-22T12:07:01Z</dcterms:modified>
</cp:coreProperties>
</file>