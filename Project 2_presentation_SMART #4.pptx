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88" r:id="rId2"/>
    <p:sldId id="261" r:id="rId3"/>
    <p:sldId id="257" r:id="rId4"/>
    <p:sldId id="258" r:id="rId5"/>
    <p:sldId id="259" r:id="rId6"/>
    <p:sldId id="260" r:id="rId7"/>
    <p:sldId id="289" r:id="rId8"/>
    <p:sldId id="290" r:id="rId9"/>
    <p:sldId id="291" r:id="rId10"/>
    <p:sldId id="292" r:id="rId11"/>
  </p:sldIdLst>
  <p:sldSz cx="21388388" cy="15114588"/>
  <p:notesSz cx="15114588" cy="2138838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8WMx/Q7KB6ZImfuxPZj/si7vz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6" d="100"/>
          <a:sy n="36" d="100"/>
        </p:scale>
        <p:origin x="1411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519575" y="1604125"/>
            <a:ext cx="10076875" cy="802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511450" y="10159475"/>
            <a:ext cx="12091650" cy="96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674F-865E-0B26-F590-C8AD9E34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CD5E6-FC84-87D3-E125-F152412C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2775" y="1603375"/>
            <a:ext cx="11350625" cy="80216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684A3-B76D-9963-2B4E-6D95B979E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FF6D-2709-FAE7-4194-F3AB42ADE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85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a3105339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ca31053399_0_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ca31053399_0_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a3105339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g3ca31053399_0_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ca31053399_0_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a3105339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g3ca31053399_0_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ca31053399_0_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a3105339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ca31053399_0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ca31053399_0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CD8F1F1-6753-AF92-10BE-BD0CD0A8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>
            <a:extLst>
              <a:ext uri="{FF2B5EF4-FFF2-40B4-BE49-F238E27FC236}">
                <a16:creationId xmlns:a16="http://schemas.microsoft.com/office/drawing/2014/main" id="{CC505D93-97D0-75C4-91CD-BA56FC36E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>
            <a:extLst>
              <a:ext uri="{FF2B5EF4-FFF2-40B4-BE49-F238E27FC236}">
                <a16:creationId xmlns:a16="http://schemas.microsoft.com/office/drawing/2014/main" id="{8B0E014A-F693-FB98-676A-27A93500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>
            <a:extLst>
              <a:ext uri="{FF2B5EF4-FFF2-40B4-BE49-F238E27FC236}">
                <a16:creationId xmlns:a16="http://schemas.microsoft.com/office/drawing/2014/main" id="{1B5F5BAA-A375-91FD-71C4-338751FCA7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5909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56A8589-A313-D1CE-B55E-42429D1B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>
            <a:extLst>
              <a:ext uri="{FF2B5EF4-FFF2-40B4-BE49-F238E27FC236}">
                <a16:creationId xmlns:a16="http://schemas.microsoft.com/office/drawing/2014/main" id="{C01C3203-C590-E1A2-594E-F8B1353AD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>
            <a:extLst>
              <a:ext uri="{FF2B5EF4-FFF2-40B4-BE49-F238E27FC236}">
                <a16:creationId xmlns:a16="http://schemas.microsoft.com/office/drawing/2014/main" id="{68B8FD2F-4A63-40E0-D3C0-95EF97117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>
            <a:extLst>
              <a:ext uri="{FF2B5EF4-FFF2-40B4-BE49-F238E27FC236}">
                <a16:creationId xmlns:a16="http://schemas.microsoft.com/office/drawing/2014/main" id="{BBD82AFF-F3F3-2EDD-5982-06C8C4D337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972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19D9229-BEA0-652B-4BA4-673CD339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a31053399_0_44:notes">
            <a:extLst>
              <a:ext uri="{FF2B5EF4-FFF2-40B4-BE49-F238E27FC236}">
                <a16:creationId xmlns:a16="http://schemas.microsoft.com/office/drawing/2014/main" id="{19794C44-C80A-9A1D-738F-03A6E1D3D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ca31053399_0_44:notes">
            <a:extLst>
              <a:ext uri="{FF2B5EF4-FFF2-40B4-BE49-F238E27FC236}">
                <a16:creationId xmlns:a16="http://schemas.microsoft.com/office/drawing/2014/main" id="{B16EB5EA-FEB5-A474-974C-50EEA6D7C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ca31053399_0_44:notes">
            <a:extLst>
              <a:ext uri="{FF2B5EF4-FFF2-40B4-BE49-F238E27FC236}">
                <a16:creationId xmlns:a16="http://schemas.microsoft.com/office/drawing/2014/main" id="{FB159903-DEDD-6131-C58B-2DE94E805C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847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78922E0-9319-B2A2-4233-D5DEA3C3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a31053399_0_44:notes">
            <a:extLst>
              <a:ext uri="{FF2B5EF4-FFF2-40B4-BE49-F238E27FC236}">
                <a16:creationId xmlns:a16="http://schemas.microsoft.com/office/drawing/2014/main" id="{9A82FF02-E0F8-0208-4585-BF69379FA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ca31053399_0_44:notes">
            <a:extLst>
              <a:ext uri="{FF2B5EF4-FFF2-40B4-BE49-F238E27FC236}">
                <a16:creationId xmlns:a16="http://schemas.microsoft.com/office/drawing/2014/main" id="{D79F47B0-ADE7-0E76-EDB5-A04BB3E8C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ca31053399_0_44:notes">
            <a:extLst>
              <a:ext uri="{FF2B5EF4-FFF2-40B4-BE49-F238E27FC236}">
                <a16:creationId xmlns:a16="http://schemas.microsoft.com/office/drawing/2014/main" id="{1C9B7F8D-EFBD-7562-B48B-D3D484E90A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291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A952-A8C4-DD81-1C06-96C7E1D0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7423503B-7AE4-44DF-9ED8-F1C26646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731" y="7116251"/>
            <a:ext cx="2635785" cy="191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D754735-9FB4-41CC-A33E-48CEEE05E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709" y="8770041"/>
            <a:ext cx="8755925" cy="655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FB91758-6DAF-48F6-B377-463843891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97" y="10607405"/>
            <a:ext cx="5769879" cy="3401645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5339EA9-7F55-B63D-42ED-676D006C9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8685" y="9332149"/>
            <a:ext cx="6324900" cy="5220774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1C55D82B-93D4-92A5-2014-2F7D215E5B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96618" y="1042904"/>
            <a:ext cx="6591198" cy="7727137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572DCAF8-D217-13F1-0D19-BF38A8C02884}"/>
              </a:ext>
            </a:extLst>
          </p:cNvPr>
          <p:cNvSpPr/>
          <p:nvPr/>
        </p:nvSpPr>
        <p:spPr>
          <a:xfrm>
            <a:off x="0" y="1193961"/>
            <a:ext cx="21387816" cy="25403"/>
          </a:xfrm>
          <a:prstGeom prst="rect">
            <a:avLst/>
          </a:prstGeom>
          <a:solidFill>
            <a:srgbClr val="ED3237">
              <a:alpha val="10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2A6F04D-4E63-3658-A3A1-6016C1BDAEDA}"/>
              </a:ext>
            </a:extLst>
          </p:cNvPr>
          <p:cNvSpPr/>
          <p:nvPr/>
        </p:nvSpPr>
        <p:spPr>
          <a:xfrm>
            <a:off x="0" y="15115032"/>
            <a:ext cx="21387816" cy="152420"/>
          </a:xfrm>
          <a:prstGeom prst="rect">
            <a:avLst/>
          </a:prstGeom>
          <a:solidFill>
            <a:srgbClr val="413E3C">
              <a:alpha val="10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4" descr=" ">
            <a:extLst>
              <a:ext uri="{FF2B5EF4-FFF2-40B4-BE49-F238E27FC236}">
                <a16:creationId xmlns:a16="http://schemas.microsoft.com/office/drawing/2014/main" id="{92045E18-F570-2D0F-0245-BFABEA5259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441655" y="192932"/>
            <a:ext cx="1321886" cy="788994"/>
          </a:xfrm>
          <a:prstGeom prst="rect">
            <a:avLst/>
          </a:prstGeom>
        </p:spPr>
      </p:pic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7BEA9652-20CA-B46A-571A-D29BC6591E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400" y="7151335"/>
            <a:ext cx="5042140" cy="51568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82F4AA4-BDF5-4A59-8CD4-DC4D5401D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F33386-2C97-423D-81F4-0A94BC5C5E12}"/>
              </a:ext>
            </a:extLst>
          </p:cNvPr>
          <p:cNvSpPr txBox="1"/>
          <p:nvPr/>
        </p:nvSpPr>
        <p:spPr>
          <a:xfrm>
            <a:off x="531997" y="162747"/>
            <a:ext cx="182315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0070C0"/>
                </a:solidFill>
                <a:latin typeface="Arial Black" panose="020B0A04020102020204" pitchFamily="34" charset="0"/>
              </a:rPr>
              <a:t>Group presentation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C3E4A22-E3DD-4AE9-80E6-3477F363E805}"/>
              </a:ext>
            </a:extLst>
          </p:cNvPr>
          <p:cNvGrpSpPr/>
          <p:nvPr/>
        </p:nvGrpSpPr>
        <p:grpSpPr>
          <a:xfrm>
            <a:off x="4698095" y="9232410"/>
            <a:ext cx="10963040" cy="620334"/>
            <a:chOff x="4367650" y="8366534"/>
            <a:chExt cx="10963040" cy="6203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77FB70-31E6-47FC-A085-08260F525D3A}"/>
                </a:ext>
              </a:extLst>
            </p:cNvPr>
            <p:cNvSpPr txBox="1"/>
            <p:nvPr/>
          </p:nvSpPr>
          <p:spPr>
            <a:xfrm>
              <a:off x="4367650" y="8463648"/>
              <a:ext cx="35953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Arial Black" panose="020B0A04020102020204" pitchFamily="34" charset="0"/>
                </a:rPr>
                <a:t>Ulugbek Islomov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0BE792-FC02-460E-9C9C-5214DE1F12D8}"/>
                </a:ext>
              </a:extLst>
            </p:cNvPr>
            <p:cNvSpPr txBox="1"/>
            <p:nvPr/>
          </p:nvSpPr>
          <p:spPr>
            <a:xfrm>
              <a:off x="8139994" y="8423764"/>
              <a:ext cx="35953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Arial Black" panose="020B0A04020102020204" pitchFamily="34" charset="0"/>
                </a:rPr>
                <a:t>Maurice Goode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5F7957-C0FD-48EE-BF35-052F7E669646}"/>
                </a:ext>
              </a:extLst>
            </p:cNvPr>
            <p:cNvSpPr txBox="1"/>
            <p:nvPr/>
          </p:nvSpPr>
          <p:spPr>
            <a:xfrm>
              <a:off x="11735342" y="8366534"/>
              <a:ext cx="35953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 err="1">
                  <a:latin typeface="Arial Black" panose="020B0A04020102020204" pitchFamily="34" charset="0"/>
                </a:rPr>
                <a:t>Soumae</a:t>
              </a:r>
              <a:r>
                <a:rPr lang="en-US" sz="2800" b="1" dirty="0">
                  <a:latin typeface="Arial Black" panose="020B0A04020102020204" pitchFamily="34" charset="0"/>
                </a:rPr>
                <a:t> Patidar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8114E668-25B2-48D1-938D-BA12D70BE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848" y="10899697"/>
            <a:ext cx="6591198" cy="231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7CD2BAB-C3D1-4B36-B734-E98B79C8A892}"/>
              </a:ext>
            </a:extLst>
          </p:cNvPr>
          <p:cNvSpPr txBox="1"/>
          <p:nvPr/>
        </p:nvSpPr>
        <p:spPr>
          <a:xfrm>
            <a:off x="3674533" y="4233656"/>
            <a:ext cx="124721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Arial Black" panose="020B0A04020102020204" pitchFamily="34" charset="0"/>
              </a:rPr>
              <a:t>Project-2</a:t>
            </a:r>
          </a:p>
          <a:p>
            <a:pPr algn="ctr"/>
            <a:r>
              <a:rPr lang="en-US" sz="6000" b="1" dirty="0">
                <a:solidFill>
                  <a:srgbClr val="0070C0"/>
                </a:solidFill>
                <a:latin typeface="Arial Black" panose="020B0A04020102020204" pitchFamily="34" charset="0"/>
              </a:rPr>
              <a:t>Credit risk dataset</a:t>
            </a:r>
          </a:p>
        </p:txBody>
      </p:sp>
    </p:spTree>
    <p:extLst>
      <p:ext uri="{BB962C8B-B14F-4D97-AF65-F5344CB8AC3E}">
        <p14:creationId xmlns:p14="http://schemas.microsoft.com/office/powerpoint/2010/main" val="107287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D6AE38A-FBB0-DABF-52CE-48A8682FE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Google Shape;77;g3ca31053399_0_6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ca31053399_0_68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ca31053399_0_68"/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ca31053399_0_68"/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g3ca31053399_0_68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ca31053399_0_68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ca31053399_0_68"/>
          <p:cNvSpPr txBox="1"/>
          <p:nvPr/>
        </p:nvSpPr>
        <p:spPr>
          <a:xfrm>
            <a:off x="1387225" y="186350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Google Shape;84;g3ca31053399_0_68"/>
          <p:cNvSpPr txBox="1"/>
          <p:nvPr/>
        </p:nvSpPr>
        <p:spPr>
          <a:xfrm>
            <a:off x="1387225" y="2912500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7FE2B55-FF10-657C-68BD-C99BE458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oogle Shape;25;g3ca31053399_0_2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g3ca31053399_0_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ca31053399_0_20"/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g3ca31053399_0_20"/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g3ca31053399_0_20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3ca31053399_0_20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3ca31053399_0_20"/>
          <p:cNvSpPr txBox="1"/>
          <p:nvPr/>
        </p:nvSpPr>
        <p:spPr>
          <a:xfrm>
            <a:off x="1387225" y="186350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#1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Google Shape;32;g3ca31053399_0_20"/>
          <p:cNvSpPr txBox="1"/>
          <p:nvPr/>
        </p:nvSpPr>
        <p:spPr>
          <a:xfrm>
            <a:off x="1387225" y="2912500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55800E7-A9E7-80EF-2A0D-D3EEA2484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Google Shape;38;g3ca31053399_0_8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g3ca31053399_0_8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ca31053399_0_80"/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ca31053399_0_80"/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g3ca31053399_0_80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ca31053399_0_80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ca31053399_0_80"/>
          <p:cNvSpPr txBox="1"/>
          <p:nvPr/>
        </p:nvSpPr>
        <p:spPr>
          <a:xfrm>
            <a:off x="1387225" y="186350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#2</a:t>
            </a:r>
          </a:p>
        </p:txBody>
      </p:sp>
      <p:sp>
        <p:nvSpPr>
          <p:cNvPr id="45" name="Google Shape;45;g3ca31053399_0_80"/>
          <p:cNvSpPr txBox="1"/>
          <p:nvPr/>
        </p:nvSpPr>
        <p:spPr>
          <a:xfrm>
            <a:off x="1387225" y="2912500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5407FE-D665-B5F3-DD7B-01C4F85BD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Google Shape;51;g3ca31053399_0_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ca31053399_0_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ca31053399_0_44"/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ca31053399_0_44"/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g3ca31053399_0_44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ca31053399_0_44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ca31053399_0_44"/>
          <p:cNvSpPr txBox="1"/>
          <p:nvPr/>
        </p:nvSpPr>
        <p:spPr>
          <a:xfrm>
            <a:off x="1387225" y="186350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#3</a:t>
            </a:r>
          </a:p>
        </p:txBody>
      </p:sp>
      <p:sp>
        <p:nvSpPr>
          <p:cNvPr id="58" name="Google Shape;58;g3ca31053399_0_44"/>
          <p:cNvSpPr txBox="1"/>
          <p:nvPr/>
        </p:nvSpPr>
        <p:spPr>
          <a:xfrm>
            <a:off x="1549350" y="2967364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F021F0E-9FC0-8572-E467-720EF591E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Google Shape;64;g3ca31053399_0_5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ca31053399_0_56"/>
          <p:cNvSpPr/>
          <p:nvPr/>
        </p:nvSpPr>
        <p:spPr>
          <a:xfrm>
            <a:off x="488" y="1470024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ca31053399_0_56"/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g3ca31053399_0_5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/>
          <p:cNvSpPr txBox="1"/>
          <p:nvPr/>
        </p:nvSpPr>
        <p:spPr>
          <a:xfrm>
            <a:off x="2789063" y="201136"/>
            <a:ext cx="1482286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3800" b="1" dirty="0">
                <a:solidFill>
                  <a:srgbClr val="FF0000"/>
                </a:solidFill>
              </a:rPr>
              <a:t>Does interest rate influence the probability of loan default, even after controlling for borrower and loan characteristics?</a:t>
            </a:r>
          </a:p>
          <a:p>
            <a:pPr algn="just"/>
            <a:endParaRPr lang="en-US" sz="3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B20AB-7C0C-28B7-A279-CD07E7824DD7}"/>
              </a:ext>
            </a:extLst>
          </p:cNvPr>
          <p:cNvSpPr txBox="1"/>
          <p:nvPr/>
        </p:nvSpPr>
        <p:spPr>
          <a:xfrm>
            <a:off x="1994561" y="10685205"/>
            <a:ext cx="1641186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Metrics: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Ratio of Interest Rate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1% increase in interest rate multiplies the odds of default by 1.0881, holding all else constant.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McFadden R²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R-Squared value = 0.3632. 36.32% of the model is explain by training set.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54.19%. Slightly above average.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95.32%. This is a high perhaps because the method is a logistic regression.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85.93%. This is an excellent/good performance.</a:t>
            </a:r>
          </a:p>
          <a:p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22D4011-A114-4941-80A3-C1F367E28652}"/>
              </a:ext>
            </a:extLst>
          </p:cNvPr>
          <p:cNvSpPr/>
          <p:nvPr/>
        </p:nvSpPr>
        <p:spPr>
          <a:xfrm>
            <a:off x="253263" y="536473"/>
            <a:ext cx="2706068" cy="58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40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indent="0" algn="l">
              <a:buNone/>
            </a:pPr>
            <a:endParaRPr lang="en-US" sz="3000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278B7-FA47-C82E-A20D-3B59F305F1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076" y="2090908"/>
            <a:ext cx="8865103" cy="8400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682B22-8866-57B1-FA3D-9D5FE435E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7330" y="2750111"/>
            <a:ext cx="9976321" cy="70823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2489405B-3E27-744E-E457-5BBA3C2B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80B23B-F33A-AA46-7818-95629B293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Google Shape;64;g3ca31053399_0_56" descr=" ">
            <a:extLst>
              <a:ext uri="{FF2B5EF4-FFF2-40B4-BE49-F238E27FC236}">
                <a16:creationId xmlns:a16="http://schemas.microsoft.com/office/drawing/2014/main" id="{9E5D4D3B-8404-9194-7449-9A356A4DAD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ca31053399_0_56">
            <a:extLst>
              <a:ext uri="{FF2B5EF4-FFF2-40B4-BE49-F238E27FC236}">
                <a16:creationId xmlns:a16="http://schemas.microsoft.com/office/drawing/2014/main" id="{2B7E9075-4DD7-9C53-053E-4CEE52B2366A}"/>
              </a:ext>
            </a:extLst>
          </p:cNvPr>
          <p:cNvSpPr/>
          <p:nvPr/>
        </p:nvSpPr>
        <p:spPr>
          <a:xfrm>
            <a:off x="488" y="1470024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ca31053399_0_56">
            <a:extLst>
              <a:ext uri="{FF2B5EF4-FFF2-40B4-BE49-F238E27FC236}">
                <a16:creationId xmlns:a16="http://schemas.microsoft.com/office/drawing/2014/main" id="{F451BF6F-0056-28C6-4AB5-BF142D31E4D7}"/>
              </a:ext>
            </a:extLst>
          </p:cNvPr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g3ca31053399_0_56" descr=" ">
            <a:extLst>
              <a:ext uri="{FF2B5EF4-FFF2-40B4-BE49-F238E27FC236}">
                <a16:creationId xmlns:a16="http://schemas.microsoft.com/office/drawing/2014/main" id="{04B1108E-5F05-135E-89A6-AEC1A61B67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>
            <a:extLst>
              <a:ext uri="{FF2B5EF4-FFF2-40B4-BE49-F238E27FC236}">
                <a16:creationId xmlns:a16="http://schemas.microsoft.com/office/drawing/2014/main" id="{213F664B-40EF-3A0E-5EF6-A20057EC1C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>
            <a:extLst>
              <a:ext uri="{FF2B5EF4-FFF2-40B4-BE49-F238E27FC236}">
                <a16:creationId xmlns:a16="http://schemas.microsoft.com/office/drawing/2014/main" id="{45D7120B-71E3-CA82-AA76-E7EC0BCD92B5}"/>
              </a:ext>
            </a:extLst>
          </p:cNvPr>
          <p:cNvSpPr txBox="1"/>
          <p:nvPr/>
        </p:nvSpPr>
        <p:spPr>
          <a:xfrm>
            <a:off x="2789063" y="201136"/>
            <a:ext cx="1482286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3800" b="1" dirty="0">
                <a:solidFill>
                  <a:srgbClr val="FF0000"/>
                </a:solidFill>
              </a:rPr>
              <a:t>Decision Tree</a:t>
            </a:r>
            <a:endParaRPr lang="en-US" sz="3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8A7CE-BA68-7EA7-1E23-26605E3DC961}"/>
              </a:ext>
            </a:extLst>
          </p:cNvPr>
          <p:cNvSpPr txBox="1"/>
          <p:nvPr/>
        </p:nvSpPr>
        <p:spPr>
          <a:xfrm>
            <a:off x="2564803" y="11015258"/>
            <a:ext cx="174901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Metrics: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Complexity Parameter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0.000540. The model is relatively complex.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70.57%. Higher than the logistic regression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99.55%. Very high, could be because it is a single decision tree.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90.32%. This is an outstanding/perfect performance.</a:t>
            </a:r>
          </a:p>
          <a:p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D294595-EAD3-674B-AE29-6664EBA0B7E0}"/>
              </a:ext>
            </a:extLst>
          </p:cNvPr>
          <p:cNvSpPr/>
          <p:nvPr/>
        </p:nvSpPr>
        <p:spPr>
          <a:xfrm>
            <a:off x="253263" y="536473"/>
            <a:ext cx="2706068" cy="58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40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indent="0" algn="l">
              <a:buNone/>
            </a:pPr>
            <a:endParaRPr lang="en-US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F7DD0-A063-4C3A-65A6-8BE7FD5581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1482" y="2616211"/>
            <a:ext cx="9135403" cy="6785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5E1A96-D33C-3088-1667-DDB952ABD95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6775" b="9124"/>
          <a:stretch>
            <a:fillRect/>
          </a:stretch>
        </p:blipFill>
        <p:spPr>
          <a:xfrm>
            <a:off x="652329" y="2708654"/>
            <a:ext cx="10329096" cy="584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3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84569070-DC59-B12F-185A-7D07B4BA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40B11C-0AEB-4855-3EFE-B247ED495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Google Shape;64;g3ca31053399_0_56" descr=" ">
            <a:extLst>
              <a:ext uri="{FF2B5EF4-FFF2-40B4-BE49-F238E27FC236}">
                <a16:creationId xmlns:a16="http://schemas.microsoft.com/office/drawing/2014/main" id="{ADC94E50-445A-BBC2-89EC-F5A74591CC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ca31053399_0_56">
            <a:extLst>
              <a:ext uri="{FF2B5EF4-FFF2-40B4-BE49-F238E27FC236}">
                <a16:creationId xmlns:a16="http://schemas.microsoft.com/office/drawing/2014/main" id="{C3CD7BC3-1C12-A28A-EA7D-D772BBE4C620}"/>
              </a:ext>
            </a:extLst>
          </p:cNvPr>
          <p:cNvSpPr/>
          <p:nvPr/>
        </p:nvSpPr>
        <p:spPr>
          <a:xfrm>
            <a:off x="488" y="1470024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ca31053399_0_56">
            <a:extLst>
              <a:ext uri="{FF2B5EF4-FFF2-40B4-BE49-F238E27FC236}">
                <a16:creationId xmlns:a16="http://schemas.microsoft.com/office/drawing/2014/main" id="{09727955-1AD5-A30E-BF9F-2AA576144484}"/>
              </a:ext>
            </a:extLst>
          </p:cNvPr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g3ca31053399_0_56" descr=" ">
            <a:extLst>
              <a:ext uri="{FF2B5EF4-FFF2-40B4-BE49-F238E27FC236}">
                <a16:creationId xmlns:a16="http://schemas.microsoft.com/office/drawing/2014/main" id="{566939C6-5637-0233-D3A2-20B31F86D3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>
            <a:extLst>
              <a:ext uri="{FF2B5EF4-FFF2-40B4-BE49-F238E27FC236}">
                <a16:creationId xmlns:a16="http://schemas.microsoft.com/office/drawing/2014/main" id="{5E0D18F9-2C92-D283-2AC4-261BE4C12C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>
            <a:extLst>
              <a:ext uri="{FF2B5EF4-FFF2-40B4-BE49-F238E27FC236}">
                <a16:creationId xmlns:a16="http://schemas.microsoft.com/office/drawing/2014/main" id="{D5C352B7-2C55-F365-234D-CBE12A6BD924}"/>
              </a:ext>
            </a:extLst>
          </p:cNvPr>
          <p:cNvSpPr txBox="1"/>
          <p:nvPr/>
        </p:nvSpPr>
        <p:spPr>
          <a:xfrm>
            <a:off x="2789063" y="201136"/>
            <a:ext cx="1482286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3800" b="1" dirty="0">
                <a:solidFill>
                  <a:srgbClr val="FF0000"/>
                </a:solidFill>
              </a:rPr>
              <a:t>Random Forest</a:t>
            </a:r>
          </a:p>
          <a:p>
            <a:pPr algn="just"/>
            <a:endParaRPr lang="en-US" sz="3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7E620-1857-6F8C-039C-C866A89DD680}"/>
              </a:ext>
            </a:extLst>
          </p:cNvPr>
          <p:cNvSpPr txBox="1"/>
          <p:nvPr/>
        </p:nvSpPr>
        <p:spPr>
          <a:xfrm>
            <a:off x="1989668" y="10501660"/>
            <a:ext cx="164216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Metrics: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70.97%. Slightly higher than the decision tree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99.60%. Very high, could be because 78% of the borrowers are non-defaults.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93.1%. This is an outstanding/perfect performance.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Decrease Accuracy: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 feature’s importance by calculating the drop in model accuracy when that feature’s values are randomly shuffled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Decrease Gini: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total reduction in node impurity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5073830-EC43-5DF0-E2B4-29FDF7543607}"/>
              </a:ext>
            </a:extLst>
          </p:cNvPr>
          <p:cNvSpPr/>
          <p:nvPr/>
        </p:nvSpPr>
        <p:spPr>
          <a:xfrm>
            <a:off x="253263" y="536473"/>
            <a:ext cx="2706068" cy="58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40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indent="0" algn="l">
              <a:buNone/>
            </a:pPr>
            <a:endParaRPr lang="en-US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6ACBB-168B-F23D-62AF-CA8775B10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18594" y="2193879"/>
            <a:ext cx="6380126" cy="83357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05E92-678A-E79A-8DCB-F4336D1C7D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37" y="2193879"/>
            <a:ext cx="11360551" cy="760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1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D8EB12FA-5A99-A38F-DB7C-787B50268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5A7F25-A553-CEA0-6CCA-CC59BCF83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Google Shape;51;g3ca31053399_0_44" descr=" ">
            <a:extLst>
              <a:ext uri="{FF2B5EF4-FFF2-40B4-BE49-F238E27FC236}">
                <a16:creationId xmlns:a16="http://schemas.microsoft.com/office/drawing/2014/main" id="{4FE21C9C-E9FA-3425-D0A4-2060A2D6F8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ca31053399_0_44" descr=" ">
            <a:extLst>
              <a:ext uri="{FF2B5EF4-FFF2-40B4-BE49-F238E27FC236}">
                <a16:creationId xmlns:a16="http://schemas.microsoft.com/office/drawing/2014/main" id="{A137F6E7-6668-0894-68CE-C5320A07E98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ca31053399_0_44">
            <a:extLst>
              <a:ext uri="{FF2B5EF4-FFF2-40B4-BE49-F238E27FC236}">
                <a16:creationId xmlns:a16="http://schemas.microsoft.com/office/drawing/2014/main" id="{5815EB99-9112-8B61-CB31-2FB6D1BD547C}"/>
              </a:ext>
            </a:extLst>
          </p:cNvPr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ca31053399_0_44">
            <a:extLst>
              <a:ext uri="{FF2B5EF4-FFF2-40B4-BE49-F238E27FC236}">
                <a16:creationId xmlns:a16="http://schemas.microsoft.com/office/drawing/2014/main" id="{880C6377-139F-111D-12A7-035EC80A5A4B}"/>
              </a:ext>
            </a:extLst>
          </p:cNvPr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g3ca31053399_0_44" descr=" ">
            <a:extLst>
              <a:ext uri="{FF2B5EF4-FFF2-40B4-BE49-F238E27FC236}">
                <a16:creationId xmlns:a16="http://schemas.microsoft.com/office/drawing/2014/main" id="{3EF63A08-B605-4A2D-072B-59F7171CC21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ca31053399_0_44" descr=" ">
            <a:extLst>
              <a:ext uri="{FF2B5EF4-FFF2-40B4-BE49-F238E27FC236}">
                <a16:creationId xmlns:a16="http://schemas.microsoft.com/office/drawing/2014/main" id="{52E9769F-4D80-30D1-B792-C691DB49CFF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ca31053399_0_44">
            <a:extLst>
              <a:ext uri="{FF2B5EF4-FFF2-40B4-BE49-F238E27FC236}">
                <a16:creationId xmlns:a16="http://schemas.microsoft.com/office/drawing/2014/main" id="{F9F639A8-8590-56F0-902C-DB4E6EF076A5}"/>
              </a:ext>
            </a:extLst>
          </p:cNvPr>
          <p:cNvSpPr txBox="1"/>
          <p:nvPr/>
        </p:nvSpPr>
        <p:spPr>
          <a:xfrm>
            <a:off x="2366127" y="240806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3200" b="1" dirty="0">
                <a:solidFill>
                  <a:srgbClr val="FF0000"/>
                </a:solidFill>
              </a:rPr>
              <a:t>Smart Question 3 Summary</a:t>
            </a:r>
          </a:p>
        </p:txBody>
      </p:sp>
      <p:sp>
        <p:nvSpPr>
          <p:cNvPr id="58" name="Google Shape;58;g3ca31053399_0_44">
            <a:extLst>
              <a:ext uri="{FF2B5EF4-FFF2-40B4-BE49-F238E27FC236}">
                <a16:creationId xmlns:a16="http://schemas.microsoft.com/office/drawing/2014/main" id="{2A23D6C7-0A5F-A57A-93C9-E0D29FCCA0B6}"/>
              </a:ext>
            </a:extLst>
          </p:cNvPr>
          <p:cNvSpPr txBox="1"/>
          <p:nvPr/>
        </p:nvSpPr>
        <p:spPr>
          <a:xfrm>
            <a:off x="1549350" y="2967364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8676C-1C64-9139-5DEC-2DCD52052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3" y="3368333"/>
            <a:ext cx="11753845" cy="7721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18A98-CCC9-47E1-4983-1A64C22204E6}"/>
              </a:ext>
            </a:extLst>
          </p:cNvPr>
          <p:cNvSpPr txBox="1"/>
          <p:nvPr/>
        </p:nvSpPr>
        <p:spPr>
          <a:xfrm>
            <a:off x="12111378" y="2839974"/>
            <a:ext cx="7268396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interest rate influences the probability of default.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1% increase in interest rate multiplies the odds of default by 1.0881, holding all else constant.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other important variable include the following: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loan_percentage_income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cb_person_default_on_file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cb_credit_hist_length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loan_grade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rose which each model but not to an unreliable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99.60%. This value rose each time. The random forest value is almost at 100% since the data is imbalanced. 78% of the data are non-default borrowers.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93.1%. This value improved with each model.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12CB485-91F4-34A7-7EED-981C0F05B734}"/>
              </a:ext>
            </a:extLst>
          </p:cNvPr>
          <p:cNvSpPr/>
          <p:nvPr/>
        </p:nvSpPr>
        <p:spPr>
          <a:xfrm>
            <a:off x="253263" y="536473"/>
            <a:ext cx="2706068" cy="58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40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indent="0" algn="l">
              <a:buNone/>
            </a:pPr>
            <a:endParaRPr lang="en-US" sz="3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36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AFEE5EF2-73B2-8F54-271D-5C83EB9B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AF47A96-CBAD-ECEB-744F-F690C2161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747" y="0"/>
            <a:ext cx="2345138" cy="15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Google Shape;51;g3ca31053399_0_44" descr=" ">
            <a:extLst>
              <a:ext uri="{FF2B5EF4-FFF2-40B4-BE49-F238E27FC236}">
                <a16:creationId xmlns:a16="http://schemas.microsoft.com/office/drawing/2014/main" id="{2DCB16BF-8B18-A175-6D93-8FC4C7D138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8685" y="9332149"/>
            <a:ext cx="6324900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ca31053399_0_44" descr=" ">
            <a:extLst>
              <a:ext uri="{FF2B5EF4-FFF2-40B4-BE49-F238E27FC236}">
                <a16:creationId xmlns:a16="http://schemas.microsoft.com/office/drawing/2014/main" id="{4712A96C-431D-BDDF-0C31-A10963D979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96618" y="1042904"/>
            <a:ext cx="6591197" cy="77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ca31053399_0_44">
            <a:extLst>
              <a:ext uri="{FF2B5EF4-FFF2-40B4-BE49-F238E27FC236}">
                <a16:creationId xmlns:a16="http://schemas.microsoft.com/office/drawing/2014/main" id="{0C7F5EA4-B751-AAA0-B661-7908DD695F02}"/>
              </a:ext>
            </a:extLst>
          </p:cNvPr>
          <p:cNvSpPr/>
          <p:nvPr/>
        </p:nvSpPr>
        <p:spPr>
          <a:xfrm>
            <a:off x="0" y="1193961"/>
            <a:ext cx="21387900" cy="25500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ca31053399_0_44">
            <a:extLst>
              <a:ext uri="{FF2B5EF4-FFF2-40B4-BE49-F238E27FC236}">
                <a16:creationId xmlns:a16="http://schemas.microsoft.com/office/drawing/2014/main" id="{FDA1D188-94D9-88CC-91BB-CEA18773408A}"/>
              </a:ext>
            </a:extLst>
          </p:cNvPr>
          <p:cNvSpPr/>
          <p:nvPr/>
        </p:nvSpPr>
        <p:spPr>
          <a:xfrm>
            <a:off x="0" y="15115032"/>
            <a:ext cx="21387900" cy="152400"/>
          </a:xfrm>
          <a:prstGeom prst="rect">
            <a:avLst/>
          </a:prstGeom>
          <a:solidFill>
            <a:srgbClr val="413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g3ca31053399_0_44" descr=" ">
            <a:extLst>
              <a:ext uri="{FF2B5EF4-FFF2-40B4-BE49-F238E27FC236}">
                <a16:creationId xmlns:a16="http://schemas.microsoft.com/office/drawing/2014/main" id="{0D11295A-6761-8D41-1963-CC2742C6FA9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41655" y="192932"/>
            <a:ext cx="1321886" cy="78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ca31053399_0_44" descr=" ">
            <a:extLst>
              <a:ext uri="{FF2B5EF4-FFF2-40B4-BE49-F238E27FC236}">
                <a16:creationId xmlns:a16="http://schemas.microsoft.com/office/drawing/2014/main" id="{373FFCC9-E399-3A86-080A-2C1C39882BD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37" y="9629829"/>
            <a:ext cx="5042140" cy="515689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ca31053399_0_44">
            <a:extLst>
              <a:ext uri="{FF2B5EF4-FFF2-40B4-BE49-F238E27FC236}">
                <a16:creationId xmlns:a16="http://schemas.microsoft.com/office/drawing/2014/main" id="{357B6308-8515-72F6-7A86-5DF3A0142109}"/>
              </a:ext>
            </a:extLst>
          </p:cNvPr>
          <p:cNvSpPr txBox="1"/>
          <p:nvPr/>
        </p:nvSpPr>
        <p:spPr>
          <a:xfrm>
            <a:off x="1387225" y="186350"/>
            <a:ext cx="69015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</a:p>
        </p:txBody>
      </p:sp>
      <p:sp>
        <p:nvSpPr>
          <p:cNvPr id="58" name="Google Shape;58;g3ca31053399_0_44">
            <a:extLst>
              <a:ext uri="{FF2B5EF4-FFF2-40B4-BE49-F238E27FC236}">
                <a16:creationId xmlns:a16="http://schemas.microsoft.com/office/drawing/2014/main" id="{E6BB464D-F7C9-7A12-5515-54DA14B3B8F5}"/>
              </a:ext>
            </a:extLst>
          </p:cNvPr>
          <p:cNvSpPr txBox="1"/>
          <p:nvPr/>
        </p:nvSpPr>
        <p:spPr>
          <a:xfrm>
            <a:off x="1549350" y="2967364"/>
            <a:ext cx="18289200" cy="10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A89CC-2DA8-ABC6-A619-D5F4BC7CAC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318" y="2565929"/>
            <a:ext cx="14927898" cy="103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3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415</Words>
  <Application>Microsoft Office PowerPoint</Application>
  <PresentationFormat>Custom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Goode, Maurice</cp:lastModifiedBy>
  <cp:revision>107</cp:revision>
  <dcterms:created xsi:type="dcterms:W3CDTF">2024-11-21T08:39:52Z</dcterms:created>
  <dcterms:modified xsi:type="dcterms:W3CDTF">2026-04-19T16:20:25Z</dcterms:modified>
</cp:coreProperties>
</file>