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0" r:id="rId2"/>
    <p:sldId id="257" r:id="rId3"/>
    <p:sldId id="258" r:id="rId4"/>
    <p:sldId id="259" r:id="rId5"/>
    <p:sldId id="261" r:id="rId6"/>
  </p:sldIdLst>
  <p:sldSz cx="18288000" cy="10287000"/>
  <p:notesSz cx="6858000" cy="9144000"/>
  <p:embeddedFontLst>
    <p:embeddedFont>
      <p:font typeface="Arial Black" panose="020B0A04020102020204" pitchFamily="34" charset="0"/>
      <p:bold r:id="rId7"/>
    </p:embeddedFont>
    <p:embeddedFont>
      <p:font typeface="Bahnschrift Condensed" panose="020B0502040204020203" pitchFamily="34" charset="0"/>
      <p:regular r:id="rId8"/>
      <p:bold r:id="rId9"/>
    </p:embeddedFont>
    <p:embeddedFont>
      <p:font typeface="Bahnschrift Light" panose="020B0502040204020203" pitchFamily="34" charset="0"/>
      <p:regular r:id="rId10"/>
    </p:embeddedFont>
    <p:embeddedFont>
      <p:font typeface="Bahnschrift SemiBold SemiConden" panose="020B0502040204020203" pitchFamily="34" charset="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730"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7A11BA-9DCD-4BF1-989A-50EA063E6297}"/>
              </a:ext>
            </a:extLst>
          </p:cNvPr>
          <p:cNvSpPr txBox="1"/>
          <p:nvPr/>
        </p:nvSpPr>
        <p:spPr>
          <a:xfrm>
            <a:off x="1981200" y="2552700"/>
            <a:ext cx="12472133" cy="1938992"/>
          </a:xfrm>
          <a:prstGeom prst="rect">
            <a:avLst/>
          </a:prstGeom>
          <a:noFill/>
        </p:spPr>
        <p:txBody>
          <a:bodyPr wrap="square">
            <a:spAutoFit/>
          </a:bodyPr>
          <a:lstStyle/>
          <a:p>
            <a:pPr algn="ctr"/>
            <a:r>
              <a:rPr lang="en-US" sz="4000" b="1" dirty="0">
                <a:solidFill>
                  <a:srgbClr val="002060"/>
                </a:solidFill>
                <a:latin typeface="Arial Black" panose="020B0A04020102020204" pitchFamily="34" charset="0"/>
              </a:rPr>
              <a:t>Project 2</a:t>
            </a:r>
          </a:p>
          <a:p>
            <a:pPr algn="ctr"/>
            <a:r>
              <a:rPr lang="en-US" sz="4000" b="1" dirty="0">
                <a:solidFill>
                  <a:srgbClr val="002060"/>
                </a:solidFill>
                <a:latin typeface="Arial Black" panose="020B0A04020102020204" pitchFamily="34" charset="0"/>
              </a:rPr>
              <a:t>Implementing regression-based and classification modeling techniques"</a:t>
            </a:r>
          </a:p>
        </p:txBody>
      </p:sp>
      <p:grpSp>
        <p:nvGrpSpPr>
          <p:cNvPr id="14" name="Группа 13">
            <a:extLst>
              <a:ext uri="{FF2B5EF4-FFF2-40B4-BE49-F238E27FC236}">
                <a16:creationId xmlns:a16="http://schemas.microsoft.com/office/drawing/2014/main" id="{663E50E1-FFD3-4213-8FE9-77A5DC9747D0}"/>
              </a:ext>
            </a:extLst>
          </p:cNvPr>
          <p:cNvGrpSpPr/>
          <p:nvPr/>
        </p:nvGrpSpPr>
        <p:grpSpPr>
          <a:xfrm>
            <a:off x="3352800" y="7277096"/>
            <a:ext cx="10963040" cy="620335"/>
            <a:chOff x="4367650" y="8366534"/>
            <a:chExt cx="10963040" cy="620335"/>
          </a:xfrm>
        </p:grpSpPr>
        <p:sp>
          <p:nvSpPr>
            <p:cNvPr id="15" name="TextBox 14">
              <a:extLst>
                <a:ext uri="{FF2B5EF4-FFF2-40B4-BE49-F238E27FC236}">
                  <a16:creationId xmlns:a16="http://schemas.microsoft.com/office/drawing/2014/main" id="{C42F1CA1-EE39-4596-ACF7-E988F2A456F4}"/>
                </a:ext>
              </a:extLst>
            </p:cNvPr>
            <p:cNvSpPr txBox="1"/>
            <p:nvPr/>
          </p:nvSpPr>
          <p:spPr>
            <a:xfrm>
              <a:off x="4367650" y="8463649"/>
              <a:ext cx="3595348" cy="523220"/>
            </a:xfrm>
            <a:prstGeom prst="rect">
              <a:avLst/>
            </a:prstGeom>
            <a:noFill/>
          </p:spPr>
          <p:txBody>
            <a:bodyPr wrap="square">
              <a:spAutoFit/>
            </a:bodyPr>
            <a:lstStyle/>
            <a:p>
              <a:pPr algn="just"/>
              <a:r>
                <a:rPr lang="en-US" sz="2800" b="1" dirty="0">
                  <a:solidFill>
                    <a:srgbClr val="FF0000"/>
                  </a:solidFill>
                  <a:latin typeface="Arial Black" panose="020B0A04020102020204" pitchFamily="34" charset="0"/>
                </a:rPr>
                <a:t>Ulugbek Islomov</a:t>
              </a:r>
            </a:p>
          </p:txBody>
        </p:sp>
        <p:sp>
          <p:nvSpPr>
            <p:cNvPr id="16" name="TextBox 15">
              <a:extLst>
                <a:ext uri="{FF2B5EF4-FFF2-40B4-BE49-F238E27FC236}">
                  <a16:creationId xmlns:a16="http://schemas.microsoft.com/office/drawing/2014/main" id="{26B6B655-E663-45F7-A787-089521DECBF4}"/>
                </a:ext>
              </a:extLst>
            </p:cNvPr>
            <p:cNvSpPr txBox="1"/>
            <p:nvPr/>
          </p:nvSpPr>
          <p:spPr>
            <a:xfrm>
              <a:off x="8139994" y="8423765"/>
              <a:ext cx="3595348" cy="523220"/>
            </a:xfrm>
            <a:prstGeom prst="rect">
              <a:avLst/>
            </a:prstGeom>
            <a:noFill/>
          </p:spPr>
          <p:txBody>
            <a:bodyPr wrap="square">
              <a:spAutoFit/>
            </a:bodyPr>
            <a:lstStyle/>
            <a:p>
              <a:pPr algn="just"/>
              <a:r>
                <a:rPr lang="en-US" sz="2800" b="1" dirty="0">
                  <a:solidFill>
                    <a:srgbClr val="FF0000"/>
                  </a:solidFill>
                  <a:latin typeface="Arial Black" panose="020B0A04020102020204" pitchFamily="34" charset="0"/>
                </a:rPr>
                <a:t>Maurice Goode</a:t>
              </a:r>
            </a:p>
          </p:txBody>
        </p:sp>
        <p:sp>
          <p:nvSpPr>
            <p:cNvPr id="17" name="TextBox 16">
              <a:extLst>
                <a:ext uri="{FF2B5EF4-FFF2-40B4-BE49-F238E27FC236}">
                  <a16:creationId xmlns:a16="http://schemas.microsoft.com/office/drawing/2014/main" id="{AC879947-2BB1-4F21-B361-14A974AEE726}"/>
                </a:ext>
              </a:extLst>
            </p:cNvPr>
            <p:cNvSpPr txBox="1"/>
            <p:nvPr/>
          </p:nvSpPr>
          <p:spPr>
            <a:xfrm>
              <a:off x="11735342" y="8366534"/>
              <a:ext cx="3595348" cy="523220"/>
            </a:xfrm>
            <a:prstGeom prst="rect">
              <a:avLst/>
            </a:prstGeom>
            <a:noFill/>
          </p:spPr>
          <p:txBody>
            <a:bodyPr wrap="square">
              <a:spAutoFit/>
            </a:bodyPr>
            <a:lstStyle/>
            <a:p>
              <a:pPr algn="just"/>
              <a:r>
                <a:rPr lang="en-US" sz="2800" b="1" dirty="0" err="1">
                  <a:solidFill>
                    <a:srgbClr val="FF0000"/>
                  </a:solidFill>
                  <a:latin typeface="Arial Black" panose="020B0A04020102020204" pitchFamily="34" charset="0"/>
                </a:rPr>
                <a:t>Soumae</a:t>
              </a:r>
              <a:r>
                <a:rPr lang="en-US" sz="2800" b="1" dirty="0">
                  <a:solidFill>
                    <a:srgbClr val="FF0000"/>
                  </a:solidFill>
                  <a:latin typeface="Arial Black" panose="020B0A04020102020204" pitchFamily="34" charset="0"/>
                </a:rPr>
                <a:t> Patidar</a:t>
              </a:r>
            </a:p>
          </p:txBody>
        </p:sp>
      </p:grpSp>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Group</a:t>
            </a:r>
            <a:r>
              <a:rPr lang="en-US" sz="4000" b="1" dirty="0">
                <a:solidFill>
                  <a:srgbClr val="0070C0"/>
                </a:solidFill>
                <a:latin typeface="Arial Black" panose="020B0A04020102020204" pitchFamily="34" charset="0"/>
              </a:rPr>
              <a:t> </a:t>
            </a:r>
            <a:r>
              <a:rPr lang="en-US" sz="4000" b="1" dirty="0">
                <a:solidFill>
                  <a:srgbClr val="002060"/>
                </a:solidFill>
                <a:latin typeface="Arial Black" panose="020B0A04020102020204" pitchFamily="34" charset="0"/>
              </a:rPr>
              <a:t>Presentation </a:t>
            </a:r>
            <a:r>
              <a:rPr lang="en-US" sz="4000" b="1">
                <a:solidFill>
                  <a:srgbClr val="002060"/>
                </a:solidFill>
                <a:latin typeface="Arial Black" panose="020B0A04020102020204" pitchFamily="34" charset="0"/>
              </a:rPr>
              <a:t>(Draft)</a:t>
            </a:r>
            <a:endParaRPr lang="en-US" sz="4000" b="1" dirty="0">
              <a:solidFill>
                <a:srgbClr val="002060"/>
              </a:solidFill>
              <a:latin typeface="Arial Black" panose="020B0A04020102020204" pitchFamily="34" charset="0"/>
            </a:endParaRPr>
          </a:p>
        </p:txBody>
      </p:sp>
      <p:pic>
        <p:nvPicPr>
          <p:cNvPr id="20" name="Picture 4">
            <a:extLst>
              <a:ext uri="{FF2B5EF4-FFF2-40B4-BE49-F238E27FC236}">
                <a16:creationId xmlns:a16="http://schemas.microsoft.com/office/drawing/2014/main" id="{44AEC818-E6E1-4048-89BB-984052170A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329" y="8420100"/>
            <a:ext cx="4343400" cy="1526977"/>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6CACF301-5B11-829C-BE95-E1ED4B60A097}"/>
              </a:ext>
            </a:extLst>
          </p:cNvPr>
          <p:cNvPicPr>
            <a:picLocks noChangeAspect="1"/>
          </p:cNvPicPr>
          <p:nvPr/>
        </p:nvPicPr>
        <p:blipFill>
          <a:blip r:embed="rId6"/>
          <a:stretch>
            <a:fillRect/>
          </a:stretch>
        </p:blipFill>
        <p:spPr>
          <a:xfrm>
            <a:off x="6705600" y="4762500"/>
            <a:ext cx="3429000" cy="2286000"/>
          </a:xfrm>
          <a:prstGeom prst="rect">
            <a:avLst/>
          </a:prstGeom>
        </p:spPr>
      </p:pic>
    </p:spTree>
    <p:extLst>
      <p:ext uri="{BB962C8B-B14F-4D97-AF65-F5344CB8AC3E}">
        <p14:creationId xmlns:p14="http://schemas.microsoft.com/office/powerpoint/2010/main" val="257039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Introduction</a:t>
            </a:r>
          </a:p>
        </p:txBody>
      </p:sp>
      <p:sp>
        <p:nvSpPr>
          <p:cNvPr id="21" name="TextBox 20">
            <a:extLst>
              <a:ext uri="{FF2B5EF4-FFF2-40B4-BE49-F238E27FC236}">
                <a16:creationId xmlns:a16="http://schemas.microsoft.com/office/drawing/2014/main" id="{3E2B8187-8EB7-4818-9EB4-7AE59D73DD9D}"/>
              </a:ext>
            </a:extLst>
          </p:cNvPr>
          <p:cNvSpPr txBox="1"/>
          <p:nvPr/>
        </p:nvSpPr>
        <p:spPr>
          <a:xfrm>
            <a:off x="1600200" y="2171702"/>
            <a:ext cx="15925800" cy="6740307"/>
          </a:xfrm>
          <a:prstGeom prst="rect">
            <a:avLst/>
          </a:prstGeom>
          <a:noFill/>
        </p:spPr>
        <p:txBody>
          <a:bodyPr wrap="square">
            <a:spAutoFit/>
          </a:bodyPr>
          <a:lstStyle/>
          <a:p>
            <a:r>
              <a:rPr lang="en-US" sz="3600" dirty="0">
                <a:latin typeface="Bahnschrift Condensed" panose="020B0502040204020203" pitchFamily="34" charset="0"/>
              </a:rPr>
              <a:t>This project analyzes a credit risk dataset containing more than 30,000 loan observations. The dataset includes detailed information on borrower demographics (such as age and home ownership), financial capacity (income and employment length), credit history (credit history length and prior default), and loan characteristics (loan amount, loan intent, and interest rate).Building on exploratory findings from Project 1, this project focuses on applying statistical modeling techniques to better understand and quantify the relationships between borrower characteristics and key lending </a:t>
            </a:r>
            <a:r>
              <a:rPr lang="en-US" sz="3600" dirty="0" err="1">
                <a:latin typeface="Bahnschrift Condensed" panose="020B0502040204020203" pitchFamily="34" charset="0"/>
              </a:rPr>
              <a:t>outcomes.The</a:t>
            </a:r>
            <a:r>
              <a:rPr lang="en-US" sz="3600" dirty="0">
                <a:latin typeface="Bahnschrift Condensed" panose="020B0502040204020203" pitchFamily="34" charset="0"/>
              </a:rPr>
              <a:t> primary objective is to apply regression-based and classification modeling approaches to address three SMART research questions that capture different dimensions of credit risk and lending behavior. These questions focus on pricing (interest rate), risk (default probability), and borrowing behavior (loan amount).The analysis integrates exploratory insights with formal statistical models to evaluate both explanatory relationships and predictive performance, while also assessing the strengths and limitations of the models used.</a:t>
            </a:r>
          </a:p>
        </p:txBody>
      </p:sp>
    </p:spTree>
    <p:extLst>
      <p:ext uri="{BB962C8B-B14F-4D97-AF65-F5344CB8AC3E}">
        <p14:creationId xmlns:p14="http://schemas.microsoft.com/office/powerpoint/2010/main" val="2781560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6999C7D7-E5E7-493B-8900-253CC353A670}"/>
              </a:ext>
            </a:extLst>
          </p:cNvPr>
          <p:cNvSpPr txBox="1"/>
          <p:nvPr/>
        </p:nvSpPr>
        <p:spPr>
          <a:xfrm>
            <a:off x="685801" y="419101"/>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Background and summary of Project 1</a:t>
            </a:r>
          </a:p>
        </p:txBody>
      </p:sp>
      <p:sp>
        <p:nvSpPr>
          <p:cNvPr id="18" name="TextBox 17">
            <a:extLst>
              <a:ext uri="{FF2B5EF4-FFF2-40B4-BE49-F238E27FC236}">
                <a16:creationId xmlns:a16="http://schemas.microsoft.com/office/drawing/2014/main" id="{E5CF52F0-1446-4A1D-97A1-933FB78AC623}"/>
              </a:ext>
            </a:extLst>
          </p:cNvPr>
          <p:cNvSpPr txBox="1"/>
          <p:nvPr/>
        </p:nvSpPr>
        <p:spPr>
          <a:xfrm>
            <a:off x="2590800" y="2171703"/>
            <a:ext cx="14020800" cy="5078313"/>
          </a:xfrm>
          <a:prstGeom prst="rect">
            <a:avLst/>
          </a:prstGeom>
          <a:noFill/>
        </p:spPr>
        <p:txBody>
          <a:bodyPr wrap="square">
            <a:spAutoFit/>
          </a:bodyPr>
          <a:lstStyle/>
          <a:p>
            <a:r>
              <a:rPr lang="en-US" sz="3600" dirty="0">
                <a:latin typeface="Bahnschrift Condensed" panose="020B0502040204020203" pitchFamily="34" charset="0"/>
              </a:rPr>
              <a:t>In Project 1, we conducted an exploratory data analysis of the same credit risk dataset obtained from Kaggle. The goal was to identify key patterns in borrower behavior, default risk, and revenue </a:t>
            </a:r>
            <a:r>
              <a:rPr lang="en-US" sz="3600" dirty="0" err="1">
                <a:latin typeface="Bahnschrift Condensed" panose="020B0502040204020203" pitchFamily="34" charset="0"/>
              </a:rPr>
              <a:t>generation.The</a:t>
            </a:r>
            <a:r>
              <a:rPr lang="en-US" sz="3600" dirty="0">
                <a:latin typeface="Bahnschrift Condensed" panose="020B0502040204020203" pitchFamily="34" charset="0"/>
              </a:rPr>
              <a:t> analysis revealed that income and loan amount distributions are highly right-skewed, and that borrower characteristics such as income, employment length, loan intent, and credit history are strongly associated with both default risk and revenue outcomes. In particular, loan grade and income level were identified as major factors influencing default </a:t>
            </a:r>
            <a:r>
              <a:rPr lang="en-US" sz="3600" dirty="0" err="1">
                <a:latin typeface="Bahnschrift Condensed" panose="020B0502040204020203" pitchFamily="34" charset="0"/>
              </a:rPr>
              <a:t>behavior.These</a:t>
            </a:r>
            <a:r>
              <a:rPr lang="en-US" sz="3600" dirty="0">
                <a:latin typeface="Bahnschrift Condensed" panose="020B0502040204020203" pitchFamily="34" charset="0"/>
              </a:rPr>
              <a:t> findings motivate the current project, where we move from exploratory analysis to formal statistical modeling in order to quantify these relationships and assess their significance.</a:t>
            </a:r>
          </a:p>
        </p:txBody>
      </p:sp>
    </p:spTree>
    <p:extLst>
      <p:ext uri="{BB962C8B-B14F-4D97-AF65-F5344CB8AC3E}">
        <p14:creationId xmlns:p14="http://schemas.microsoft.com/office/powerpoint/2010/main" val="1637210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Data and variables</a:t>
            </a:r>
          </a:p>
        </p:txBody>
      </p:sp>
      <p:sp>
        <p:nvSpPr>
          <p:cNvPr id="47" name="Rectangle 3">
            <a:extLst>
              <a:ext uri="{FF2B5EF4-FFF2-40B4-BE49-F238E27FC236}">
                <a16:creationId xmlns:a16="http://schemas.microsoft.com/office/drawing/2014/main" id="{833F0017-DFD8-4B00-809F-53EAEFECD273}"/>
              </a:ext>
            </a:extLst>
          </p:cNvPr>
          <p:cNvSpPr>
            <a:spLocks noChangeArrowheads="1"/>
          </p:cNvSpPr>
          <p:nvPr/>
        </p:nvSpPr>
        <p:spPr bwMode="auto">
          <a:xfrm>
            <a:off x="174755" y="1074511"/>
            <a:ext cx="881684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sz="3000" b="1" dirty="0">
                <a:solidFill>
                  <a:srgbClr val="002060"/>
                </a:solidFill>
              </a:rPr>
              <a:t>Dataset Overview:</a:t>
            </a:r>
          </a:p>
          <a:p>
            <a:pPr defTabSz="914377" eaLnBrk="0" fontAlgn="base" hangingPunct="0">
              <a:spcBef>
                <a:spcPct val="0"/>
              </a:spcBef>
              <a:spcAft>
                <a:spcPct val="0"/>
              </a:spcAft>
            </a:pPr>
            <a:endParaRPr lang="en-US" altLang="en-US" sz="3000" b="1" dirty="0">
              <a:solidFill>
                <a:srgbClr val="002060"/>
              </a:solidFill>
            </a:endParaRP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Source: Kaggle </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Name: credit_risk_dataset.csv</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Observations: ~ 32,000</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Variables: 12 borrower and loan characteristics</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Target variable: </a:t>
            </a:r>
            <a:r>
              <a:rPr lang="en-US" altLang="en-US" sz="3000" b="1" dirty="0" err="1">
                <a:solidFill>
                  <a:srgbClr val="002060"/>
                </a:solidFill>
              </a:rPr>
              <a:t>loan_status</a:t>
            </a:r>
            <a:r>
              <a:rPr lang="en-US" altLang="en-US" sz="3000" b="1" dirty="0">
                <a:solidFill>
                  <a:srgbClr val="002060"/>
                </a:solidFill>
              </a:rPr>
              <a:t>                                                                         (1 = default,  0 = non-default)</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Nature: Consumer lending data</a:t>
            </a:r>
          </a:p>
          <a:p>
            <a:pPr defTabSz="914377" eaLnBrk="0" fontAlgn="base" hangingPunct="0">
              <a:spcBef>
                <a:spcPct val="0"/>
              </a:spcBef>
              <a:spcAft>
                <a:spcPct val="0"/>
              </a:spcAft>
            </a:pPr>
            <a:endParaRPr lang="en-US" altLang="en-US" sz="3000" b="1" dirty="0">
              <a:solidFill>
                <a:srgbClr val="002060"/>
              </a:solidFill>
              <a:latin typeface="Bahnschrift Light" panose="020B0502040204020203" pitchFamily="34" charset="0"/>
            </a:endParaRPr>
          </a:p>
        </p:txBody>
      </p:sp>
      <p:sp>
        <p:nvSpPr>
          <p:cNvPr id="48" name="TextBox 47">
            <a:extLst>
              <a:ext uri="{FF2B5EF4-FFF2-40B4-BE49-F238E27FC236}">
                <a16:creationId xmlns:a16="http://schemas.microsoft.com/office/drawing/2014/main" id="{666344A5-3ABC-4B45-967B-CA3A46306FF5}"/>
              </a:ext>
            </a:extLst>
          </p:cNvPr>
          <p:cNvSpPr txBox="1"/>
          <p:nvPr/>
        </p:nvSpPr>
        <p:spPr>
          <a:xfrm>
            <a:off x="11165095" y="1581112"/>
            <a:ext cx="3915833" cy="553998"/>
          </a:xfrm>
          <a:prstGeom prst="rect">
            <a:avLst/>
          </a:prstGeom>
          <a:noFill/>
        </p:spPr>
        <p:txBody>
          <a:bodyPr wrap="square">
            <a:spAutoFit/>
          </a:bodyPr>
          <a:lstStyle/>
          <a:p>
            <a:pPr defTabSz="914377" eaLnBrk="0" fontAlgn="base" hangingPunct="0">
              <a:spcBef>
                <a:spcPct val="0"/>
              </a:spcBef>
              <a:spcAft>
                <a:spcPct val="0"/>
              </a:spcAft>
            </a:pPr>
            <a:r>
              <a:rPr lang="en-US" altLang="en-US" sz="3000" b="1" dirty="0">
                <a:solidFill>
                  <a:srgbClr val="002060"/>
                </a:solidFill>
              </a:rPr>
              <a:t>Variable Definitions:</a:t>
            </a:r>
          </a:p>
        </p:txBody>
      </p:sp>
      <p:sp>
        <p:nvSpPr>
          <p:cNvPr id="52" name="Блок-схема: узел 51">
            <a:extLst>
              <a:ext uri="{FF2B5EF4-FFF2-40B4-BE49-F238E27FC236}">
                <a16:creationId xmlns:a16="http://schemas.microsoft.com/office/drawing/2014/main" id="{2A457A3C-E36D-4FD3-A330-A46F5A54F1D5}"/>
              </a:ext>
            </a:extLst>
          </p:cNvPr>
          <p:cNvSpPr/>
          <p:nvPr/>
        </p:nvSpPr>
        <p:spPr>
          <a:xfrm>
            <a:off x="2209800" y="7429501"/>
            <a:ext cx="728133" cy="702435"/>
          </a:xfrm>
          <a:prstGeom prst="flowChartConnector">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000" b="1" dirty="0"/>
              <a:t>1</a:t>
            </a:r>
          </a:p>
        </p:txBody>
      </p:sp>
      <p:sp>
        <p:nvSpPr>
          <p:cNvPr id="53" name="Блок-схема: узел 52">
            <a:extLst>
              <a:ext uri="{FF2B5EF4-FFF2-40B4-BE49-F238E27FC236}">
                <a16:creationId xmlns:a16="http://schemas.microsoft.com/office/drawing/2014/main" id="{93FAA031-B6F1-40B2-A5FA-6F2D6C6D55B5}"/>
              </a:ext>
            </a:extLst>
          </p:cNvPr>
          <p:cNvSpPr/>
          <p:nvPr/>
        </p:nvSpPr>
        <p:spPr>
          <a:xfrm>
            <a:off x="7728136" y="7467206"/>
            <a:ext cx="728133" cy="702435"/>
          </a:xfrm>
          <a:prstGeom prst="flowChartConnector">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000" b="1" dirty="0"/>
              <a:t>2</a:t>
            </a:r>
          </a:p>
        </p:txBody>
      </p:sp>
      <p:sp>
        <p:nvSpPr>
          <p:cNvPr id="54" name="Блок-схема: узел 53">
            <a:extLst>
              <a:ext uri="{FF2B5EF4-FFF2-40B4-BE49-F238E27FC236}">
                <a16:creationId xmlns:a16="http://schemas.microsoft.com/office/drawing/2014/main" id="{9C720AB4-D199-4FD2-B3B9-7FE6C7486D78}"/>
              </a:ext>
            </a:extLst>
          </p:cNvPr>
          <p:cNvSpPr/>
          <p:nvPr/>
        </p:nvSpPr>
        <p:spPr>
          <a:xfrm>
            <a:off x="13335002" y="7124703"/>
            <a:ext cx="728133" cy="702435"/>
          </a:xfrm>
          <a:prstGeom prst="flowChartConnector">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000" b="1" dirty="0"/>
              <a:t>3</a:t>
            </a:r>
          </a:p>
        </p:txBody>
      </p:sp>
      <p:sp>
        <p:nvSpPr>
          <p:cNvPr id="55" name="TextBox 54">
            <a:extLst>
              <a:ext uri="{FF2B5EF4-FFF2-40B4-BE49-F238E27FC236}">
                <a16:creationId xmlns:a16="http://schemas.microsoft.com/office/drawing/2014/main" id="{548511A9-B040-4B13-92C2-F0C866BE0698}"/>
              </a:ext>
            </a:extLst>
          </p:cNvPr>
          <p:cNvSpPr txBox="1"/>
          <p:nvPr/>
        </p:nvSpPr>
        <p:spPr>
          <a:xfrm>
            <a:off x="246101" y="5645878"/>
            <a:ext cx="7215575" cy="553998"/>
          </a:xfrm>
          <a:prstGeom prst="rect">
            <a:avLst/>
          </a:prstGeom>
          <a:noFill/>
        </p:spPr>
        <p:txBody>
          <a:bodyPr wrap="square">
            <a:spAutoFit/>
          </a:bodyPr>
          <a:lstStyle/>
          <a:p>
            <a:pPr defTabSz="914377" eaLnBrk="0" fontAlgn="base" hangingPunct="0">
              <a:spcBef>
                <a:spcPct val="0"/>
              </a:spcBef>
              <a:spcAft>
                <a:spcPct val="0"/>
              </a:spcAft>
            </a:pPr>
            <a:r>
              <a:rPr lang="en-US" altLang="en-US" sz="3000" b="1" dirty="0">
                <a:solidFill>
                  <a:srgbClr val="002060"/>
                </a:solidFill>
              </a:rPr>
              <a:t>Data cleaning and feature engineering:</a:t>
            </a:r>
          </a:p>
        </p:txBody>
      </p:sp>
      <p:pic>
        <p:nvPicPr>
          <p:cNvPr id="6" name="Рисунок 5">
            <a:extLst>
              <a:ext uri="{FF2B5EF4-FFF2-40B4-BE49-F238E27FC236}">
                <a16:creationId xmlns:a16="http://schemas.microsoft.com/office/drawing/2014/main" id="{07A9AD1C-FAEC-4650-89B0-8E1D09FC9B65}"/>
              </a:ext>
            </a:extLst>
          </p:cNvPr>
          <p:cNvPicPr>
            <a:picLocks noChangeAspect="1"/>
          </p:cNvPicPr>
          <p:nvPr/>
        </p:nvPicPr>
        <p:blipFill>
          <a:blip r:embed="rId5"/>
          <a:stretch>
            <a:fillRect/>
          </a:stretch>
        </p:blipFill>
        <p:spPr>
          <a:xfrm>
            <a:off x="9105479" y="2095504"/>
            <a:ext cx="8344321" cy="4026927"/>
          </a:xfrm>
          <a:prstGeom prst="rect">
            <a:avLst/>
          </a:prstGeom>
        </p:spPr>
      </p:pic>
    </p:spTree>
    <p:extLst>
      <p:ext uri="{BB962C8B-B14F-4D97-AF65-F5344CB8AC3E}">
        <p14:creationId xmlns:p14="http://schemas.microsoft.com/office/powerpoint/2010/main" val="143088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4A9C484-AFE1-CEEE-8AA6-67F689B8F9B9}"/>
              </a:ext>
            </a:extLst>
          </p:cNvPr>
          <p:cNvSpPr txBox="1"/>
          <p:nvPr/>
        </p:nvSpPr>
        <p:spPr>
          <a:xfrm>
            <a:off x="609600" y="266700"/>
            <a:ext cx="12344400" cy="646331"/>
          </a:xfrm>
          <a:prstGeom prst="rect">
            <a:avLst/>
          </a:prstGeom>
          <a:noFill/>
        </p:spPr>
        <p:txBody>
          <a:bodyPr wrap="square">
            <a:spAutoFit/>
          </a:bodyPr>
          <a:lstStyle/>
          <a:p>
            <a:pPr indent="-457200">
              <a:buFont typeface="Arial" panose="020B0604020202020204" pitchFamily="34" charset="0"/>
              <a:buChar char="•"/>
            </a:pPr>
            <a:r>
              <a:rPr lang="en-US" sz="3600" b="1" u="sng" dirty="0">
                <a:solidFill>
                  <a:schemeClr val="tx2"/>
                </a:solidFill>
                <a:latin typeface="Bahnschrift Condensed" panose="020B0502040204020203" pitchFamily="34" charset="0"/>
              </a:rPr>
              <a:t>Smart Question 1: Do Borrower Characteristics Affect Interest Rate?</a:t>
            </a:r>
          </a:p>
        </p:txBody>
      </p:sp>
      <p:sp>
        <p:nvSpPr>
          <p:cNvPr id="7" name="Прямоугольник: скругленные углы 6">
            <a:extLst>
              <a:ext uri="{FF2B5EF4-FFF2-40B4-BE49-F238E27FC236}">
                <a16:creationId xmlns:a16="http://schemas.microsoft.com/office/drawing/2014/main" id="{4F4E53E7-38BA-F00A-CFED-C85F89A38F5D}"/>
              </a:ext>
            </a:extLst>
          </p:cNvPr>
          <p:cNvSpPr/>
          <p:nvPr/>
        </p:nvSpPr>
        <p:spPr>
          <a:xfrm>
            <a:off x="1371600" y="79629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Borrower</a:t>
            </a:r>
          </a:p>
        </p:txBody>
      </p:sp>
      <p:sp>
        <p:nvSpPr>
          <p:cNvPr id="11" name="Прямоугольник: скругленные углы 10">
            <a:extLst>
              <a:ext uri="{FF2B5EF4-FFF2-40B4-BE49-F238E27FC236}">
                <a16:creationId xmlns:a16="http://schemas.microsoft.com/office/drawing/2014/main" id="{B6E6BD70-2C01-63E4-3E91-088028370C1A}"/>
              </a:ext>
            </a:extLst>
          </p:cNvPr>
          <p:cNvSpPr/>
          <p:nvPr/>
        </p:nvSpPr>
        <p:spPr>
          <a:xfrm>
            <a:off x="6781800" y="78105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Loan Grade</a:t>
            </a:r>
          </a:p>
        </p:txBody>
      </p:sp>
      <p:sp>
        <p:nvSpPr>
          <p:cNvPr id="15" name="Прямоугольник: скругленные углы 14">
            <a:extLst>
              <a:ext uri="{FF2B5EF4-FFF2-40B4-BE49-F238E27FC236}">
                <a16:creationId xmlns:a16="http://schemas.microsoft.com/office/drawing/2014/main" id="{E4927532-3063-3A38-81DB-EB866D6E98F2}"/>
              </a:ext>
            </a:extLst>
          </p:cNvPr>
          <p:cNvSpPr/>
          <p:nvPr/>
        </p:nvSpPr>
        <p:spPr>
          <a:xfrm>
            <a:off x="12039600" y="7658100"/>
            <a:ext cx="3962400" cy="1828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t>Interest</a:t>
            </a:r>
            <a:r>
              <a:rPr lang="en-US" sz="4400" dirty="0"/>
              <a:t> </a:t>
            </a:r>
            <a:r>
              <a:rPr lang="en-US" sz="4400" b="1" dirty="0"/>
              <a:t>Rate</a:t>
            </a:r>
          </a:p>
        </p:txBody>
      </p:sp>
      <p:sp>
        <p:nvSpPr>
          <p:cNvPr id="16" name="Стрелка: вправо 15">
            <a:extLst>
              <a:ext uri="{FF2B5EF4-FFF2-40B4-BE49-F238E27FC236}">
                <a16:creationId xmlns:a16="http://schemas.microsoft.com/office/drawing/2014/main" id="{D2018ABB-D15B-2A41-16C3-DB95C22633B0}"/>
              </a:ext>
            </a:extLst>
          </p:cNvPr>
          <p:cNvSpPr/>
          <p:nvPr/>
        </p:nvSpPr>
        <p:spPr>
          <a:xfrm>
            <a:off x="5486400" y="8496300"/>
            <a:ext cx="1066800" cy="6096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7" name="Стрелка: вправо 16">
            <a:extLst>
              <a:ext uri="{FF2B5EF4-FFF2-40B4-BE49-F238E27FC236}">
                <a16:creationId xmlns:a16="http://schemas.microsoft.com/office/drawing/2014/main" id="{9470A59B-2AD5-413B-76E7-67E9CE0D4FD5}"/>
              </a:ext>
            </a:extLst>
          </p:cNvPr>
          <p:cNvSpPr/>
          <p:nvPr/>
        </p:nvSpPr>
        <p:spPr>
          <a:xfrm>
            <a:off x="10896600" y="8420100"/>
            <a:ext cx="1066800" cy="60960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18" name="Rectangle 1">
            <a:extLst>
              <a:ext uri="{FF2B5EF4-FFF2-40B4-BE49-F238E27FC236}">
                <a16:creationId xmlns:a16="http://schemas.microsoft.com/office/drawing/2014/main" id="{C7B198E6-CBBC-5601-0E36-D995F11C25B6}"/>
              </a:ext>
            </a:extLst>
          </p:cNvPr>
          <p:cNvSpPr>
            <a:spLocks noChangeArrowheads="1"/>
          </p:cNvSpPr>
          <p:nvPr/>
        </p:nvSpPr>
        <p:spPr bwMode="auto">
          <a:xfrm>
            <a:off x="685800" y="1181100"/>
            <a:ext cx="5832046" cy="661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n-US" altLang="en-US" sz="3600" b="1" dirty="0">
                <a:solidFill>
                  <a:schemeClr val="tx2"/>
                </a:solidFill>
                <a:latin typeface="Bahnschrift Condensed" panose="020B0502040204020203" pitchFamily="34" charset="0"/>
              </a:rPr>
              <a:t>Response</a:t>
            </a:r>
            <a:r>
              <a:rPr lang="en-US" altLang="en-US" sz="3600" dirty="0">
                <a:solidFill>
                  <a:schemeClr val="tx2"/>
                </a:solidFill>
                <a:latin typeface="Bahnschrift Condensed" panose="020B0502040204020203" pitchFamily="34" charset="0"/>
              </a:rPr>
              <a:t>: Interest Rate </a:t>
            </a:r>
          </a:p>
          <a:p>
            <a:pPr marR="0" lvl="0" indent="0" fontAlgn="base">
              <a:lnSpc>
                <a:spcPct val="100000"/>
              </a:lnSpc>
              <a:spcBef>
                <a:spcPct val="0"/>
              </a:spcBef>
              <a:spcAft>
                <a:spcPct val="0"/>
              </a:spcAft>
              <a:buClrTx/>
              <a:buSzTx/>
              <a:buFontTx/>
              <a:buChar char="•"/>
              <a:tabLst/>
            </a:pPr>
            <a:endParaRPr lang="en-US" altLang="en-US" sz="3600" dirty="0">
              <a:solidFill>
                <a:schemeClr val="tx2"/>
              </a:solidFill>
              <a:latin typeface="Bahnschrift Condensed" panose="020B0502040204020203" pitchFamily="34" charset="0"/>
            </a:endParaRPr>
          </a:p>
          <a:p>
            <a:pPr marR="0" lvl="0" indent="0" fontAlgn="base">
              <a:lnSpc>
                <a:spcPct val="100000"/>
              </a:lnSpc>
              <a:spcBef>
                <a:spcPct val="0"/>
              </a:spcBef>
              <a:spcAft>
                <a:spcPct val="0"/>
              </a:spcAft>
              <a:buClrTx/>
              <a:buSzTx/>
              <a:buFontTx/>
              <a:buChar char="•"/>
              <a:tabLst/>
            </a:pPr>
            <a:r>
              <a:rPr lang="en-US" altLang="en-US" sz="3600" b="1" dirty="0">
                <a:solidFill>
                  <a:schemeClr val="tx2"/>
                </a:solidFill>
                <a:latin typeface="Bahnschrift Condensed" panose="020B0502040204020203" pitchFamily="34" charset="0"/>
              </a:rPr>
              <a:t>Goal</a:t>
            </a:r>
            <a:r>
              <a:rPr lang="en-US" altLang="en-US" sz="3600" dirty="0">
                <a:solidFill>
                  <a:schemeClr val="tx2"/>
                </a:solidFill>
                <a:latin typeface="Bahnschrift Condensed" panose="020B0502040204020203" pitchFamily="34" charset="0"/>
              </a:rPr>
              <a:t>: identify key drivers of pricing </a:t>
            </a:r>
          </a:p>
          <a:p>
            <a:pPr marR="0" lvl="0" indent="0" fontAlgn="base">
              <a:lnSpc>
                <a:spcPct val="100000"/>
              </a:lnSpc>
              <a:spcBef>
                <a:spcPct val="0"/>
              </a:spcBef>
              <a:spcAft>
                <a:spcPct val="0"/>
              </a:spcAft>
              <a:buClrTx/>
              <a:buSzTx/>
              <a:buFontTx/>
              <a:buChar char="•"/>
              <a:tabLst/>
            </a:pPr>
            <a:endParaRPr lang="en-US" altLang="en-US" sz="3600" dirty="0">
              <a:solidFill>
                <a:schemeClr val="tx2"/>
              </a:solidFill>
              <a:latin typeface="Bahnschrift Condensed" panose="020B0502040204020203" pitchFamily="34" charset="0"/>
            </a:endParaRPr>
          </a:p>
          <a:p>
            <a:pPr marR="0" lvl="0" indent="0" fontAlgn="base">
              <a:lnSpc>
                <a:spcPct val="100000"/>
              </a:lnSpc>
              <a:spcBef>
                <a:spcPct val="0"/>
              </a:spcBef>
              <a:spcAft>
                <a:spcPct val="0"/>
              </a:spcAft>
              <a:buClrTx/>
              <a:buSzTx/>
              <a:buFontTx/>
              <a:buChar char="•"/>
              <a:tabLst/>
            </a:pPr>
            <a:r>
              <a:rPr lang="en-US" altLang="en-US" sz="3600" b="1" dirty="0">
                <a:solidFill>
                  <a:schemeClr val="tx2"/>
                </a:solidFill>
                <a:latin typeface="Bahnschrift Condensed" panose="020B0502040204020203" pitchFamily="34" charset="0"/>
              </a:rPr>
              <a:t>Compare</a:t>
            </a:r>
            <a:r>
              <a:rPr lang="en-US" altLang="en-US" sz="3600" dirty="0">
                <a:solidFill>
                  <a:schemeClr val="tx2"/>
                </a:solidFill>
                <a:latin typeface="Bahnschrift Condensed" panose="020B0502040204020203" pitchFamily="34" charset="0"/>
              </a:rPr>
              <a:t>: </a:t>
            </a:r>
          </a:p>
          <a:p>
            <a:pPr marL="457200" lvl="2" fontAlgn="base">
              <a:spcBef>
                <a:spcPct val="0"/>
              </a:spcBef>
              <a:spcAft>
                <a:spcPct val="0"/>
              </a:spcAft>
              <a:buFontTx/>
              <a:buChar char="•"/>
            </a:pPr>
            <a:r>
              <a:rPr lang="en-US" altLang="en-US" sz="3600" dirty="0">
                <a:solidFill>
                  <a:schemeClr val="tx2"/>
                </a:solidFill>
                <a:latin typeface="Bahnschrift Condensed" panose="020B0502040204020203" pitchFamily="34" charset="0"/>
              </a:rPr>
              <a:t> Borrower variables only </a:t>
            </a:r>
          </a:p>
          <a:p>
            <a:pPr marL="457200" lvl="2" fontAlgn="base">
              <a:spcBef>
                <a:spcPct val="0"/>
              </a:spcBef>
              <a:spcAft>
                <a:spcPct val="0"/>
              </a:spcAft>
              <a:buFontTx/>
              <a:buChar char="•"/>
            </a:pPr>
            <a:r>
              <a:rPr lang="en-US" altLang="en-US" sz="3600" dirty="0">
                <a:solidFill>
                  <a:schemeClr val="tx2"/>
                </a:solidFill>
                <a:latin typeface="Bahnschrift Condensed" panose="020B0502040204020203" pitchFamily="34" charset="0"/>
              </a:rPr>
              <a:t> Borrower variables + loan grade </a:t>
            </a:r>
          </a:p>
          <a:p>
            <a:pPr marR="0" lvl="0" indent="0" fontAlgn="base">
              <a:lnSpc>
                <a:spcPct val="100000"/>
              </a:lnSpc>
              <a:spcBef>
                <a:spcPct val="0"/>
              </a:spcBef>
              <a:spcAft>
                <a:spcPct val="0"/>
              </a:spcAft>
              <a:buClrTx/>
              <a:buSzTx/>
              <a:buFontTx/>
              <a:buChar char="•"/>
              <a:tabLst/>
            </a:pPr>
            <a:endParaRPr lang="en-US" altLang="en-US" sz="3600" dirty="0">
              <a:solidFill>
                <a:schemeClr val="tx2"/>
              </a:solidFill>
              <a:latin typeface="Bahnschrift Condensed" panose="020B0502040204020203" pitchFamily="34" charset="0"/>
            </a:endParaRPr>
          </a:p>
          <a:p>
            <a:pPr marR="0" lvl="0" indent="0" fontAlgn="base">
              <a:lnSpc>
                <a:spcPct val="100000"/>
              </a:lnSpc>
              <a:spcBef>
                <a:spcPct val="0"/>
              </a:spcBef>
              <a:spcAft>
                <a:spcPct val="0"/>
              </a:spcAft>
              <a:buClrTx/>
              <a:buSzTx/>
              <a:buFontTx/>
              <a:buChar char="•"/>
              <a:tabLst/>
            </a:pPr>
            <a:r>
              <a:rPr lang="en-US" altLang="en-US" sz="3600" b="1" dirty="0">
                <a:solidFill>
                  <a:schemeClr val="tx2"/>
                </a:solidFill>
                <a:latin typeface="Bahnschrift Condensed" panose="020B0502040204020203" pitchFamily="34" charset="0"/>
              </a:rPr>
              <a:t>Methods</a:t>
            </a:r>
            <a:r>
              <a:rPr lang="en-US" altLang="en-US" sz="3600" dirty="0">
                <a:solidFill>
                  <a:schemeClr val="tx2"/>
                </a:solidFill>
                <a:latin typeface="Bahnschrift Condensed" panose="020B0502040204020203" pitchFamily="34" charset="0"/>
              </a:rPr>
              <a:t>:</a:t>
            </a:r>
          </a:p>
          <a:p>
            <a:pPr lvl="1" fontAlgn="base">
              <a:spcBef>
                <a:spcPct val="0"/>
              </a:spcBef>
              <a:spcAft>
                <a:spcPct val="0"/>
              </a:spcAft>
              <a:buFontTx/>
              <a:buChar char="•"/>
            </a:pPr>
            <a:r>
              <a:rPr lang="en-US" altLang="en-US" sz="3600" dirty="0">
                <a:solidFill>
                  <a:schemeClr val="tx2"/>
                </a:solidFill>
                <a:latin typeface="Bahnschrift Condensed" panose="020B0502040204020203" pitchFamily="34" charset="0"/>
              </a:rPr>
              <a:t> Linear regression </a:t>
            </a:r>
          </a:p>
          <a:p>
            <a:pPr marL="457200" lvl="2" fontAlgn="base">
              <a:spcBef>
                <a:spcPct val="0"/>
              </a:spcBef>
              <a:spcAft>
                <a:spcPct val="0"/>
              </a:spcAft>
              <a:buFontTx/>
              <a:buChar char="•"/>
            </a:pPr>
            <a:r>
              <a:rPr lang="en-US" altLang="en-US" sz="3600" dirty="0">
                <a:solidFill>
                  <a:schemeClr val="tx2"/>
                </a:solidFill>
                <a:latin typeface="Bahnschrift Condensed" panose="020B0502040204020203" pitchFamily="34" charset="0"/>
              </a:rPr>
              <a:t> Regression tree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2"/>
              </a:solidFill>
              <a:effectLst/>
              <a:latin typeface="Bahnschrift SemiBold SemiConden" panose="020B0502040204020203" pitchFamily="34" charset="0"/>
            </a:endParaRPr>
          </a:p>
        </p:txBody>
      </p:sp>
      <p:sp>
        <p:nvSpPr>
          <p:cNvPr id="23" name="TextBox 22">
            <a:extLst>
              <a:ext uri="{FF2B5EF4-FFF2-40B4-BE49-F238E27FC236}">
                <a16:creationId xmlns:a16="http://schemas.microsoft.com/office/drawing/2014/main" id="{5099C7EE-5E9C-F64A-B1CF-82FC80D5235C}"/>
              </a:ext>
            </a:extLst>
          </p:cNvPr>
          <p:cNvSpPr txBox="1"/>
          <p:nvPr/>
        </p:nvSpPr>
        <p:spPr>
          <a:xfrm>
            <a:off x="7162800" y="2095500"/>
            <a:ext cx="9144000" cy="5078313"/>
          </a:xfrm>
          <a:prstGeom prst="rect">
            <a:avLst/>
          </a:prstGeom>
          <a:noFill/>
        </p:spPr>
        <p:txBody>
          <a:bodyPr wrap="square">
            <a:spAutoFit/>
          </a:bodyPr>
          <a:lstStyle/>
          <a:p>
            <a:r>
              <a:rPr lang="en-US" sz="3600" b="1" dirty="0">
                <a:solidFill>
                  <a:schemeClr val="tx2"/>
                </a:solidFill>
                <a:latin typeface="Bahnschrift Condensed" panose="020B0502040204020203" pitchFamily="34" charset="0"/>
              </a:rPr>
              <a:t>Borrower Characteristics Used in the Model</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Age</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 Home ownership status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Annual income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Employment length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Credit history length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Prior default history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Loan intent (purpose) </a:t>
            </a:r>
          </a:p>
          <a:p>
            <a:pPr indent="-457200">
              <a:buFont typeface="Arial" panose="020B0604020202020204" pitchFamily="34" charset="0"/>
              <a:buChar char="•"/>
            </a:pPr>
            <a:r>
              <a:rPr lang="en-US" sz="3600" dirty="0">
                <a:solidFill>
                  <a:schemeClr val="tx2"/>
                </a:solidFill>
                <a:latin typeface="Bahnschrift Condensed" panose="020B0502040204020203" pitchFamily="34" charset="0"/>
              </a:rPr>
              <a:t>Loan amount &amp; burden</a:t>
            </a:r>
          </a:p>
        </p:txBody>
      </p:sp>
      <p:sp>
        <p:nvSpPr>
          <p:cNvPr id="25" name="TextBox 24">
            <a:extLst>
              <a:ext uri="{FF2B5EF4-FFF2-40B4-BE49-F238E27FC236}">
                <a16:creationId xmlns:a16="http://schemas.microsoft.com/office/drawing/2014/main" id="{33269AAB-2DD2-1023-008B-E7BEC74CF356}"/>
              </a:ext>
            </a:extLst>
          </p:cNvPr>
          <p:cNvSpPr txBox="1"/>
          <p:nvPr/>
        </p:nvSpPr>
        <p:spPr>
          <a:xfrm>
            <a:off x="6629400" y="1028700"/>
            <a:ext cx="7772400" cy="646331"/>
          </a:xfrm>
          <a:prstGeom prst="rect">
            <a:avLst/>
          </a:prstGeom>
          <a:noFill/>
        </p:spPr>
        <p:txBody>
          <a:bodyPr wrap="square">
            <a:spAutoFit/>
          </a:bodyPr>
          <a:lstStyle/>
          <a:p>
            <a:r>
              <a:rPr lang="en-US" sz="3600" b="1" dirty="0">
                <a:solidFill>
                  <a:schemeClr val="tx2"/>
                </a:solidFill>
                <a:highlight>
                  <a:srgbClr val="FF0000"/>
                </a:highlight>
                <a:latin typeface="Bahnschrift Condensed" panose="020B0502040204020203" pitchFamily="34" charset="0"/>
              </a:rPr>
              <a:t>Introducing the question and the analytical logic</a:t>
            </a:r>
            <a:r>
              <a:rPr lang="en-US" sz="2800" b="1" dirty="0">
                <a:highlight>
                  <a:srgbClr val="FF0000"/>
                </a:highlight>
              </a:rPr>
              <a:t>.</a:t>
            </a:r>
          </a:p>
        </p:txBody>
      </p:sp>
    </p:spTree>
    <p:extLst>
      <p:ext uri="{BB962C8B-B14F-4D97-AF65-F5344CB8AC3E}">
        <p14:creationId xmlns:p14="http://schemas.microsoft.com/office/powerpoint/2010/main" val="1040147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469</Words>
  <Application>Microsoft Office PowerPoint</Application>
  <PresentationFormat>Произвольный</PresentationFormat>
  <Paragraphs>49</Paragraphs>
  <Slides>5</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5</vt:i4>
      </vt:variant>
    </vt:vector>
  </HeadingPairs>
  <TitlesOfParts>
    <vt:vector size="13" baseType="lpstr">
      <vt:lpstr>Arial Black</vt:lpstr>
      <vt:lpstr>Arial</vt:lpstr>
      <vt:lpstr>Bahnschrift Condensed</vt:lpstr>
      <vt:lpstr>Bahnschrift SemiBold SemiConden</vt:lpstr>
      <vt:lpstr>Bahnschrift Light</vt:lpstr>
      <vt:lpstr>Wingdings</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Technology Company Profile Presentation</dc:title>
  <dc:creator>m-jumanazarov</dc:creator>
  <cp:lastModifiedBy>Ulugbek Islomov</cp:lastModifiedBy>
  <cp:revision>22</cp:revision>
  <dcterms:created xsi:type="dcterms:W3CDTF">2006-08-16T00:00:00Z</dcterms:created>
  <dcterms:modified xsi:type="dcterms:W3CDTF">2026-04-14T20:34:23Z</dcterms:modified>
  <dc:identifier>DAG1Y6K5Lng</dc:identifier>
</cp:coreProperties>
</file>