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60" r:id="rId2"/>
    <p:sldId id="274" r:id="rId3"/>
    <p:sldId id="285" r:id="rId4"/>
    <p:sldId id="261" r:id="rId5"/>
    <p:sldId id="262" r:id="rId6"/>
    <p:sldId id="263" r:id="rId7"/>
    <p:sldId id="264" r:id="rId8"/>
    <p:sldId id="265" r:id="rId9"/>
    <p:sldId id="266" r:id="rId10"/>
    <p:sldId id="287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6" r:id="rId19"/>
    <p:sldId id="256" r:id="rId20"/>
    <p:sldId id="257" r:id="rId21"/>
    <p:sldId id="258" r:id="rId22"/>
    <p:sldId id="259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</p:sldIdLst>
  <p:sldSz cx="18288000" cy="10287000"/>
  <p:notesSz cx="6858000" cy="9144000"/>
  <p:embeddedFontLst>
    <p:embeddedFont>
      <p:font typeface="Arial Black" panose="020B0A04020102020204" pitchFamily="34" charset="0"/>
      <p:bold r:id="rId36"/>
    </p:embeddedFont>
    <p:embeddedFont>
      <p:font typeface="Bahnschrift Condensed" panose="020B0502040204020203" pitchFamily="34" charset="0"/>
      <p:regular r:id="rId37"/>
      <p:bold r:id="rId38"/>
    </p:embeddedFont>
    <p:embeddedFont>
      <p:font typeface="Bahnschrift Light" panose="020B0502040204020203" pitchFamily="3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4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9EA91-46D7-4169-B221-2452D7CF4D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4BE23-73F1-4227-A493-4D28F429C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52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3105339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ca31053399_0_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ca31053399_0_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CD8F1F1-6753-AF92-10BE-BD0CD0A8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31053399_0_56:notes">
            <a:extLst>
              <a:ext uri="{FF2B5EF4-FFF2-40B4-BE49-F238E27FC236}">
                <a16:creationId xmlns:a16="http://schemas.microsoft.com/office/drawing/2014/main" id="{CC505D93-97D0-75C4-91CD-BA56FC36E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ca31053399_0_56:notes">
            <a:extLst>
              <a:ext uri="{FF2B5EF4-FFF2-40B4-BE49-F238E27FC236}">
                <a16:creationId xmlns:a16="http://schemas.microsoft.com/office/drawing/2014/main" id="{8B0E014A-F693-FB98-676A-27A935004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ca31053399_0_56:notes">
            <a:extLst>
              <a:ext uri="{FF2B5EF4-FFF2-40B4-BE49-F238E27FC236}">
                <a16:creationId xmlns:a16="http://schemas.microsoft.com/office/drawing/2014/main" id="{1B5F5BAA-A375-91FD-71C4-338751FCA7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5909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56A8589-A313-D1CE-B55E-42429D1BF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31053399_0_56:notes">
            <a:extLst>
              <a:ext uri="{FF2B5EF4-FFF2-40B4-BE49-F238E27FC236}">
                <a16:creationId xmlns:a16="http://schemas.microsoft.com/office/drawing/2014/main" id="{C01C3203-C590-E1A2-594E-F8B1353AD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ca31053399_0_56:notes">
            <a:extLst>
              <a:ext uri="{FF2B5EF4-FFF2-40B4-BE49-F238E27FC236}">
                <a16:creationId xmlns:a16="http://schemas.microsoft.com/office/drawing/2014/main" id="{68B8FD2F-4A63-40E0-D3C0-95EF97117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ca31053399_0_56:notes">
            <a:extLst>
              <a:ext uri="{FF2B5EF4-FFF2-40B4-BE49-F238E27FC236}">
                <a16:creationId xmlns:a16="http://schemas.microsoft.com/office/drawing/2014/main" id="{BBD82AFF-F3F3-2EDD-5982-06C8C4D337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0972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ED7C4F7-C78B-0F34-70AE-9BA8140B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31053399_0_56:notes">
            <a:extLst>
              <a:ext uri="{FF2B5EF4-FFF2-40B4-BE49-F238E27FC236}">
                <a16:creationId xmlns:a16="http://schemas.microsoft.com/office/drawing/2014/main" id="{A7C562F0-A368-0579-00FC-C663BD35B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ca31053399_0_56:notes">
            <a:extLst>
              <a:ext uri="{FF2B5EF4-FFF2-40B4-BE49-F238E27FC236}">
                <a16:creationId xmlns:a16="http://schemas.microsoft.com/office/drawing/2014/main" id="{9D7CFCD0-EEAB-7A51-0339-AA77E2511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ca31053399_0_56:notes">
            <a:extLst>
              <a:ext uri="{FF2B5EF4-FFF2-40B4-BE49-F238E27FC236}">
                <a16:creationId xmlns:a16="http://schemas.microsoft.com/office/drawing/2014/main" id="{29136FAB-E410-8D10-5E7A-DD79F3760C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2353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819D9229-BEA0-652B-4BA4-673CD339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ca31053399_0_44:notes">
            <a:extLst>
              <a:ext uri="{FF2B5EF4-FFF2-40B4-BE49-F238E27FC236}">
                <a16:creationId xmlns:a16="http://schemas.microsoft.com/office/drawing/2014/main" id="{19794C44-C80A-9A1D-738F-03A6E1D3D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3ca31053399_0_44:notes">
            <a:extLst>
              <a:ext uri="{FF2B5EF4-FFF2-40B4-BE49-F238E27FC236}">
                <a16:creationId xmlns:a16="http://schemas.microsoft.com/office/drawing/2014/main" id="{B16EB5EA-FEB5-A474-974C-50EEA6D7C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ca31053399_0_44:notes">
            <a:extLst>
              <a:ext uri="{FF2B5EF4-FFF2-40B4-BE49-F238E27FC236}">
                <a16:creationId xmlns:a16="http://schemas.microsoft.com/office/drawing/2014/main" id="{FB159903-DEDD-6131-C58B-2DE94E805C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78479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78922E0-9319-B2A2-4233-D5DEA3C3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ca31053399_0_44:notes">
            <a:extLst>
              <a:ext uri="{FF2B5EF4-FFF2-40B4-BE49-F238E27FC236}">
                <a16:creationId xmlns:a16="http://schemas.microsoft.com/office/drawing/2014/main" id="{9A82FF02-E0F8-0208-4585-BF69379FA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3ca31053399_0_44:notes">
            <a:extLst>
              <a:ext uri="{FF2B5EF4-FFF2-40B4-BE49-F238E27FC236}">
                <a16:creationId xmlns:a16="http://schemas.microsoft.com/office/drawing/2014/main" id="{D79F47B0-ADE7-0E76-EDB5-A04BB3E8C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ca31053399_0_44:notes">
            <a:extLst>
              <a:ext uri="{FF2B5EF4-FFF2-40B4-BE49-F238E27FC236}">
                <a16:creationId xmlns:a16="http://schemas.microsoft.com/office/drawing/2014/main" id="{1C9B7F8D-EFBD-7562-B48B-D3D484E90A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2910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4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2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4.png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8.png"/><Relationship Id="rId4" Type="http://schemas.openxmlformats.org/officeDocument/2006/relationships/image" Target="../media/image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43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144500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3B3D08D-E431-4351-A900-59660529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7A11BA-9DCD-4BF1-989A-50EA063E6297}"/>
              </a:ext>
            </a:extLst>
          </p:cNvPr>
          <p:cNvSpPr txBox="1"/>
          <p:nvPr/>
        </p:nvSpPr>
        <p:spPr>
          <a:xfrm>
            <a:off x="533400" y="2400300"/>
            <a:ext cx="15240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PROJECT 2:</a:t>
            </a:r>
          </a:p>
          <a:p>
            <a:pPr algn="ctr"/>
            <a:r>
              <a:rPr lang="en-US" sz="5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IMPLEMENTING REGRESSION-BASED AND                               CLASSIFICATION MODELING TECHNIQUES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663E50E1-FFD3-4213-8FE9-77A5DC9747D0}"/>
              </a:ext>
            </a:extLst>
          </p:cNvPr>
          <p:cNvGrpSpPr/>
          <p:nvPr/>
        </p:nvGrpSpPr>
        <p:grpSpPr>
          <a:xfrm>
            <a:off x="2819400" y="7200900"/>
            <a:ext cx="12715640" cy="805001"/>
            <a:chOff x="4367650" y="8366534"/>
            <a:chExt cx="10963040" cy="80500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2F1CA1-EE39-4596-ACF7-E988F2A456F4}"/>
                </a:ext>
              </a:extLst>
            </p:cNvPr>
            <p:cNvSpPr txBox="1"/>
            <p:nvPr/>
          </p:nvSpPr>
          <p:spPr>
            <a:xfrm>
              <a:off x="4367650" y="8463649"/>
              <a:ext cx="359534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4000" u="sng" dirty="0">
                  <a:solidFill>
                    <a:srgbClr val="FF0000"/>
                  </a:solidFill>
                  <a:latin typeface="Bahnschrift Condensed" panose="020B0502040204020203" pitchFamily="34" charset="0"/>
                </a:rPr>
                <a:t>Ulugbek Islomov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6B6B655-E663-45F7-A787-089521DECBF4}"/>
                </a:ext>
              </a:extLst>
            </p:cNvPr>
            <p:cNvSpPr txBox="1"/>
            <p:nvPr/>
          </p:nvSpPr>
          <p:spPr>
            <a:xfrm>
              <a:off x="8139994" y="8423765"/>
              <a:ext cx="359534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4000" u="sng" dirty="0">
                  <a:solidFill>
                    <a:srgbClr val="FF0000"/>
                  </a:solidFill>
                  <a:latin typeface="Bahnschrift Condensed" panose="020B0502040204020203" pitchFamily="34" charset="0"/>
                </a:rPr>
                <a:t>Maurice Goode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879947-2BB1-4F21-B361-14A974AEE726}"/>
                </a:ext>
              </a:extLst>
            </p:cNvPr>
            <p:cNvSpPr txBox="1"/>
            <p:nvPr/>
          </p:nvSpPr>
          <p:spPr>
            <a:xfrm>
              <a:off x="11735342" y="8366534"/>
              <a:ext cx="359534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4000" u="sng" dirty="0" err="1">
                  <a:solidFill>
                    <a:srgbClr val="FF0000"/>
                  </a:solidFill>
                  <a:latin typeface="Bahnschrift Condensed" panose="020B0502040204020203" pitchFamily="34" charset="0"/>
                </a:rPr>
                <a:t>Soumae</a:t>
              </a:r>
              <a:r>
                <a:rPr lang="en-US" sz="4000" u="sng" dirty="0">
                  <a:solidFill>
                    <a:srgbClr val="FF0000"/>
                  </a:solidFill>
                  <a:latin typeface="Bahnschrift Condensed" panose="020B0502040204020203" pitchFamily="34" charset="0"/>
                </a:rPr>
                <a:t> Patidar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999C7D7-E5E7-493B-8900-253CC353A670}"/>
              </a:ext>
            </a:extLst>
          </p:cNvPr>
          <p:cNvSpPr txBox="1"/>
          <p:nvPr/>
        </p:nvSpPr>
        <p:spPr>
          <a:xfrm>
            <a:off x="685801" y="419100"/>
            <a:ext cx="110831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Group Presentation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44AEC818-E6E1-4048-89BB-984052170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5219700"/>
            <a:ext cx="541866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39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82EDC-51C7-C0CA-BEB6-FD37F92F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AC0C57-C7AB-205E-8AC1-054083A49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7617856" cy="599358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D8366A4-E168-FF1B-A1DA-35889801F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6591300"/>
            <a:ext cx="4791967" cy="2825115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7A611D64-15D7-FB4D-B374-DE9A77BCD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CC51CA2-EABF-9A3A-6C7F-FB6F879C2A94}"/>
              </a:ext>
            </a:extLst>
          </p:cNvPr>
          <p:cNvSpPr txBox="1"/>
          <p:nvPr/>
        </p:nvSpPr>
        <p:spPr>
          <a:xfrm>
            <a:off x="685801" y="419100"/>
            <a:ext cx="11083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FF0000"/>
                </a:solidFill>
                <a:latin typeface="Bahnschrift Condensed" panose="020B0502040204020203" pitchFamily="34" charset="0"/>
              </a:rPr>
              <a:t>INTRO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E0F01EB-AB67-8A3B-13AD-92C8DFFE5CB7}"/>
              </a:ext>
            </a:extLst>
          </p:cNvPr>
          <p:cNvSpPr/>
          <p:nvPr/>
        </p:nvSpPr>
        <p:spPr>
          <a:xfrm flipH="1">
            <a:off x="13144500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6A6B4-0CA0-9B56-6076-61AE8AB7AFE6}"/>
              </a:ext>
            </a:extLst>
          </p:cNvPr>
          <p:cNvSpPr txBox="1"/>
          <p:nvPr/>
        </p:nvSpPr>
        <p:spPr>
          <a:xfrm>
            <a:off x="6324600" y="10287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Objective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Understand pricing (interest rate) 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Predict default risk 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Analyze pricing–risk relationship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DA9C0-E200-73AD-64CF-3F670E8ADD8A}"/>
              </a:ext>
            </a:extLst>
          </p:cNvPr>
          <p:cNvSpPr txBox="1"/>
          <p:nvPr/>
        </p:nvSpPr>
        <p:spPr>
          <a:xfrm>
            <a:off x="11658600" y="1104900"/>
            <a:ext cx="6019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SMART Questions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1. What drives interest rates?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2. What predicts default probability?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3. Does interest rate affect default?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60A9C20-3DB2-5DE2-50AC-0699966780A2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810E79-E166-9000-6730-9B9D875987B6}"/>
              </a:ext>
            </a:extLst>
          </p:cNvPr>
          <p:cNvSpPr txBox="1"/>
          <p:nvPr/>
        </p:nvSpPr>
        <p:spPr>
          <a:xfrm>
            <a:off x="12420600" y="4229100"/>
            <a:ext cx="4114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Concept diagram</a:t>
            </a:r>
          </a:p>
          <a:p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Borrower Characteristics</a:t>
            </a:r>
          </a:p>
          <a:p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        ↓</a:t>
            </a:r>
          </a:p>
          <a:p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Loan Grade (Risk)</a:t>
            </a:r>
          </a:p>
          <a:p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        ↓</a:t>
            </a:r>
          </a:p>
          <a:p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Interest Rate (Pricing)</a:t>
            </a:r>
          </a:p>
          <a:p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        ↓</a:t>
            </a:r>
          </a:p>
          <a:p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Default (Outcome</a:t>
            </a:r>
            <a:r>
              <a:rPr lang="en-US" sz="3000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33247-6E0C-7502-73E2-DC39677E61E4}"/>
              </a:ext>
            </a:extLst>
          </p:cNvPr>
          <p:cNvSpPr txBox="1"/>
          <p:nvPr/>
        </p:nvSpPr>
        <p:spPr>
          <a:xfrm>
            <a:off x="304800" y="112067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       </a:t>
            </a:r>
            <a:r>
              <a:rPr lang="en-US" sz="30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We combine statistical and machine learning methods to understand pricing, risk, and their relationship.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29BAED-4CF7-28B0-4787-E547A53CAB33}"/>
              </a:ext>
            </a:extLst>
          </p:cNvPr>
          <p:cNvSpPr txBox="1"/>
          <p:nvPr/>
        </p:nvSpPr>
        <p:spPr>
          <a:xfrm>
            <a:off x="8077200" y="4305300"/>
            <a:ext cx="3200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Methods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Linear regression 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Logistic regression 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Tree-based models </a:t>
            </a:r>
          </a:p>
        </p:txBody>
      </p:sp>
    </p:spTree>
    <p:extLst>
      <p:ext uri="{BB962C8B-B14F-4D97-AF65-F5344CB8AC3E}">
        <p14:creationId xmlns:p14="http://schemas.microsoft.com/office/powerpoint/2010/main" val="28348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7B234-A981-F394-0A11-9D4B413F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9EADCA-40CE-C0DA-9C92-F68431673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104900"/>
            <a:ext cx="8344321" cy="4026927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8F97CB88-F1D5-91E6-C0F1-F88C2C5F219C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A65DEDCC-5B16-C4B4-D205-6D501249D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DDFA4C-BA1D-3BD6-9A4F-CFF245A98810}"/>
              </a:ext>
            </a:extLst>
          </p:cNvPr>
          <p:cNvSpPr txBox="1"/>
          <p:nvPr/>
        </p:nvSpPr>
        <p:spPr>
          <a:xfrm>
            <a:off x="685801" y="419100"/>
            <a:ext cx="11083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FF0000"/>
                </a:solidFill>
                <a:latin typeface="Bahnschrift Condensed" panose="020B0502040204020203" pitchFamily="34" charset="0"/>
              </a:rPr>
              <a:t>DATA AND VARIABLES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E52BC7C5-77DC-E99C-26E3-AF261AD81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81100"/>
            <a:ext cx="8816845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Dataset Overview: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000" b="1" dirty="0">
              <a:solidFill>
                <a:srgbClr val="002060"/>
              </a:solidFill>
            </a:endParaRPr>
          </a:p>
          <a:p>
            <a:pPr marL="571486" indent="-571486" defTabSz="914377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Source: Kaggle </a:t>
            </a:r>
          </a:p>
          <a:p>
            <a:pPr marL="571486" indent="-571486" defTabSz="914377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Name: credit_risk_dataset.csv</a:t>
            </a:r>
          </a:p>
          <a:p>
            <a:pPr marL="571486" indent="-571486" defTabSz="914377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Observations: ~ 32,000</a:t>
            </a:r>
          </a:p>
          <a:p>
            <a:pPr marL="571486" indent="-571486" defTabSz="914377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Variables: 12 borrower and loan characteristics</a:t>
            </a:r>
          </a:p>
          <a:p>
            <a:pPr marL="571486" indent="-571486" defTabSz="914377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Target variable: </a:t>
            </a:r>
            <a:r>
              <a:rPr lang="en-US" altLang="en-US" sz="3600" dirty="0" err="1">
                <a:solidFill>
                  <a:srgbClr val="002060"/>
                </a:solidFill>
                <a:latin typeface="Bahnschrift Condensed" panose="020B0502040204020203" pitchFamily="34" charset="0"/>
              </a:rPr>
              <a:t>loan_status</a:t>
            </a:r>
            <a:r>
              <a:rPr lang="en-US" alt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                                                                         (1 = default,  0 = non-default)</a:t>
            </a:r>
          </a:p>
          <a:p>
            <a:pPr marL="571486" indent="-571486" defTabSz="914377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Nature: Consumer lending data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000" b="1" dirty="0">
              <a:solidFill>
                <a:srgbClr val="002060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B84174-DA76-7CAF-7E2E-4E6CFE18A334}"/>
              </a:ext>
            </a:extLst>
          </p:cNvPr>
          <p:cNvSpPr txBox="1"/>
          <p:nvPr/>
        </p:nvSpPr>
        <p:spPr>
          <a:xfrm>
            <a:off x="8991600" y="342900"/>
            <a:ext cx="3915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Variable Definitions: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421790-0079-675A-604E-58DEF4882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067300"/>
            <a:ext cx="7848600" cy="4885608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268B8D3E-1118-741B-FD36-AA301F9E6BA6}"/>
              </a:ext>
            </a:extLst>
          </p:cNvPr>
          <p:cNvSpPr/>
          <p:nvPr/>
        </p:nvSpPr>
        <p:spPr>
          <a:xfrm flipH="1">
            <a:off x="13144500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7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144500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3B3D08D-E431-4351-A900-59660529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A9C484-AFE1-CEEE-8AA6-67F689B8F9B9}"/>
              </a:ext>
            </a:extLst>
          </p:cNvPr>
          <p:cNvSpPr txBox="1"/>
          <p:nvPr/>
        </p:nvSpPr>
        <p:spPr>
          <a:xfrm>
            <a:off x="609600" y="2667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SMART QUESTION 1: DO BORROWER CHARACTERISTICS AFFECT INTEREST RATE?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F4E53E7-38BA-F00A-CFED-C85F89A38F5D}"/>
              </a:ext>
            </a:extLst>
          </p:cNvPr>
          <p:cNvSpPr/>
          <p:nvPr/>
        </p:nvSpPr>
        <p:spPr>
          <a:xfrm>
            <a:off x="1371600" y="7962900"/>
            <a:ext cx="3962400" cy="18288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Borrower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6E6BD70-2C01-63E4-3E91-088028370C1A}"/>
              </a:ext>
            </a:extLst>
          </p:cNvPr>
          <p:cNvSpPr/>
          <p:nvPr/>
        </p:nvSpPr>
        <p:spPr>
          <a:xfrm>
            <a:off x="6781800" y="7810500"/>
            <a:ext cx="3962400" cy="18288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Loan Grade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4927532-3063-3A38-81DB-EB866D6E98F2}"/>
              </a:ext>
            </a:extLst>
          </p:cNvPr>
          <p:cNvSpPr/>
          <p:nvPr/>
        </p:nvSpPr>
        <p:spPr>
          <a:xfrm>
            <a:off x="12039600" y="7658100"/>
            <a:ext cx="3962400" cy="18288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Interest</a:t>
            </a:r>
            <a:r>
              <a:rPr lang="en-US" sz="4400" dirty="0"/>
              <a:t> </a:t>
            </a:r>
            <a:r>
              <a:rPr lang="en-US" sz="4400" b="1" dirty="0"/>
              <a:t>Rate</a:t>
            </a:r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D2018ABB-D15B-2A41-16C3-DB95C22633B0}"/>
              </a:ext>
            </a:extLst>
          </p:cNvPr>
          <p:cNvSpPr/>
          <p:nvPr/>
        </p:nvSpPr>
        <p:spPr>
          <a:xfrm>
            <a:off x="5486400" y="8496300"/>
            <a:ext cx="1066800" cy="6096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9470A59B-2AD5-413B-76E7-67E9CE0D4FD5}"/>
              </a:ext>
            </a:extLst>
          </p:cNvPr>
          <p:cNvSpPr/>
          <p:nvPr/>
        </p:nvSpPr>
        <p:spPr>
          <a:xfrm>
            <a:off x="10896600" y="8420100"/>
            <a:ext cx="1066800" cy="6096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99C7EE-5E9C-F64A-B1CF-82FC80D5235C}"/>
              </a:ext>
            </a:extLst>
          </p:cNvPr>
          <p:cNvSpPr txBox="1"/>
          <p:nvPr/>
        </p:nvSpPr>
        <p:spPr>
          <a:xfrm>
            <a:off x="7848600" y="1409700"/>
            <a:ext cx="9144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Borrower Characteristics Used in the Project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Age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 Home ownership status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Annual income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Employment length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Credit history length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Prior default history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Loan intent (purpose)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Bahnschrift Condensed" panose="020B0502040204020203" pitchFamily="34" charset="0"/>
              </a:rPr>
              <a:t>Loan amount &amp; burden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A57EB8-AFDF-298A-8B9F-7990134D4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610100"/>
            <a:ext cx="48333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Outcome: Interest Rate 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Pricing vs borrower profile 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Role of loan grade 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Regression + tree methods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6AAF1-7B68-17F9-4C34-690E90BFE4DB}"/>
              </a:ext>
            </a:extLst>
          </p:cNvPr>
          <p:cNvSpPr txBox="1"/>
          <p:nvPr/>
        </p:nvSpPr>
        <p:spPr>
          <a:xfrm>
            <a:off x="762000" y="1562100"/>
            <a:ext cx="5562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Research question and conceptual relationship between borrower risk and pricing.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71CB8-B73E-7885-D3EE-20DD130A07A3}"/>
              </a:ext>
            </a:extLst>
          </p:cNvPr>
          <p:cNvSpPr txBox="1"/>
          <p:nvPr/>
        </p:nvSpPr>
        <p:spPr>
          <a:xfrm>
            <a:off x="228600" y="41529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9" name="Google Shape;66;g3ca31053399_0_56">
            <a:extLst>
              <a:ext uri="{FF2B5EF4-FFF2-40B4-BE49-F238E27FC236}">
                <a16:creationId xmlns:a16="http://schemas.microsoft.com/office/drawing/2014/main" id="{014D8485-3F46-770F-A713-05B85EDBE152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1040147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0C3C9-B48A-D8C1-44B2-BF3840DC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586FBB-591E-A80A-0EC8-6F5D6111C487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C11EB38-F6FF-E045-A841-E24C7271A481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DC06195-42C6-94E3-FA72-D4489CDB3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EAC019-01F7-D2B0-2CDB-66FA33E52165}"/>
              </a:ext>
            </a:extLst>
          </p:cNvPr>
          <p:cNvSpPr txBox="1"/>
          <p:nvPr/>
        </p:nvSpPr>
        <p:spPr>
          <a:xfrm>
            <a:off x="609600" y="342900"/>
            <a:ext cx="12344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MODELING STRATEGY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US" sz="3600" b="1" u="sng" dirty="0">
              <a:solidFill>
                <a:schemeClr val="tx2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AF66C-F11C-2D53-6765-0B6EA6857629}"/>
              </a:ext>
            </a:extLst>
          </p:cNvPr>
          <p:cNvSpPr txBox="1"/>
          <p:nvPr/>
        </p:nvSpPr>
        <p:spPr>
          <a:xfrm>
            <a:off x="537029" y="1257300"/>
            <a:ext cx="403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Analytical Roadmap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571168-03C8-4A0F-BC03-E3F469F4A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6819900"/>
            <a:ext cx="60198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4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Inference problem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4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Model 1: borrower variables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4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Model 2: + loan grade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287767D1-28F3-2E1D-FEA1-35693D171124}"/>
              </a:ext>
            </a:extLst>
          </p:cNvPr>
          <p:cNvGrpSpPr/>
          <p:nvPr/>
        </p:nvGrpSpPr>
        <p:grpSpPr>
          <a:xfrm>
            <a:off x="685800" y="2324100"/>
            <a:ext cx="17297400" cy="4145816"/>
            <a:chOff x="152400" y="4762500"/>
            <a:chExt cx="17297400" cy="414581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46F2B59-E1F2-5497-F1FA-BBBF62234B60}"/>
                </a:ext>
              </a:extLst>
            </p:cNvPr>
            <p:cNvSpPr txBox="1"/>
            <p:nvPr/>
          </p:nvSpPr>
          <p:spPr>
            <a:xfrm>
              <a:off x="4953000" y="4762500"/>
              <a:ext cx="647700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b="1" dirty="0">
                  <a:solidFill>
                    <a:srgbClr val="0070C0"/>
                  </a:solidFill>
                  <a:latin typeface="Bahnschrift Condensed" panose="020B0502040204020203" pitchFamily="34" charset="0"/>
                </a:rPr>
                <a:t>A METHOD FLOWCHART:</a:t>
              </a:r>
              <a:br>
                <a:rPr lang="en-US" sz="4800" b="1" dirty="0">
                  <a:solidFill>
                    <a:srgbClr val="0070C0"/>
                  </a:solidFill>
                  <a:latin typeface="Bahnschrift Condensed" panose="020B0502040204020203" pitchFamily="34" charset="0"/>
                </a:rPr>
              </a:br>
              <a:endParaRPr lang="en-US" sz="4800" dirty="0">
                <a:solidFill>
                  <a:srgbClr val="0070C0"/>
                </a:solidFill>
                <a:latin typeface="Bahnschrift Condensed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50BC75-DDDE-0CC9-824D-44E58E803D73}"/>
                </a:ext>
              </a:extLst>
            </p:cNvPr>
            <p:cNvSpPr txBox="1"/>
            <p:nvPr/>
          </p:nvSpPr>
          <p:spPr>
            <a:xfrm>
              <a:off x="152400" y="7124700"/>
              <a:ext cx="18288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0" dirty="0"/>
                <a:t>🔍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59C21F-293D-8F3C-7354-8727ED82467A}"/>
                </a:ext>
              </a:extLst>
            </p:cNvPr>
            <p:cNvSpPr txBox="1"/>
            <p:nvPr/>
          </p:nvSpPr>
          <p:spPr>
            <a:xfrm>
              <a:off x="2362200" y="7048500"/>
              <a:ext cx="16764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0" dirty="0"/>
                <a:t>🤖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842DA4-E03C-6086-D29E-9BA72312B2EF}"/>
                </a:ext>
              </a:extLst>
            </p:cNvPr>
            <p:cNvSpPr txBox="1"/>
            <p:nvPr/>
          </p:nvSpPr>
          <p:spPr>
            <a:xfrm>
              <a:off x="4953000" y="7124700"/>
              <a:ext cx="17526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0" dirty="0"/>
                <a:t>⚙️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C74533D-3FD0-4708-4ED0-6D8CAE699A78}"/>
                </a:ext>
              </a:extLst>
            </p:cNvPr>
            <p:cNvSpPr txBox="1"/>
            <p:nvPr/>
          </p:nvSpPr>
          <p:spPr>
            <a:xfrm>
              <a:off x="7467600" y="7200900"/>
              <a:ext cx="19050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0" dirty="0"/>
                <a:t>📊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22111BC-72E5-9D7D-17F9-C0C71ECF1E0C}"/>
                </a:ext>
              </a:extLst>
            </p:cNvPr>
            <p:cNvSpPr txBox="1"/>
            <p:nvPr/>
          </p:nvSpPr>
          <p:spPr>
            <a:xfrm>
              <a:off x="9753600" y="7124700"/>
              <a:ext cx="12192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0" dirty="0"/>
                <a:t>🩺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D16F892-5574-918A-4273-D86EAD4DD826}"/>
                </a:ext>
              </a:extLst>
            </p:cNvPr>
            <p:cNvSpPr txBox="1"/>
            <p:nvPr/>
          </p:nvSpPr>
          <p:spPr>
            <a:xfrm>
              <a:off x="12496800" y="7124700"/>
              <a:ext cx="16002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0" dirty="0"/>
                <a:t>🌲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194250-4A02-784D-A27F-86B87ECDA1F5}"/>
                </a:ext>
              </a:extLst>
            </p:cNvPr>
            <p:cNvSpPr txBox="1"/>
            <p:nvPr/>
          </p:nvSpPr>
          <p:spPr>
            <a:xfrm>
              <a:off x="15011400" y="7277100"/>
              <a:ext cx="19050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0" dirty="0"/>
                <a:t>✅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C2F33E-FF45-7FD8-7955-C36D4A187A60}"/>
                </a:ext>
              </a:extLst>
            </p:cNvPr>
            <p:cNvSpPr txBox="1"/>
            <p:nvPr/>
          </p:nvSpPr>
          <p:spPr>
            <a:xfrm>
              <a:off x="381000" y="5829300"/>
              <a:ext cx="114300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dirty="0">
                  <a:solidFill>
                    <a:schemeClr val="tx2"/>
                  </a:solidFill>
                  <a:latin typeface="Bahnschrift Condensed" panose="020B0502040204020203" pitchFamily="34" charset="0"/>
                </a:rPr>
                <a:t>EDA</a:t>
              </a:r>
            </a:p>
            <a:p>
              <a:r>
                <a:rPr lang="en-US" sz="4800" dirty="0">
                  <a:solidFill>
                    <a:schemeClr val="tx2"/>
                  </a:solidFill>
                  <a:latin typeface="Bahnschrift Condensed" panose="020B0502040204020203" pitchFamily="34" charset="0"/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F38B875-BAE1-54CB-720C-BCC14E9241B0}"/>
                </a:ext>
              </a:extLst>
            </p:cNvPr>
            <p:cNvSpPr txBox="1"/>
            <p:nvPr/>
          </p:nvSpPr>
          <p:spPr>
            <a:xfrm>
              <a:off x="2286000" y="5829300"/>
              <a:ext cx="23241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dirty="0">
                  <a:solidFill>
                    <a:schemeClr val="tx2"/>
                  </a:solidFill>
                  <a:latin typeface="Bahnschrift Condensed" panose="020B0502040204020203" pitchFamily="34" charset="0"/>
                </a:rPr>
                <a:t>Model 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BB31C1-43B5-2B57-DD89-20B77002F6F0}"/>
                </a:ext>
              </a:extLst>
            </p:cNvPr>
            <p:cNvSpPr txBox="1"/>
            <p:nvPr/>
          </p:nvSpPr>
          <p:spPr>
            <a:xfrm>
              <a:off x="4876800" y="5905500"/>
              <a:ext cx="23241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dirty="0">
                  <a:solidFill>
                    <a:schemeClr val="tx2"/>
                  </a:solidFill>
                  <a:latin typeface="Bahnschrift Condensed" panose="020B0502040204020203" pitchFamily="34" charset="0"/>
                </a:rPr>
                <a:t>Model 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67D999F-4C4B-2CEC-B7DF-E7F40A8E54F4}"/>
                </a:ext>
              </a:extLst>
            </p:cNvPr>
            <p:cNvSpPr txBox="1"/>
            <p:nvPr/>
          </p:nvSpPr>
          <p:spPr>
            <a:xfrm>
              <a:off x="7467600" y="5829300"/>
              <a:ext cx="20574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dirty="0">
                  <a:solidFill>
                    <a:schemeClr val="tx2"/>
                  </a:solidFill>
                  <a:latin typeface="Bahnschrift Condensed" panose="020B0502040204020203" pitchFamily="34" charset="0"/>
                </a:rPr>
                <a:t>ANOVA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F6502B-F8D3-E498-2BB9-B91374B56A18}"/>
                </a:ext>
              </a:extLst>
            </p:cNvPr>
            <p:cNvSpPr txBox="1"/>
            <p:nvPr/>
          </p:nvSpPr>
          <p:spPr>
            <a:xfrm>
              <a:off x="9372600" y="5829300"/>
              <a:ext cx="32004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dirty="0">
                  <a:solidFill>
                    <a:schemeClr val="tx2"/>
                  </a:solidFill>
                  <a:latin typeface="Bahnschrift Condensed" panose="020B0502040204020203" pitchFamily="34" charset="0"/>
                </a:rPr>
                <a:t>Diagnostics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69F899-C2B7-43CE-90E0-49E240531458}"/>
                </a:ext>
              </a:extLst>
            </p:cNvPr>
            <p:cNvSpPr txBox="1"/>
            <p:nvPr/>
          </p:nvSpPr>
          <p:spPr>
            <a:xfrm>
              <a:off x="12573000" y="5829300"/>
              <a:ext cx="23241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dirty="0">
                  <a:solidFill>
                    <a:schemeClr val="tx2"/>
                  </a:solidFill>
                  <a:latin typeface="Bahnschrift Condensed" panose="020B0502040204020203" pitchFamily="34" charset="0"/>
                </a:rPr>
                <a:t>Trees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46BC82E-E127-5B9A-81F7-8426DC58604E}"/>
                </a:ext>
              </a:extLst>
            </p:cNvPr>
            <p:cNvSpPr txBox="1"/>
            <p:nvPr/>
          </p:nvSpPr>
          <p:spPr>
            <a:xfrm>
              <a:off x="14478000" y="5829300"/>
              <a:ext cx="29718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800" dirty="0">
                  <a:solidFill>
                    <a:schemeClr val="tx2"/>
                  </a:solidFill>
                  <a:latin typeface="Bahnschrift Condensed" panose="020B0502040204020203" pitchFamily="34" charset="0"/>
                </a:rPr>
                <a:t>Conclusion</a:t>
              </a:r>
            </a:p>
          </p:txBody>
        </p:sp>
        <p:sp>
          <p:nvSpPr>
            <p:cNvPr id="46" name="Стрелка: вправо 45">
              <a:extLst>
                <a:ext uri="{FF2B5EF4-FFF2-40B4-BE49-F238E27FC236}">
                  <a16:creationId xmlns:a16="http://schemas.microsoft.com/office/drawing/2014/main" id="{9CB35B2B-EA58-6293-BEC1-6339C03A0435}"/>
                </a:ext>
              </a:extLst>
            </p:cNvPr>
            <p:cNvSpPr/>
            <p:nvPr/>
          </p:nvSpPr>
          <p:spPr>
            <a:xfrm>
              <a:off x="1752600" y="7581900"/>
              <a:ext cx="685800" cy="3048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Стрелка: вправо 46">
              <a:extLst>
                <a:ext uri="{FF2B5EF4-FFF2-40B4-BE49-F238E27FC236}">
                  <a16:creationId xmlns:a16="http://schemas.microsoft.com/office/drawing/2014/main" id="{B5E1D1CF-B9B2-38A0-F544-2D6EDEEEB6D7}"/>
                </a:ext>
              </a:extLst>
            </p:cNvPr>
            <p:cNvSpPr/>
            <p:nvPr/>
          </p:nvSpPr>
          <p:spPr>
            <a:xfrm>
              <a:off x="4343400" y="7581900"/>
              <a:ext cx="685800" cy="3048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Стрелка: вправо 47">
              <a:extLst>
                <a:ext uri="{FF2B5EF4-FFF2-40B4-BE49-F238E27FC236}">
                  <a16:creationId xmlns:a16="http://schemas.microsoft.com/office/drawing/2014/main" id="{817B53E9-0C7F-9009-516D-3188601F1962}"/>
                </a:ext>
              </a:extLst>
            </p:cNvPr>
            <p:cNvSpPr/>
            <p:nvPr/>
          </p:nvSpPr>
          <p:spPr>
            <a:xfrm>
              <a:off x="6781800" y="7505700"/>
              <a:ext cx="685800" cy="3048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Стрелка: вправо 48">
              <a:extLst>
                <a:ext uri="{FF2B5EF4-FFF2-40B4-BE49-F238E27FC236}">
                  <a16:creationId xmlns:a16="http://schemas.microsoft.com/office/drawing/2014/main" id="{343CAC63-B137-6CF3-2016-301AA6EB74A2}"/>
                </a:ext>
              </a:extLst>
            </p:cNvPr>
            <p:cNvSpPr/>
            <p:nvPr/>
          </p:nvSpPr>
          <p:spPr>
            <a:xfrm>
              <a:off x="9220200" y="7505700"/>
              <a:ext cx="685800" cy="3048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Стрелка: вправо 49">
              <a:extLst>
                <a:ext uri="{FF2B5EF4-FFF2-40B4-BE49-F238E27FC236}">
                  <a16:creationId xmlns:a16="http://schemas.microsoft.com/office/drawing/2014/main" id="{EC4DABCB-1FB2-F2C3-F7DC-87CCBA786BD4}"/>
                </a:ext>
              </a:extLst>
            </p:cNvPr>
            <p:cNvSpPr/>
            <p:nvPr/>
          </p:nvSpPr>
          <p:spPr>
            <a:xfrm>
              <a:off x="11658600" y="7353300"/>
              <a:ext cx="685800" cy="3048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Стрелка: вправо 50">
              <a:extLst>
                <a:ext uri="{FF2B5EF4-FFF2-40B4-BE49-F238E27FC236}">
                  <a16:creationId xmlns:a16="http://schemas.microsoft.com/office/drawing/2014/main" id="{BA6D7062-2ABF-BEB7-6180-E00E3E108362}"/>
                </a:ext>
              </a:extLst>
            </p:cNvPr>
            <p:cNvSpPr/>
            <p:nvPr/>
          </p:nvSpPr>
          <p:spPr>
            <a:xfrm>
              <a:off x="14097000" y="7353300"/>
              <a:ext cx="685800" cy="3048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1">
            <a:extLst>
              <a:ext uri="{FF2B5EF4-FFF2-40B4-BE49-F238E27FC236}">
                <a16:creationId xmlns:a16="http://schemas.microsoft.com/office/drawing/2014/main" id="{2E99F576-634D-CC70-B3DA-4B44CDF77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0" y="6743700"/>
            <a:ext cx="64008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Regression trees: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4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with grade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4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without grade</a:t>
            </a:r>
            <a:endParaRPr kumimoji="0" lang="en-US" altLang="en-US" sz="44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C44D7F-D092-79C8-65CD-59F7F4EBE937}"/>
              </a:ext>
            </a:extLst>
          </p:cNvPr>
          <p:cNvSpPr txBox="1"/>
          <p:nvPr/>
        </p:nvSpPr>
        <p:spPr>
          <a:xfrm>
            <a:off x="1905000" y="64389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6BC42268-9A1B-170D-6311-5E54A6CC1F6F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43425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AFB84-C1AC-4BB4-156C-D50655DB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1B20C9-0D60-F0EB-D261-04F2842A9657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1358353-E1F1-326D-1C1D-48BC8DD5B827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723B8-07D0-8FD8-B20D-506D9A698BA2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INITIAL EVIDENCE: WEAK DIRECT RELATIONSHIPS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C75F4-9D5A-302D-9EA2-76BE21B4611D}"/>
              </a:ext>
            </a:extLst>
          </p:cNvPr>
          <p:cNvSpPr txBox="1"/>
          <p:nvPr/>
        </p:nvSpPr>
        <p:spPr>
          <a:xfrm>
            <a:off x="537029" y="1257300"/>
            <a:ext cx="403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 Borrower characteristics alone show weak direct association with interest rate.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36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8E75D74-091C-2C43-9F55-922B9AC3D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43500"/>
            <a:ext cx="5334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Small correlations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Weak linear patterns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Borrower effects limited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Risk signal exists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BFC250-40B0-597D-CED0-49FCE454A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790700"/>
            <a:ext cx="11634801" cy="7068324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AEA6D13B-73AC-8BCC-3E51-158BACBAC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B9E9E2-DEF2-9D20-7B46-7CF092DB7109}"/>
              </a:ext>
            </a:extLst>
          </p:cNvPr>
          <p:cNvSpPr txBox="1"/>
          <p:nvPr/>
        </p:nvSpPr>
        <p:spPr>
          <a:xfrm>
            <a:off x="381000" y="45339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E92E1269-37F5-8A4E-C703-8F2C19706798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37261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3547F-2D9E-EB06-9FCB-84F7FBCE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9FF41AB8-5C93-582A-6D66-AAE1822C86F7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DD985-B115-B05A-2EA9-894C10F60CDE}"/>
              </a:ext>
            </a:extLst>
          </p:cNvPr>
          <p:cNvSpPr txBox="1"/>
          <p:nvPr/>
        </p:nvSpPr>
        <p:spPr>
          <a:xfrm>
            <a:off x="609600" y="342900"/>
            <a:ext cx="12344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CATEGORICAL RISK SIGNAL: PRIOR DEFAULT MATTERS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US" sz="3600" b="1" u="sng" dirty="0">
              <a:solidFill>
                <a:schemeClr val="tx2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AEDB2F-D0CA-A95D-D365-8E1028B9715D}"/>
              </a:ext>
            </a:extLst>
          </p:cNvPr>
          <p:cNvSpPr txBox="1"/>
          <p:nvPr/>
        </p:nvSpPr>
        <p:spPr>
          <a:xfrm>
            <a:off x="537029" y="1257300"/>
            <a:ext cx="4038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 Among borrower characteristics, prior default history shows the clearest early pricing signal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36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9EA30EC-C7D7-BA19-9F83-3B405A211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11B2E98-6805-2467-4D00-85EAE66B0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524500"/>
            <a:ext cx="51716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Clear group difference </a:t>
            </a:r>
          </a:p>
          <a:p>
            <a:pPr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Default history -&gt; higher rates </a:t>
            </a:r>
          </a:p>
          <a:p>
            <a:pPr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Risk already priced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80153C-9D9D-09D2-35B3-05A2D1D35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714096"/>
            <a:ext cx="11758023" cy="7163204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FD22AE93-F269-11F4-E30A-B9A9A829937D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D659E-0A7D-91B0-567D-649251BDB474}"/>
              </a:ext>
            </a:extLst>
          </p:cNvPr>
          <p:cNvSpPr txBox="1"/>
          <p:nvPr/>
        </p:nvSpPr>
        <p:spPr>
          <a:xfrm>
            <a:off x="457200" y="49911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E768AD2A-DBA0-08EA-AD7E-F2D8C8D7B98F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65341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B92D3-1D29-1052-8361-1A21C8CA5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CD83247-E2FA-81DF-559C-7A36271BA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09700"/>
            <a:ext cx="8859486" cy="56681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3D9B94-F36B-2AC0-B5E1-C625ED735F81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MODEL 1: BORROWER CHARACTERISTICS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E4962-DB0C-081B-A9F8-ECC7A38E65BB}"/>
              </a:ext>
            </a:extLst>
          </p:cNvPr>
          <p:cNvSpPr txBox="1"/>
          <p:nvPr/>
        </p:nvSpPr>
        <p:spPr>
          <a:xfrm>
            <a:off x="537029" y="1257300"/>
            <a:ext cx="4038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Borrower variables matter statistically, but explain only a moderate portion of pricing.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76FA95D-D362-DF03-9EB6-8E8250193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BCA50B9-23A0-79CF-E6D1-C15D5E178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219700"/>
            <a:ext cx="54102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Several variables significant </a:t>
            </a:r>
          </a:p>
          <a:p>
            <a:pPr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Prior default strongest </a:t>
            </a:r>
          </a:p>
          <a:p>
            <a:pPr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R² = 26.3% </a:t>
            </a:r>
          </a:p>
          <a:p>
            <a:pPr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Moderate explanatory power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81EBCC-D3ED-B9D4-72F7-37B4138D5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3619500"/>
            <a:ext cx="7497221" cy="4858428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B8AF6047-947B-CBB3-23FF-7A186F07C026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C56F5335-7A8B-ACB5-B07A-12E6E57F8EDB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757CF4-476B-9BB2-688A-C75E3B56BA9D}"/>
              </a:ext>
            </a:extLst>
          </p:cNvPr>
          <p:cNvSpPr txBox="1"/>
          <p:nvPr/>
        </p:nvSpPr>
        <p:spPr>
          <a:xfrm>
            <a:off x="381000" y="44577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34514524-6AAA-EFAE-A17B-D2C5E47E83C8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312158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51BF9-6A1C-5DF8-E399-E2CF78F2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AD84C0-5549-ECE4-1980-C2D8F0670A6D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MODEL 2: LOAN GRADE CHANGES THE STORY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25A74-B3D3-EAAA-0774-0FFA40E791AB}"/>
              </a:ext>
            </a:extLst>
          </p:cNvPr>
          <p:cNvSpPr txBox="1"/>
          <p:nvPr/>
        </p:nvSpPr>
        <p:spPr>
          <a:xfrm>
            <a:off x="537029" y="1257300"/>
            <a:ext cx="40349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Loan grade dramatically improves model fit and dominates pricing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68C6BE6-AD3C-33FB-7E1C-976499D97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C63F569-9ABD-0A13-9C15-6543BB021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67300"/>
            <a:ext cx="5562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Adding loan grade 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R²: 26.3% → 90.3% 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Borrower effects weaken 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Grade absorbs risk information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98D7BD5-B481-1609-20D6-1D7116959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355" y="4605673"/>
            <a:ext cx="9459645" cy="5715798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39877B5B-9567-9EF7-BCB1-0419C46F3A44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85820B5-8B69-931F-2CDF-8B1867A3E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1181100"/>
            <a:ext cx="7573432" cy="6058746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EA455B92-5C9C-F236-1F51-9451A2F1E004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D4370-3C14-7763-E88E-0CBBA285CA40}"/>
              </a:ext>
            </a:extLst>
          </p:cNvPr>
          <p:cNvSpPr txBox="1"/>
          <p:nvPr/>
        </p:nvSpPr>
        <p:spPr>
          <a:xfrm>
            <a:off x="228600" y="44577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A503D1CB-4A15-10FC-F4D2-23CCF29CA37D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51708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8D773-A275-6072-4A61-C06C3253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02ED26-9FB4-31EC-C4BD-6E32F8436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309" y="952500"/>
            <a:ext cx="10269772" cy="6934200"/>
          </a:xfrm>
          <a:prstGeom prst="rect">
            <a:avLst/>
          </a:prstGeom>
        </p:spPr>
      </p:pic>
      <p:sp>
        <p:nvSpPr>
          <p:cNvPr id="3" name="Google Shape;66;g3ca31053399_0_56">
            <a:extLst>
              <a:ext uri="{FF2B5EF4-FFF2-40B4-BE49-F238E27FC236}">
                <a16:creationId xmlns:a16="http://schemas.microsoft.com/office/drawing/2014/main" id="{8F2AFAF5-943C-14C7-7E7B-C607D59E616C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82BCAD-E8DD-471C-0B68-74456AC1B692}"/>
              </a:ext>
            </a:extLst>
          </p:cNvPr>
          <p:cNvSpPr txBox="1"/>
          <p:nvPr/>
        </p:nvSpPr>
        <p:spPr>
          <a:xfrm>
            <a:off x="457200" y="49911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EACCD8D-8023-7D81-4814-D7F0FF0AF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7734300"/>
            <a:ext cx="5611008" cy="2410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07A34F-F0F5-0B5C-BBCC-C2D9F7C77F2D}"/>
              </a:ext>
            </a:extLst>
          </p:cNvPr>
          <p:cNvSpPr txBox="1"/>
          <p:nvPr/>
        </p:nvSpPr>
        <p:spPr>
          <a:xfrm>
            <a:off x="537029" y="1257300"/>
            <a:ext cx="35015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2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The regression model does not suffer from multicollinearity, ensuring stable and reliable coefficient estimates.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1695973-79A0-4C04-42B9-9D1C61BE5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F59D1B42-3A23-8432-5498-E4B7133D1106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3AB922A-ECD8-23FB-6D30-83A984447C10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385119-5CEF-690C-E900-BA31624E89A8}"/>
              </a:ext>
            </a:extLst>
          </p:cNvPr>
          <p:cNvSpPr txBox="1"/>
          <p:nvPr/>
        </p:nvSpPr>
        <p:spPr>
          <a:xfrm>
            <a:off x="304800" y="5676900"/>
            <a:ext cx="6858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Multicollinearity assessed using VIF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All adjusted VIF values close to 1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Maximum VIF ≈ 2 (well below threshold 5)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No strong correlation among predictors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Loan grade does not introduce redundancy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Model coefficients are stable and reliable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AE03B-DB17-9572-DE4E-428814873B1D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MULTICOLLINEARITY CHECK: ARE PREDICTORS REDUNDANT?</a:t>
            </a:r>
          </a:p>
        </p:txBody>
      </p:sp>
    </p:spTree>
    <p:extLst>
      <p:ext uri="{BB962C8B-B14F-4D97-AF65-F5344CB8AC3E}">
        <p14:creationId xmlns:p14="http://schemas.microsoft.com/office/powerpoint/2010/main" val="183899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79ADD-080A-DB0C-035A-BEA4558B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7E2CC8A-4CD5-756D-D9D4-911BEF44C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5829300"/>
            <a:ext cx="11091538" cy="396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D003C4-03E1-11FF-7923-8867ACBBE7D0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ANOVA CONFIRMS THE IMPROVEMENT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4BFB3-53AB-1FF5-F564-B004CBF98EB3}"/>
              </a:ext>
            </a:extLst>
          </p:cNvPr>
          <p:cNvSpPr txBox="1"/>
          <p:nvPr/>
        </p:nvSpPr>
        <p:spPr>
          <a:xfrm>
            <a:off x="537029" y="1257300"/>
            <a:ext cx="40349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The improvement from adding loan grade is statistically decisive</a:t>
            </a:r>
            <a:r>
              <a:rPr lang="en-US" sz="3600" dirty="0"/>
              <a:t>.</a:t>
            </a:r>
            <a:endParaRPr lang="en-US" sz="36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8CEBBD0-2144-FF04-E541-3F3B852FF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4F1CFA79-C531-29D3-D3C2-854C7D5CF93D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D7F06E9-FFBA-8A74-489A-6B7C9AAE3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533900"/>
            <a:ext cx="47708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Large RSS reduction 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F = 31,485 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p &lt; 2e-16 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Model 2 significantly better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D59B9C-4B7D-0461-05D8-E70F3060E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734" y="1181100"/>
            <a:ext cx="9857542" cy="4800600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56169FB0-7AE2-98A8-2330-8FB2CDFAA61A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A7CFA-A1C4-9A35-2A7C-CF082F1E5D5E}"/>
              </a:ext>
            </a:extLst>
          </p:cNvPr>
          <p:cNvSpPr txBox="1"/>
          <p:nvPr/>
        </p:nvSpPr>
        <p:spPr>
          <a:xfrm>
            <a:off x="228600" y="37719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39924B80-A085-426E-C903-4525EB6C10F2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2959142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42F34-FF55-9ABE-A154-32CCAAC1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38487C-1B8A-90CB-1865-C1746D0A86D3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MODEL DIAGNOSTICS: THE REGRESSION IS RELIABLE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C5966-FDA0-1CAC-B007-6A19165B9ADE}"/>
              </a:ext>
            </a:extLst>
          </p:cNvPr>
          <p:cNvSpPr txBox="1"/>
          <p:nvPr/>
        </p:nvSpPr>
        <p:spPr>
          <a:xfrm>
            <a:off x="537029" y="1257300"/>
            <a:ext cx="40349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Regression assumptions are reasonably satisfied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2646613-238F-7164-69FC-948D3F9DD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163EDFBD-5C08-F26C-A423-E0CE4B8F3D5F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E01FDEA-E268-06CC-DA05-199E30D5C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533900"/>
            <a:ext cx="442300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No strong pattern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Variance mostly stable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No dominant outliers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Minor tail deviations only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CF3708-1A56-D17B-6342-B91BF93E0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790700"/>
            <a:ext cx="11129873" cy="6620256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F9C25C1A-7C20-D403-BE96-86EC71088D28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0A5B7-8CBA-993D-211F-E4734D9653E4}"/>
              </a:ext>
            </a:extLst>
          </p:cNvPr>
          <p:cNvSpPr txBox="1"/>
          <p:nvPr/>
        </p:nvSpPr>
        <p:spPr>
          <a:xfrm>
            <a:off x="381000" y="40005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BF7268CD-E98B-CC48-36A0-9A01A93D2FB8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713389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3837E-B38F-53B1-49CE-EF969507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80ACB5-A6CA-FF66-3D51-8FE73A99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799" y="1562100"/>
            <a:ext cx="12047751" cy="792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A6C7E4-0894-933B-E0BA-8A2BDFD0598A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KEY VISUAL RESULT: INTEREST RATE RISES BY LOAN GRADE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AE900-27DB-B3F2-2FE1-7F413DA091E0}"/>
              </a:ext>
            </a:extLst>
          </p:cNvPr>
          <p:cNvSpPr txBox="1"/>
          <p:nvPr/>
        </p:nvSpPr>
        <p:spPr>
          <a:xfrm>
            <a:off x="537029" y="1257300"/>
            <a:ext cx="40349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Loan grade provides the clearest visual summary of the pricing </a:t>
            </a:r>
            <a:r>
              <a:rPr lang="en-US" sz="3600" dirty="0" err="1">
                <a:solidFill>
                  <a:srgbClr val="002060"/>
                </a:solidFill>
                <a:latin typeface="Bahnschrift Condensed" panose="020B0502040204020203" pitchFamily="34" charset="0"/>
              </a:rPr>
              <a:t>mechnism</a:t>
            </a:r>
            <a:r>
              <a:rPr lang="en-US" sz="3600" dirty="0"/>
              <a:t>.</a:t>
            </a:r>
            <a:endParaRPr lang="en-US" sz="36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D2A29AE-21CF-A4C8-3596-634612F6E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011B941C-B6D2-3654-BE56-1D5E778592F5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E431501-9860-B98B-8516-29505B9AE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991100"/>
            <a:ext cx="486954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Clear upward trend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A -&gt; G monotonic increase 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Strong evidence of         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  risk-based pricing 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C856B21-9AC2-FB1E-3766-81AEDAB1E1C2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BF8A5-1DDF-35D4-ABE4-688E0DE07AEA}"/>
              </a:ext>
            </a:extLst>
          </p:cNvPr>
          <p:cNvSpPr txBox="1"/>
          <p:nvPr/>
        </p:nvSpPr>
        <p:spPr>
          <a:xfrm>
            <a:off x="457200" y="43815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7D1D1A83-D5E0-8179-9F17-940B8DDEE4D9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3609528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642FA-F5B8-7C8C-DA3F-5BBA49D9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B73F9C-7D21-E2AC-0518-CDC84A39A0CB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PREDICTION TOOL: ESTIMATING INTEREST RATE FOR A NEW BORROWER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730E0-35C3-8598-B543-2943444D3409}"/>
              </a:ext>
            </a:extLst>
          </p:cNvPr>
          <p:cNvSpPr txBox="1"/>
          <p:nvPr/>
        </p:nvSpPr>
        <p:spPr>
          <a:xfrm>
            <a:off x="537029" y="1257300"/>
            <a:ext cx="40349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The model can be operationalized as a practical pricing tool.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E8865E5-0F2A-DD8A-D489-45222BA69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A7022616-165E-F103-A4B4-5199CB7F0011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D7F07A-1FE6-0683-C774-22539DE31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10100"/>
            <a:ext cx="453040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Input borrower profile </a:t>
            </a:r>
          </a:p>
          <a:p>
            <a: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Predict interest rate </a:t>
            </a:r>
          </a:p>
          <a:p>
            <a: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Practical decision-support </a:t>
            </a:r>
          </a:p>
          <a:p>
            <a: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Not exact institutional rule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BA7100F-E475-F21D-0FC3-382A5BF07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2247900"/>
            <a:ext cx="12212754" cy="4696480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F58EC9E5-3166-589F-BCC1-2D067E919F0E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37E26-8264-2356-8BC6-B5CE1C3FFC31}"/>
              </a:ext>
            </a:extLst>
          </p:cNvPr>
          <p:cNvSpPr txBox="1"/>
          <p:nvPr/>
        </p:nvSpPr>
        <p:spPr>
          <a:xfrm>
            <a:off x="228600" y="40767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63A3B9FE-F3D1-0A27-C172-136B474FCFF0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310087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3227F-418A-F0BF-1DEE-EBC90EBD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D86D1E-E38B-D275-F18F-EAE845E8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952500"/>
            <a:ext cx="12954000" cy="807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C69A4D-C009-A139-703B-33403544C7FA}"/>
              </a:ext>
            </a:extLst>
          </p:cNvPr>
          <p:cNvSpPr txBox="1"/>
          <p:nvPr/>
        </p:nvSpPr>
        <p:spPr>
          <a:xfrm>
            <a:off x="609600" y="342900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REGRESSION TREE WITH LOAN GRADE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A0D902-89AD-7726-650D-A07912D80682}"/>
              </a:ext>
            </a:extLst>
          </p:cNvPr>
          <p:cNvSpPr txBox="1"/>
          <p:nvPr/>
        </p:nvSpPr>
        <p:spPr>
          <a:xfrm>
            <a:off x="537029" y="1257300"/>
            <a:ext cx="40349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The tree confirms that pricing is dominated by loan grade.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3CA017D-89AD-ACB2-A388-C7D1AAEE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40AC0F34-3711-923E-3F93-BC0C1634F0D8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C4827B-9BA7-B148-D1BE-114978C9D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891599"/>
            <a:ext cx="46730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First split: loan grade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Sequential risk ladder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No borrower variables used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 Rule-based pricing 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1F49436-168B-3DC2-DFBE-6212663EF9C6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FD3CA-D589-D71E-7BE5-78D8E47F8D1B}"/>
              </a:ext>
            </a:extLst>
          </p:cNvPr>
          <p:cNvSpPr txBox="1"/>
          <p:nvPr/>
        </p:nvSpPr>
        <p:spPr>
          <a:xfrm>
            <a:off x="457200" y="49911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1193158D-7401-DB36-0AAD-194BB23BA81E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1812183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2DA43-F982-4443-8858-3055CB55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CDFE87-F1CC-9A8F-7294-8039A35B9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638" y="1409700"/>
            <a:ext cx="12286362" cy="754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2A7B94-55E5-CC85-9055-A299BDBA4891}"/>
              </a:ext>
            </a:extLst>
          </p:cNvPr>
          <p:cNvSpPr txBox="1"/>
          <p:nvPr/>
        </p:nvSpPr>
        <p:spPr>
          <a:xfrm>
            <a:off x="609600" y="342900"/>
            <a:ext cx="12344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REGRESSION TREE WITHOUT LOAN GRADE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US" sz="3600" b="1" u="sng" dirty="0">
              <a:solidFill>
                <a:schemeClr val="tx2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A8A9D-203D-38B9-8619-F40B769C9673}"/>
              </a:ext>
            </a:extLst>
          </p:cNvPr>
          <p:cNvSpPr txBox="1"/>
          <p:nvPr/>
        </p:nvSpPr>
        <p:spPr>
          <a:xfrm>
            <a:off x="537029" y="1257300"/>
            <a:ext cx="40349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Main Message :                                            </a:t>
            </a:r>
            <a:r>
              <a:rPr lang="en-US" sz="36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Without loan grade, borrower-level pricing drivers become visible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C45D50B-9CF1-5539-AFC1-ADE430204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C70ECF32-39D1-F7D4-A1BB-E1376B7A7E77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272640E-13C8-B533-7CA5-43AE19F16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10100"/>
            <a:ext cx="559961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Without grade: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prior default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home ownership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Grade summarizes borrower risk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May recover bank pricing rule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Market/time factors missing 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6096702-EADC-C3F8-9C6E-12F31CB1209F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EF6A5-5F79-2D82-E2B5-4656C95BE781}"/>
              </a:ext>
            </a:extLst>
          </p:cNvPr>
          <p:cNvSpPr txBox="1"/>
          <p:nvPr/>
        </p:nvSpPr>
        <p:spPr>
          <a:xfrm>
            <a:off x="29817" y="4000500"/>
            <a:ext cx="129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💥</a:t>
            </a:r>
          </a:p>
        </p:txBody>
      </p:sp>
      <p:sp>
        <p:nvSpPr>
          <p:cNvPr id="7" name="Google Shape;66;g3ca31053399_0_56">
            <a:extLst>
              <a:ext uri="{FF2B5EF4-FFF2-40B4-BE49-F238E27FC236}">
                <a16:creationId xmlns:a16="http://schemas.microsoft.com/office/drawing/2014/main" id="{45FDC4B7-B041-6CE4-8265-6C6DA0FB09FF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2356494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6C1B3-A553-6B70-25A1-D85F8972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603A45-4BAF-1D12-5FD5-2DBE9D62EE44}"/>
              </a:ext>
            </a:extLst>
          </p:cNvPr>
          <p:cNvSpPr txBox="1"/>
          <p:nvPr/>
        </p:nvSpPr>
        <p:spPr>
          <a:xfrm>
            <a:off x="609600" y="342900"/>
            <a:ext cx="12344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KEY FINDINGS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US" sz="3600" b="1" u="sng" dirty="0">
              <a:solidFill>
                <a:schemeClr val="tx2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E157D09-10D3-F34B-6E86-A6896BCEF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1C1BA4C2-3D73-DF33-0CBF-F7862459EA9B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6DA58E7-E7DE-EB5F-9253-A1588425D4C4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BDD29-E5B4-418A-C428-49ABFE2A04F9}"/>
              </a:ext>
            </a:extLst>
          </p:cNvPr>
          <p:cNvSpPr txBox="1"/>
          <p:nvPr/>
        </p:nvSpPr>
        <p:spPr>
          <a:xfrm>
            <a:off x="1219200" y="1257300"/>
            <a:ext cx="5029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Borrower characteristics alone explain surprisingly little of interest rates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77A36-A101-833D-C2BA-1B7D01ADB1CF}"/>
              </a:ext>
            </a:extLst>
          </p:cNvPr>
          <p:cNvSpPr txBox="1"/>
          <p:nvPr/>
        </p:nvSpPr>
        <p:spPr>
          <a:xfrm>
            <a:off x="7086600" y="723900"/>
            <a:ext cx="1120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Finding:</a:t>
            </a: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While borrower attributes (income, employment, credit history) are statistically                                          significant, they explain only about 26% of variation in interest rates.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Why this is striking: </a:t>
            </a: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I expected borrower profile to strongly drive pricing - but it doesn’t</a:t>
            </a:r>
            <a:r>
              <a:rPr lang="en-US" sz="2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78AE2-8528-70A6-89EF-276DDD931AC1}"/>
              </a:ext>
            </a:extLst>
          </p:cNvPr>
          <p:cNvSpPr txBox="1"/>
          <p:nvPr/>
        </p:nvSpPr>
        <p:spPr>
          <a:xfrm>
            <a:off x="1295400" y="2951946"/>
            <a:ext cx="3962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Loan grade almost completely           determines interest rates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BA822-3BFE-7123-9362-1C6CA8F6201E}"/>
              </a:ext>
            </a:extLst>
          </p:cNvPr>
          <p:cNvSpPr txBox="1"/>
          <p:nvPr/>
        </p:nvSpPr>
        <p:spPr>
          <a:xfrm>
            <a:off x="7086600" y="2828835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Finding:</a:t>
            </a: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Adding loan grade increases R² from 26% → over 90%.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Why this is shocking:  </a:t>
            </a: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One variable explains almost everything</a:t>
            </a:r>
            <a:r>
              <a:rPr lang="en-US" sz="24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26CD9-22E4-4BF2-56CC-E22B6C1CB9D2}"/>
              </a:ext>
            </a:extLst>
          </p:cNvPr>
          <p:cNvSpPr txBox="1"/>
          <p:nvPr/>
        </p:nvSpPr>
        <p:spPr>
          <a:xfrm>
            <a:off x="1371600" y="4457700"/>
            <a:ext cx="4724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Prior default loses its effect once loan grade is included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09EE31-5D3A-D219-B689-1995395B3A32}"/>
              </a:ext>
            </a:extLst>
          </p:cNvPr>
          <p:cNvSpPr txBox="1"/>
          <p:nvPr/>
        </p:nvSpPr>
        <p:spPr>
          <a:xfrm>
            <a:off x="7239000" y="438150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Finding:</a:t>
            </a: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Prior default is highly significant in Model 1, but becomes insignificant in Model 2.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Why this is revealing: </a:t>
            </a: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A key risk factor suddenly “disappears.”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86B7BB-7FB2-9E6B-D37D-00ADED6F6293}"/>
              </a:ext>
            </a:extLst>
          </p:cNvPr>
          <p:cNvSpPr txBox="1"/>
          <p:nvPr/>
        </p:nvSpPr>
        <p:spPr>
          <a:xfrm>
            <a:off x="1371600" y="5905500"/>
            <a:ext cx="4800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Regression tree confirms a rule-based pricing system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7C9FD3-61EF-481A-3990-3E6D4B19F06F}"/>
              </a:ext>
            </a:extLst>
          </p:cNvPr>
          <p:cNvSpPr txBox="1"/>
          <p:nvPr/>
        </p:nvSpPr>
        <p:spPr>
          <a:xfrm>
            <a:off x="7239000" y="5753100"/>
            <a:ext cx="10134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Finding:</a:t>
            </a: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The regression tree (with loan grade) uses only loan grade for splitting.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Why this is unexpected: </a:t>
            </a: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We included many variables - but the tree ignores all except one.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DE911A-DA5A-47B4-F223-D8639E6CCFD0}"/>
              </a:ext>
            </a:extLst>
          </p:cNvPr>
          <p:cNvSpPr txBox="1"/>
          <p:nvPr/>
        </p:nvSpPr>
        <p:spPr>
          <a:xfrm>
            <a:off x="1371600" y="7353300"/>
            <a:ext cx="495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Without loan grade, pricing falls back to fundamental borrower risk factors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3E02B0-C005-5749-0B5B-3CD24B9DEF0C}"/>
              </a:ext>
            </a:extLst>
          </p:cNvPr>
          <p:cNvSpPr txBox="1"/>
          <p:nvPr/>
        </p:nvSpPr>
        <p:spPr>
          <a:xfrm>
            <a:off x="7239000" y="7277100"/>
            <a:ext cx="1082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Finding:</a:t>
            </a: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When loan grade is removed, the tree uses: prior default &amp; home ownership </a:t>
            </a:r>
          </a:p>
          <a:p>
            <a:r>
              <a:rPr lang="en-US" sz="2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Why this is insightful: </a:t>
            </a: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The model reveals what the bank is really using behind the scenes</a:t>
            </a:r>
            <a:r>
              <a:rPr lang="en-US" sz="2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444A0-6B35-0615-273B-DCD0EF1A3561}"/>
              </a:ext>
            </a:extLst>
          </p:cNvPr>
          <p:cNvSpPr txBox="1"/>
          <p:nvPr/>
        </p:nvSpPr>
        <p:spPr>
          <a:xfrm>
            <a:off x="6248400" y="1104900"/>
            <a:ext cx="99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EABB1D-B64D-FEF8-C8FA-586B01A93982}"/>
              </a:ext>
            </a:extLst>
          </p:cNvPr>
          <p:cNvSpPr txBox="1"/>
          <p:nvPr/>
        </p:nvSpPr>
        <p:spPr>
          <a:xfrm>
            <a:off x="152400" y="1333500"/>
            <a:ext cx="106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EC183-CC2B-70D6-CBDC-98F7D8FA8B19}"/>
              </a:ext>
            </a:extLst>
          </p:cNvPr>
          <p:cNvSpPr txBox="1"/>
          <p:nvPr/>
        </p:nvSpPr>
        <p:spPr>
          <a:xfrm>
            <a:off x="228600" y="3013501"/>
            <a:ext cx="106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🔍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1D70B-02EA-9E3E-84FC-4A529C9825B6}"/>
              </a:ext>
            </a:extLst>
          </p:cNvPr>
          <p:cNvSpPr txBox="1"/>
          <p:nvPr/>
        </p:nvSpPr>
        <p:spPr>
          <a:xfrm>
            <a:off x="304800" y="4533900"/>
            <a:ext cx="106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8CC67-3C3E-3175-1615-FC9545BE9973}"/>
              </a:ext>
            </a:extLst>
          </p:cNvPr>
          <p:cNvSpPr txBox="1"/>
          <p:nvPr/>
        </p:nvSpPr>
        <p:spPr>
          <a:xfrm>
            <a:off x="381000" y="5981700"/>
            <a:ext cx="106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6F7EA2-86AD-361E-B4AB-B4A2BA55F40B}"/>
              </a:ext>
            </a:extLst>
          </p:cNvPr>
          <p:cNvSpPr txBox="1"/>
          <p:nvPr/>
        </p:nvSpPr>
        <p:spPr>
          <a:xfrm>
            <a:off x="381000" y="7429500"/>
            <a:ext cx="106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🔍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F209C0-EF3D-FDF5-86BC-72C1045E6438}"/>
              </a:ext>
            </a:extLst>
          </p:cNvPr>
          <p:cNvSpPr txBox="1"/>
          <p:nvPr/>
        </p:nvSpPr>
        <p:spPr>
          <a:xfrm>
            <a:off x="6248400" y="3013501"/>
            <a:ext cx="99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EAA93C-4C81-1967-DD50-CBE72A4B3E94}"/>
              </a:ext>
            </a:extLst>
          </p:cNvPr>
          <p:cNvSpPr txBox="1"/>
          <p:nvPr/>
        </p:nvSpPr>
        <p:spPr>
          <a:xfrm>
            <a:off x="6324600" y="4610100"/>
            <a:ext cx="99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💡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54DAC8-CD6E-1917-C66F-1FA359C40AF3}"/>
              </a:ext>
            </a:extLst>
          </p:cNvPr>
          <p:cNvSpPr txBox="1"/>
          <p:nvPr/>
        </p:nvSpPr>
        <p:spPr>
          <a:xfrm>
            <a:off x="6400800" y="5905500"/>
            <a:ext cx="99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💡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1C8502-E431-8803-50B6-9A0D996196EB}"/>
              </a:ext>
            </a:extLst>
          </p:cNvPr>
          <p:cNvSpPr txBox="1"/>
          <p:nvPr/>
        </p:nvSpPr>
        <p:spPr>
          <a:xfrm>
            <a:off x="6477000" y="7505700"/>
            <a:ext cx="99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💡</a:t>
            </a:r>
          </a:p>
        </p:txBody>
      </p:sp>
      <p:sp>
        <p:nvSpPr>
          <p:cNvPr id="3" name="Google Shape;66;g3ca31053399_0_56">
            <a:extLst>
              <a:ext uri="{FF2B5EF4-FFF2-40B4-BE49-F238E27FC236}">
                <a16:creationId xmlns:a16="http://schemas.microsoft.com/office/drawing/2014/main" id="{AAE41DAA-B872-D761-EF84-0127B3FCAD2A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607125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4C0E8-1FAA-6C87-64DA-323F106C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CB953E-1520-D546-0F63-997862529B69}"/>
              </a:ext>
            </a:extLst>
          </p:cNvPr>
          <p:cNvSpPr txBox="1"/>
          <p:nvPr/>
        </p:nvSpPr>
        <p:spPr>
          <a:xfrm>
            <a:off x="609600" y="342900"/>
            <a:ext cx="12344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FINAL SUMMARY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US" sz="3600" b="1" u="sng" dirty="0">
              <a:solidFill>
                <a:schemeClr val="tx2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E853E3C-F03E-F20C-5704-62A431346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02338C6B-0322-2682-AA67-7CB3B43EF12E}"/>
              </a:ext>
            </a:extLst>
          </p:cNvPr>
          <p:cNvSpPr/>
          <p:nvPr/>
        </p:nvSpPr>
        <p:spPr>
          <a:xfrm flipH="1">
            <a:off x="8074624" y="3"/>
            <a:ext cx="2437935" cy="1613471"/>
          </a:xfrm>
          <a:custGeom>
            <a:avLst/>
            <a:gdLst/>
            <a:ahLst/>
            <a:cxnLst/>
            <a:rect l="l" t="t" r="r" b="b"/>
            <a:pathLst>
              <a:path w="2437935" h="1613470">
                <a:moveTo>
                  <a:pt x="2437935" y="0"/>
                </a:moveTo>
                <a:lnTo>
                  <a:pt x="0" y="0"/>
                </a:lnTo>
                <a:lnTo>
                  <a:pt x="0" y="1613470"/>
                </a:lnTo>
                <a:lnTo>
                  <a:pt x="2437935" y="1613470"/>
                </a:lnTo>
                <a:lnTo>
                  <a:pt x="24379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977E548C-D07A-B7BE-E5F7-BA78A1083E0B}"/>
              </a:ext>
            </a:extLst>
          </p:cNvPr>
          <p:cNvSpPr/>
          <p:nvPr/>
        </p:nvSpPr>
        <p:spPr>
          <a:xfrm flipH="1">
            <a:off x="13144500" y="4686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F3A865-3345-D826-17B5-77E36BDC06EE}"/>
              </a:ext>
            </a:extLst>
          </p:cNvPr>
          <p:cNvSpPr txBox="1"/>
          <p:nvPr/>
        </p:nvSpPr>
        <p:spPr>
          <a:xfrm>
            <a:off x="14097000" y="6515100"/>
            <a:ext cx="1676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🎯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1E477-E611-4A3E-B7C8-46301824C4FE}"/>
              </a:ext>
            </a:extLst>
          </p:cNvPr>
          <p:cNvSpPr txBox="1"/>
          <p:nvPr/>
        </p:nvSpPr>
        <p:spPr>
          <a:xfrm>
            <a:off x="762000" y="2324100"/>
            <a:ext cx="16687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  <a:t>- Interest rates are not driven directly by borrower characteristics - they are driven by how risk is encoded and classified. </a:t>
            </a:r>
          </a:p>
          <a:p>
            <a: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  <a:t> </a:t>
            </a:r>
            <a:b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</a:br>
            <a: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  <a:t>- Alone, borrower variables explain surprisingly little of pricing (~26%), revealing a weak direct relationship.</a:t>
            </a:r>
            <a:b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</a:br>
            <a:endParaRPr lang="en-US" sz="3000" dirty="0">
              <a:solidFill>
                <a:srgbClr val="0070C0"/>
              </a:solidFill>
              <a:latin typeface="Bahnschrift Condensed" panose="020B0502040204020203" pitchFamily="34" charset="0"/>
            </a:endParaRPr>
          </a:p>
          <a:p>
            <a: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  <a:t>- However, a single variable—loan grade—explains almost everything (R² &gt; 90%), acting as the central factor</a:t>
            </a:r>
          </a:p>
          <a:p>
            <a:b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</a:br>
            <a: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  <a:t>- Tree models confirm this by reducing pricing decisions to a clear, rule-based hierarchy dominated by risk classification.</a:t>
            </a:r>
          </a:p>
          <a:p>
            <a:b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</a:br>
            <a: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  <a:t>- When loan grade is removed, the “hidden logic” emerges: prior default and financial stability drive pricing at the borrower level.</a:t>
            </a:r>
          </a:p>
          <a:p>
            <a:b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</a:br>
            <a:r>
              <a:rPr lang="en-US" sz="3000" dirty="0">
                <a:solidFill>
                  <a:srgbClr val="0070C0"/>
                </a:solidFill>
                <a:latin typeface="Bahnschrift Condensed" panose="020B0502040204020203" pitchFamily="34" charset="0"/>
              </a:rPr>
              <a:t>- Overall, the model reveals not just relationships - but the underlying structure of how banks price risk.</a:t>
            </a:r>
          </a:p>
          <a:p>
            <a:pPr>
              <a:buNone/>
            </a:pPr>
            <a:endParaRPr lang="en-US" sz="3000" dirty="0">
              <a:solidFill>
                <a:srgbClr val="FF00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Google Shape;66;g3ca31053399_0_56">
            <a:extLst>
              <a:ext uri="{FF2B5EF4-FFF2-40B4-BE49-F238E27FC236}">
                <a16:creationId xmlns:a16="http://schemas.microsoft.com/office/drawing/2014/main" id="{E789EF89-F1DA-41C5-9792-2F3400FB63E4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3372112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QUESTION 2: CAN WE PREDICT LOAN DEFAULT?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to estimate probability of loan default using borrower demographics and financial variables.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Variable: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loan_status (0 = No Default,           1 = Default)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problem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4608576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Logistic Regression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555955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Income, Emp. Length, Home Ownership, Loan Amount, Interest Rate, Loan % Income, Age, Credit History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" y="65105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70% Train / 30% Test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731520" y="8778240"/>
            <a:ext cx="2377440" cy="100584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4" name="Text 11"/>
          <p:cNvSpPr/>
          <p:nvPr/>
        </p:nvSpPr>
        <p:spPr>
          <a:xfrm>
            <a:off x="731520" y="8778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108960" y="9272016"/>
            <a:ext cx="36576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6" name="Shape 13"/>
          <p:cNvSpPr/>
          <p:nvPr/>
        </p:nvSpPr>
        <p:spPr>
          <a:xfrm>
            <a:off x="3474720" y="8778240"/>
            <a:ext cx="2377440" cy="10058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7" name="Text 14"/>
          <p:cNvSpPr/>
          <p:nvPr/>
        </p:nvSpPr>
        <p:spPr>
          <a:xfrm>
            <a:off x="3474720" y="8778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852160" y="9272016"/>
            <a:ext cx="36576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9" name="Shape 16"/>
          <p:cNvSpPr/>
          <p:nvPr/>
        </p:nvSpPr>
        <p:spPr>
          <a:xfrm>
            <a:off x="6217920" y="8778240"/>
            <a:ext cx="2377440" cy="100584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0" name="Text 17"/>
          <p:cNvSpPr/>
          <p:nvPr/>
        </p:nvSpPr>
        <p:spPr>
          <a:xfrm>
            <a:off x="6217920" y="8778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Default?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869680" y="1188720"/>
            <a:ext cx="8778240" cy="850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Code: str() / head() / colSums(is.na()) ]</a:t>
            </a:r>
            <a:endParaRPr lang="en-US" sz="2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E7E60A-1FD9-74C5-2146-9278B9EE9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1943100"/>
            <a:ext cx="7076050" cy="46848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50F5325-1391-DB28-7EBA-FF9AFFAA6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6819900"/>
            <a:ext cx="4965896" cy="3279716"/>
          </a:xfrm>
          <a:prstGeom prst="rect">
            <a:avLst/>
          </a:prstGeom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B8812715-31FB-4EDC-3F76-A6EDAF8F0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Google Shape;66;g3ca31053399_0_56">
            <a:extLst>
              <a:ext uri="{FF2B5EF4-FFF2-40B4-BE49-F238E27FC236}">
                <a16:creationId xmlns:a16="http://schemas.microsoft.com/office/drawing/2014/main" id="{1683EA59-AAB2-7A01-D522-6D9E1990EEFA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0" y="182880"/>
            <a:ext cx="164592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structure the data before modeling.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credit_risk_dataset.csv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→ removed with na.omit()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4974336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→ factor  (R needs categorical for classification)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5998464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vars → factors: home_ownership, loan_intent, loan_grade, cb_default_on_file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" y="702259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Split: 70% train / 30% test | set.seed(123)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869680" y="1188720"/>
            <a:ext cx="8778240" cy="850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str(), head(), dim(train_data), dim(test_data) ]</a:t>
            </a:r>
            <a:endParaRPr lang="en-US" sz="2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768F4C-189A-59BB-E7BD-98A18DB66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5964" y="3307720"/>
            <a:ext cx="8605672" cy="3714872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3A0499E-7FFE-C3B9-D3AD-D31C58E19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66;g3ca31053399_0_56">
            <a:extLst>
              <a:ext uri="{FF2B5EF4-FFF2-40B4-BE49-F238E27FC236}">
                <a16:creationId xmlns:a16="http://schemas.microsoft.com/office/drawing/2014/main" id="{DE9C56D6-7477-78AA-FD22-602007C7C966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MODEL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glm() with family = binomial trains the model on 70% of data.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variable is binary → Logistic Regression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probability (0 to 1) of default for each borrower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4974336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 → probability &gt; 0.5 classified as Default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5998464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predictors: income, emp. length, home ownership, loan amt, interest rate, % income, age, credit history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0080" y="702259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summary(model_logit) shows which variables are significant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869680" y="1188720"/>
            <a:ext cx="8778240" cy="850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summary(model_logit) ]</a:t>
            </a:r>
            <a:endParaRPr lang="en-US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4FDD67-0402-63F5-ECC2-7A62889DF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1" y="1316736"/>
            <a:ext cx="8061862" cy="82296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165E131-043A-9EDC-7485-67DFF32CD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66;g3ca31053399_0_56">
            <a:extLst>
              <a:ext uri="{FF2B5EF4-FFF2-40B4-BE49-F238E27FC236}">
                <a16:creationId xmlns:a16="http://schemas.microsoft.com/office/drawing/2014/main" id="{38862D37-78CB-2DE1-DA39-487DDC32D1BB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predictions into 4 categories to reveal what kind of mistakes the model makes.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8046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(TN):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safe → Actually safe ✓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8046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 → Actually default ✓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5120640"/>
            <a:ext cx="8046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 → Actually safe  (False Alarm)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6217920"/>
            <a:ext cx="8046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safe → Actually default  (Missed!)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" y="7406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banks — FN is the costliest mistake (missed defaults = lost money)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869680" y="1188720"/>
            <a:ext cx="8778240" cy="850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confusionMatrix() ]</a:t>
            </a:r>
            <a:endParaRPr lang="en-US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0178E9-A384-BA96-161F-6C9D9C6C2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8194" y="1463040"/>
            <a:ext cx="7941212" cy="7928688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5D64F7F-5111-0BCC-F53C-7525E1737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66;g3ca31053399_0_56">
            <a:extLst>
              <a:ext uri="{FF2B5EF4-FFF2-40B4-BE49-F238E27FC236}">
                <a16:creationId xmlns:a16="http://schemas.microsoft.com/office/drawing/2014/main" id="{4AF066EB-6EEE-C6FA-C5D9-7571943A44B6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metrics give a complete picture of model performance.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84.39%: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44.89%: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flag a default, we're right 44.89% of the time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4974336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72.55%: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catch 72.55% of actual defaults,</a:t>
            </a:r>
          </a:p>
          <a:p>
            <a:pPr>
              <a:buSzPct val="100000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miss 27.45%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5998464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 0.5546: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measure combining precision &amp; recall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" y="702259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0.8478:  </a:t>
            </a: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discrimination between defaulters and non-defaulters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144001" y="1188720"/>
            <a:ext cx="8117058" cy="850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Accuracy / Precision / Recall / F1-Score printout ]</a:t>
            </a:r>
            <a:endParaRPr lang="en-US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F31E10-92B7-25A5-3C6F-4DBE6645B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1415913"/>
            <a:ext cx="7944619" cy="849915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07F7EBE-A655-CD14-D14C-7E1F765B4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66;g3ca31053399_0_56">
            <a:extLst>
              <a:ext uri="{FF2B5EF4-FFF2-40B4-BE49-F238E27FC236}">
                <a16:creationId xmlns:a16="http://schemas.microsoft.com/office/drawing/2014/main" id="{9E5B88A0-F3A8-5FD7-2E59-DDD0170E3BFC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83436FB-82AE-BA39-CA84-A39B3051D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&amp; AUC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 curve evaluates model performance across all possible thresholds, not just 0.5.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False Positive Rate  |  Y-axis: True Positive Rate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line = random guessing (AUC = 0.5)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4974336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curve bends toward top-left → better than random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5998464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 → random  |  AUC = 1.0 → perfect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" y="702259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AUC = 0.8478 → Good model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869680" y="1188720"/>
            <a:ext cx="8778240" cy="850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ROC Curve plot from R ]</a:t>
            </a:r>
            <a:endParaRPr lang="en-US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186647-AC4F-F34C-ECF9-88ABFA5B4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646" y="1737361"/>
            <a:ext cx="8446308" cy="7139354"/>
          </a:xfrm>
          <a:prstGeom prst="rect">
            <a:avLst/>
          </a:prstGeom>
        </p:spPr>
      </p:pic>
      <p:sp>
        <p:nvSpPr>
          <p:cNvPr id="15" name="Google Shape;66;g3ca31053399_0_56">
            <a:extLst>
              <a:ext uri="{FF2B5EF4-FFF2-40B4-BE49-F238E27FC236}">
                <a16:creationId xmlns:a16="http://schemas.microsoft.com/office/drawing/2014/main" id="{E9522214-4236-B2DC-5E35-03EF19A81415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 – ODDS RATIOS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 show which variables increase or decrease default risk.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&gt; 1 → Increases Risk   |   Odds Ratio &lt; 1 → Decreases Risk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Interest Rate - strongest risk increaser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459028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Loan % of Income - higher burden = higher risk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5614416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Home Ownership - owners are more financially stable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" y="6638544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Employment Length -  longer tenure = lower risk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" y="766267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Loan Amount - slight protective effect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869680" y="1188720"/>
            <a:ext cx="8778240" cy="850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Odds Ratios table / exp(coef()) ]</a:t>
            </a:r>
            <a:endParaRPr lang="en-US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28276B-E96F-1B82-1A56-7050F247B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705100"/>
            <a:ext cx="8278836" cy="6694028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D36A7C9-7A57-F494-304F-A0D1936A8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66;g3ca31053399_0_56">
            <a:extLst>
              <a:ext uri="{FF2B5EF4-FFF2-40B4-BE49-F238E27FC236}">
                <a16:creationId xmlns:a16="http://schemas.microsoft.com/office/drawing/2014/main" id="{8AED5DCE-1EC5-7AB7-42E0-39EBBFE46A69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VS. RECALL TRADE-OFF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banks, missing a real default is more costly than a false alarm.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44.89% → 55.11% of flagged loans are false alarms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877056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72.55% → we miss 27.45% of actual defaults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4828032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bank reviews a safe loan → minor cost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5779008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Negative: bank misses a default → loses principal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" y="6729984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lower threshold (0.5 → 0.4) to improve recall, but creates more false alarms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" y="7680960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is the best single metric here, balances both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869680" y="1188720"/>
            <a:ext cx="8778240" cy="850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Precision / Recall / F1 printout ]</a:t>
            </a:r>
            <a:endParaRPr lang="en-US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2540E6-87CB-BA8A-304B-FCF5046F0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1638300"/>
            <a:ext cx="8564358" cy="8145194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2D80C65-5502-7871-DB2D-04FEF1111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66;g3ca31053399_0_56">
            <a:extLst>
              <a:ext uri="{FF2B5EF4-FFF2-40B4-BE49-F238E27FC236}">
                <a16:creationId xmlns:a16="http://schemas.microsoft.com/office/drawing/2014/main" id="{99385D7F-F7E6-AEA9-0DAA-BCA99A845F34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2064" y="365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914400" y="219456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645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an effective baseline model for loan default prediction.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1664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84.39% accuracy and AUC 0.8478 → strong predictive performance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1664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and loan-to-income ratio are the strongest default risk drivers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0080" y="5120640"/>
            <a:ext cx="1664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and longer-employed borrowers show significantly lower default risk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40080" y="6217920"/>
            <a:ext cx="1664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72.55% → model still misses 27.45% of actual defaults (main limitation)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40080" y="7315200"/>
            <a:ext cx="1664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buSzPct val="100000"/>
              <a:buChar char="•"/>
            </a:pPr>
            <a:r>
              <a:rPr lang="en-US" sz="3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can use predicted probabilities to prescreen applicants and set interest rates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40080" y="8686800"/>
            <a:ext cx="1664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Try Random Forest / Gradient Boosting  |  Optimize threshold  |  Cross-validation</a:t>
            </a:r>
            <a:endParaRPr lang="en-US" sz="24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BC7668E-9AA3-0743-F18C-66F0EBBD6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6;g3ca31053399_0_56">
            <a:extLst>
              <a:ext uri="{FF2B5EF4-FFF2-40B4-BE49-F238E27FC236}">
                <a16:creationId xmlns:a16="http://schemas.microsoft.com/office/drawing/2014/main" id="{45659F33-FEA0-DAC1-C9C4-BE65C2478F77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1B3AEA-01DD-BF34-DBEA-E50A03DD2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8DBCDA-ABE3-2FBD-6622-EA545F81B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638300"/>
            <a:ext cx="6033596" cy="5597082"/>
          </a:xfrm>
          <a:prstGeom prst="rect">
            <a:avLst/>
          </a:prstGeom>
        </p:spPr>
      </p:pic>
      <p:pic>
        <p:nvPicPr>
          <p:cNvPr id="64" name="Google Shape;64;g3ca31053399_0_56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2138" y="6351468"/>
            <a:ext cx="4304732" cy="355326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ca31053399_0_56"/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  <p:pic>
        <p:nvPicPr>
          <p:cNvPr id="68" name="Google Shape;68;g3ca31053399_0_56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736327" y="131309"/>
            <a:ext cx="899677" cy="536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a31053399_0_56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92810" y="6554069"/>
            <a:ext cx="3431684" cy="350978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ca31053399_0_56"/>
          <p:cNvSpPr txBox="1"/>
          <p:nvPr/>
        </p:nvSpPr>
        <p:spPr>
          <a:xfrm>
            <a:off x="1905000" y="11596"/>
            <a:ext cx="10088450" cy="536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24" tIns="62224" rIns="62224" bIns="62224" anchor="t" anchorCtr="0">
            <a:no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Does interest rate influence the probability of loan default, even after controlling for borrower and loan characteristics?</a:t>
            </a:r>
          </a:p>
          <a:p>
            <a:pPr algn="just"/>
            <a:endParaRPr lang="en-US" sz="2450" b="1" dirty="0">
              <a:solidFill>
                <a:srgbClr val="FF0000"/>
              </a:solidFill>
            </a:endParaRPr>
          </a:p>
          <a:p>
            <a:endParaRPr sz="1225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B20AB-7C0C-28B7-A279-CD07E7824DD7}"/>
              </a:ext>
            </a:extLst>
          </p:cNvPr>
          <p:cNvSpPr txBox="1"/>
          <p:nvPr/>
        </p:nvSpPr>
        <p:spPr>
          <a:xfrm>
            <a:off x="2438400" y="7353300"/>
            <a:ext cx="131599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Metrics: 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of Interest Rate: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0.05. Unlikely the observed relationship occurred by random chance in the data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Ratio of Interest 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one-unit increase in interest rate increases the odds of default by 1.0881, holding all else constant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McFadden R²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R-Squared value = 0.3632. 36.32% of the model is explained by the training set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85.93%. This is an excellent/good performance</a:t>
            </a:r>
          </a:p>
          <a:p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22D4011-A114-4941-80A3-C1F367E28652}"/>
              </a:ext>
            </a:extLst>
          </p:cNvPr>
          <p:cNvSpPr/>
          <p:nvPr/>
        </p:nvSpPr>
        <p:spPr>
          <a:xfrm>
            <a:off x="533400" y="495300"/>
            <a:ext cx="1841752" cy="397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22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2722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endParaRPr lang="en-US" sz="2042" b="1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682B22-8866-57B1-FA3D-9D5FE435EE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5299" y="1871728"/>
            <a:ext cx="6789892" cy="482024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2489405B-3E27-744E-E457-5BBA3C2B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C7BD0DB-E6D2-AD5F-523F-511FC804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438" y="1739644"/>
            <a:ext cx="8150062" cy="5689856"/>
          </a:xfrm>
          <a:prstGeom prst="rect">
            <a:avLst/>
          </a:prstGeom>
        </p:spPr>
      </p:pic>
      <p:pic>
        <p:nvPicPr>
          <p:cNvPr id="64" name="Google Shape;64;g3ca31053399_0_56" descr=" ">
            <a:extLst>
              <a:ext uri="{FF2B5EF4-FFF2-40B4-BE49-F238E27FC236}">
                <a16:creationId xmlns:a16="http://schemas.microsoft.com/office/drawing/2014/main" id="{9E5D4D3B-8404-9194-7449-9A356A4DAD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2138" y="6351468"/>
            <a:ext cx="4304732" cy="3553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ca31053399_0_56" descr=" ">
            <a:extLst>
              <a:ext uri="{FF2B5EF4-FFF2-40B4-BE49-F238E27FC236}">
                <a16:creationId xmlns:a16="http://schemas.microsoft.com/office/drawing/2014/main" id="{04B1108E-5F05-135E-89A6-AEC1A61B67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736327" y="131309"/>
            <a:ext cx="899677" cy="536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a31053399_0_56" descr=" ">
            <a:extLst>
              <a:ext uri="{FF2B5EF4-FFF2-40B4-BE49-F238E27FC236}">
                <a16:creationId xmlns:a16="http://schemas.microsoft.com/office/drawing/2014/main" id="{213F664B-40EF-3A0E-5EF6-A20057EC1C4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92810" y="6554069"/>
            <a:ext cx="3431684" cy="350978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ca31053399_0_56">
            <a:extLst>
              <a:ext uri="{FF2B5EF4-FFF2-40B4-BE49-F238E27FC236}">
                <a16:creationId xmlns:a16="http://schemas.microsoft.com/office/drawing/2014/main" id="{45D7120B-71E3-CA82-AA76-E7EC0BCD92B5}"/>
              </a:ext>
            </a:extLst>
          </p:cNvPr>
          <p:cNvSpPr txBox="1"/>
          <p:nvPr/>
        </p:nvSpPr>
        <p:spPr>
          <a:xfrm>
            <a:off x="1676400" y="114300"/>
            <a:ext cx="10088450" cy="536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24" tIns="62224" rIns="62224" bIns="62224" anchor="t" anchorCtr="0">
            <a:noAutofit/>
          </a:bodyPr>
          <a:lstStyle/>
          <a:p>
            <a:pPr algn="just"/>
            <a:r>
              <a:rPr lang="en-US" sz="4000" b="1" dirty="0">
                <a:solidFill>
                  <a:srgbClr val="FF0000"/>
                </a:solidFill>
              </a:rPr>
              <a:t>Classification Tree</a:t>
            </a:r>
          </a:p>
          <a:p>
            <a:endParaRPr sz="1225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8A7CE-BA68-7EA7-1E23-26605E3DC961}"/>
              </a:ext>
            </a:extLst>
          </p:cNvPr>
          <p:cNvSpPr txBox="1"/>
          <p:nvPr/>
        </p:nvSpPr>
        <p:spPr>
          <a:xfrm>
            <a:off x="3611130" y="7496993"/>
            <a:ext cx="119038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Metrics: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Importance: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loan_int_rate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4th most important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Complexity Parameter =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0.000540. The model is relatively complex 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=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70.57%. Higher than the logistic regression model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 =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99.55%. Very high, could be because it is a single decision tree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90.32%. This is an outstanding/perfect performance</a:t>
            </a:r>
          </a:p>
          <a:p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D294595-EAD3-674B-AE29-6664EBA0B7E0}"/>
              </a:ext>
            </a:extLst>
          </p:cNvPr>
          <p:cNvSpPr/>
          <p:nvPr/>
        </p:nvSpPr>
        <p:spPr>
          <a:xfrm>
            <a:off x="304800" y="495300"/>
            <a:ext cx="1841752" cy="397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22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2722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endParaRPr lang="en-US" sz="2042" b="1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DE79D-E58A-D5CA-95FD-C9BBE5DDB7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54748"/>
            <a:ext cx="7086600" cy="53172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AA1313-A4A6-121C-063D-DCF7E2ADF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66;g3ca31053399_0_56">
            <a:extLst>
              <a:ext uri="{FF2B5EF4-FFF2-40B4-BE49-F238E27FC236}">
                <a16:creationId xmlns:a16="http://schemas.microsoft.com/office/drawing/2014/main" id="{ED51DA57-E919-6352-BD8C-D8FA131B75E4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1400434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84569070-DC59-B12F-185A-7D07B4BA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A22F33-83BA-937B-CA34-807D32BC8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095500"/>
            <a:ext cx="9175028" cy="6123949"/>
          </a:xfrm>
          <a:prstGeom prst="rect">
            <a:avLst/>
          </a:prstGeom>
        </p:spPr>
      </p:pic>
      <p:pic>
        <p:nvPicPr>
          <p:cNvPr id="64" name="Google Shape;64;g3ca31053399_0_56" descr=" ">
            <a:extLst>
              <a:ext uri="{FF2B5EF4-FFF2-40B4-BE49-F238E27FC236}">
                <a16:creationId xmlns:a16="http://schemas.microsoft.com/office/drawing/2014/main" id="{ADC94E50-445A-BBC2-89EC-F5A74591CC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2138" y="6351468"/>
            <a:ext cx="4304732" cy="3553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ca31053399_0_56" descr=" ">
            <a:extLst>
              <a:ext uri="{FF2B5EF4-FFF2-40B4-BE49-F238E27FC236}">
                <a16:creationId xmlns:a16="http://schemas.microsoft.com/office/drawing/2014/main" id="{566939C6-5637-0233-D3A2-20B31F86D3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736327" y="131309"/>
            <a:ext cx="899677" cy="536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a31053399_0_56" descr=" ">
            <a:extLst>
              <a:ext uri="{FF2B5EF4-FFF2-40B4-BE49-F238E27FC236}">
                <a16:creationId xmlns:a16="http://schemas.microsoft.com/office/drawing/2014/main" id="{5E0D18F9-2C92-D283-2AC4-261BE4C12C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92810" y="6554069"/>
            <a:ext cx="3431684" cy="350978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ca31053399_0_56">
            <a:extLst>
              <a:ext uri="{FF2B5EF4-FFF2-40B4-BE49-F238E27FC236}">
                <a16:creationId xmlns:a16="http://schemas.microsoft.com/office/drawing/2014/main" id="{D5C352B7-2C55-F365-234D-CBE12A6BD924}"/>
              </a:ext>
            </a:extLst>
          </p:cNvPr>
          <p:cNvSpPr txBox="1"/>
          <p:nvPr/>
        </p:nvSpPr>
        <p:spPr>
          <a:xfrm>
            <a:off x="1828800" y="114300"/>
            <a:ext cx="10088450" cy="536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24" tIns="62224" rIns="62224" bIns="62224" anchor="t" anchorCtr="0">
            <a:noAutofit/>
          </a:bodyPr>
          <a:lstStyle/>
          <a:p>
            <a:pPr algn="just"/>
            <a:r>
              <a:rPr lang="en-US" sz="4000" b="1" dirty="0">
                <a:solidFill>
                  <a:srgbClr val="FF0000"/>
                </a:solidFill>
              </a:rPr>
              <a:t>Random Forest</a:t>
            </a:r>
          </a:p>
          <a:p>
            <a:pPr algn="just"/>
            <a:endParaRPr lang="en-US" sz="2450" b="1" dirty="0">
              <a:solidFill>
                <a:srgbClr val="FF0000"/>
              </a:solidFill>
            </a:endParaRPr>
          </a:p>
          <a:p>
            <a:endParaRPr sz="1225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7E620-1857-6F8C-039C-C866A89DD680}"/>
              </a:ext>
            </a:extLst>
          </p:cNvPr>
          <p:cNvSpPr txBox="1"/>
          <p:nvPr/>
        </p:nvSpPr>
        <p:spPr>
          <a:xfrm>
            <a:off x="1219201" y="3130849"/>
            <a:ext cx="67750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Metrics: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Decrease Accuracy: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interest rate is used to make splits, the model can still predict the outcome almost as well without it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Decrease Gini: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rate is frequently used for splits across many trees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loan_int_rate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might have a relationship to other variables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5073830-EC43-5DF0-E2B4-29FDF7543607}"/>
              </a:ext>
            </a:extLst>
          </p:cNvPr>
          <p:cNvSpPr/>
          <p:nvPr/>
        </p:nvSpPr>
        <p:spPr>
          <a:xfrm>
            <a:off x="457200" y="495300"/>
            <a:ext cx="1841752" cy="397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22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2722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endParaRPr lang="en-US" sz="2042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662011-AD93-4353-3144-19AD7C73C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66;g3ca31053399_0_56">
            <a:extLst>
              <a:ext uri="{FF2B5EF4-FFF2-40B4-BE49-F238E27FC236}">
                <a16:creationId xmlns:a16="http://schemas.microsoft.com/office/drawing/2014/main" id="{B6F34C2C-5139-A0B7-5869-24CD8A67212E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1722218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1720E150-5069-3AF3-7A94-1296C674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ca31053399_0_56" descr=" ">
            <a:extLst>
              <a:ext uri="{FF2B5EF4-FFF2-40B4-BE49-F238E27FC236}">
                <a16:creationId xmlns:a16="http://schemas.microsoft.com/office/drawing/2014/main" id="{F21923BA-78BC-7899-7A48-B81271796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72138" y="6351468"/>
            <a:ext cx="4304732" cy="3553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ca31053399_0_56" descr=" ">
            <a:extLst>
              <a:ext uri="{FF2B5EF4-FFF2-40B4-BE49-F238E27FC236}">
                <a16:creationId xmlns:a16="http://schemas.microsoft.com/office/drawing/2014/main" id="{B399EDCD-A3F9-77E8-BD2F-F8C1DCB6D4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36327" y="131309"/>
            <a:ext cx="899677" cy="536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a31053399_0_56" descr=" ">
            <a:extLst>
              <a:ext uri="{FF2B5EF4-FFF2-40B4-BE49-F238E27FC236}">
                <a16:creationId xmlns:a16="http://schemas.microsoft.com/office/drawing/2014/main" id="{D96A94D9-D35B-A5FD-E666-0FAC2C9EBB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92810" y="6554069"/>
            <a:ext cx="3431684" cy="350978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ca31053399_0_56">
            <a:extLst>
              <a:ext uri="{FF2B5EF4-FFF2-40B4-BE49-F238E27FC236}">
                <a16:creationId xmlns:a16="http://schemas.microsoft.com/office/drawing/2014/main" id="{C751ED37-257E-2F12-33E5-0E02A792EA49}"/>
              </a:ext>
            </a:extLst>
          </p:cNvPr>
          <p:cNvSpPr txBox="1"/>
          <p:nvPr/>
        </p:nvSpPr>
        <p:spPr>
          <a:xfrm>
            <a:off x="1828800" y="114300"/>
            <a:ext cx="10088450" cy="536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24" tIns="62224" rIns="62224" bIns="62224" anchor="t" anchorCtr="0">
            <a:noAutofit/>
          </a:bodyPr>
          <a:lstStyle/>
          <a:p>
            <a:pPr algn="just"/>
            <a:r>
              <a:rPr lang="en-US" sz="4000" b="1" dirty="0">
                <a:solidFill>
                  <a:srgbClr val="FF0000"/>
                </a:solidFill>
              </a:rPr>
              <a:t>Random Forest Cont.</a:t>
            </a:r>
          </a:p>
          <a:p>
            <a:pPr algn="just"/>
            <a:endParaRPr lang="en-US" sz="2450" b="1" dirty="0">
              <a:solidFill>
                <a:srgbClr val="FF0000"/>
              </a:solidFill>
            </a:endParaRPr>
          </a:p>
          <a:p>
            <a:endParaRPr sz="1225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6BDBE-2C46-DDD0-5253-A15F1B67AE65}"/>
              </a:ext>
            </a:extLst>
          </p:cNvPr>
          <p:cNvSpPr txBox="1"/>
          <p:nvPr/>
        </p:nvSpPr>
        <p:spPr>
          <a:xfrm>
            <a:off x="3219693" y="7147438"/>
            <a:ext cx="111765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Metrics: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1: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rate has an upward slope; it has real predictive power even after controlling the other variables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2: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gradient for each loan grade gets flatter. Loan grade is absorbing interest rate’s influence on the model.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9474347-8882-0F8F-B3AA-C279E71011C1}"/>
              </a:ext>
            </a:extLst>
          </p:cNvPr>
          <p:cNvSpPr/>
          <p:nvPr/>
        </p:nvSpPr>
        <p:spPr>
          <a:xfrm>
            <a:off x="457200" y="495300"/>
            <a:ext cx="1841752" cy="397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22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2722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endParaRPr lang="en-US" sz="2042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D1499-A29D-7C6D-36AF-35438599C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3523" y="1970427"/>
            <a:ext cx="6920311" cy="46494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BBFB87-162E-ADBF-2C0F-05CE99A1B8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5350" y="2064568"/>
            <a:ext cx="6920311" cy="46690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9C48F0-2F17-48F0-D210-8E946044D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66;g3ca31053399_0_56">
            <a:extLst>
              <a:ext uri="{FF2B5EF4-FFF2-40B4-BE49-F238E27FC236}">
                <a16:creationId xmlns:a16="http://schemas.microsoft.com/office/drawing/2014/main" id="{115FB8FA-D90B-A908-151A-665FCFF3DB95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2691502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D8EB12FA-5A99-A38F-DB7C-787B50268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g3ca31053399_0_44" descr=" ">
            <a:extLst>
              <a:ext uri="{FF2B5EF4-FFF2-40B4-BE49-F238E27FC236}">
                <a16:creationId xmlns:a16="http://schemas.microsoft.com/office/drawing/2014/main" id="{4FE21C9C-E9FA-3425-D0A4-2060A2D6F8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72138" y="6351468"/>
            <a:ext cx="4304732" cy="3553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ca31053399_0_44" descr=" ">
            <a:extLst>
              <a:ext uri="{FF2B5EF4-FFF2-40B4-BE49-F238E27FC236}">
                <a16:creationId xmlns:a16="http://schemas.microsoft.com/office/drawing/2014/main" id="{3EF63A08-B605-4A2D-072B-59F7171CC2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36327" y="131309"/>
            <a:ext cx="899677" cy="53699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ca31053399_0_44">
            <a:extLst>
              <a:ext uri="{FF2B5EF4-FFF2-40B4-BE49-F238E27FC236}">
                <a16:creationId xmlns:a16="http://schemas.microsoft.com/office/drawing/2014/main" id="{F9F639A8-8590-56F0-902C-DB4E6EF076A5}"/>
              </a:ext>
            </a:extLst>
          </p:cNvPr>
          <p:cNvSpPr txBox="1"/>
          <p:nvPr/>
        </p:nvSpPr>
        <p:spPr>
          <a:xfrm>
            <a:off x="1828800" y="114300"/>
            <a:ext cx="8106489" cy="536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24" tIns="62224" rIns="62224" bIns="62224" anchor="t" anchorCtr="0">
            <a:noAutofit/>
          </a:bodyPr>
          <a:lstStyle/>
          <a:p>
            <a:pPr algn="just"/>
            <a:r>
              <a:rPr lang="en-US" sz="4000" b="1" dirty="0">
                <a:solidFill>
                  <a:srgbClr val="FF0000"/>
                </a:solidFill>
              </a:rPr>
              <a:t>Smart Question 3 Summary</a:t>
            </a:r>
          </a:p>
        </p:txBody>
      </p:sp>
      <p:sp>
        <p:nvSpPr>
          <p:cNvPr id="58" name="Google Shape;58;g3ca31053399_0_44">
            <a:extLst>
              <a:ext uri="{FF2B5EF4-FFF2-40B4-BE49-F238E27FC236}">
                <a16:creationId xmlns:a16="http://schemas.microsoft.com/office/drawing/2014/main" id="{2A23D6C7-0A5F-A57A-93C9-E0D29FCCA0B6}"/>
              </a:ext>
            </a:extLst>
          </p:cNvPr>
          <p:cNvSpPr txBox="1"/>
          <p:nvPr/>
        </p:nvSpPr>
        <p:spPr>
          <a:xfrm>
            <a:off x="2920012" y="2019590"/>
            <a:ext cx="12447644" cy="735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24" tIns="62224" rIns="62224" bIns="62224" anchor="t" anchorCtr="0">
            <a:noAutofit/>
          </a:bodyPr>
          <a:lstStyle/>
          <a:p>
            <a:endParaRPr sz="122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8676C-1C64-9139-5DEC-2DCD52052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03" y="2292490"/>
            <a:ext cx="9559334" cy="6280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018A98-CCC9-47E1-4983-1A64C22204E6}"/>
              </a:ext>
            </a:extLst>
          </p:cNvPr>
          <p:cNvSpPr txBox="1"/>
          <p:nvPr/>
        </p:nvSpPr>
        <p:spPr>
          <a:xfrm>
            <a:off x="9796558" y="3509221"/>
            <a:ext cx="7729442" cy="470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78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Yes, interest rate influences the probability of default.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important variables: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loan_percentage_income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cb_person_default_on_file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cb_credit_hist_length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loan_grade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1170" indent="-31117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Bias: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imbalanced. 78% of the data are non-default borrowers.</a:t>
            </a:r>
          </a:p>
          <a:p>
            <a:endParaRPr lang="en-US" sz="21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12CB485-91F4-34A7-7EED-981C0F05B734}"/>
              </a:ext>
            </a:extLst>
          </p:cNvPr>
          <p:cNvSpPr/>
          <p:nvPr/>
        </p:nvSpPr>
        <p:spPr>
          <a:xfrm>
            <a:off x="457200" y="495300"/>
            <a:ext cx="1841752" cy="397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22" b="1" dirty="0">
                <a:solidFill>
                  <a:srgbClr val="0070C0"/>
                </a:solidFill>
                <a:latin typeface="Arial Black" panose="020B0A04020102020204" pitchFamily="34" charset="0"/>
              </a:rPr>
              <a:t>SMQ-3</a:t>
            </a:r>
            <a:endParaRPr lang="uz-Cyrl-UZ" sz="2722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endParaRPr lang="en-US" sz="2042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AA9D6-5060-00DA-2DD1-3AF393F21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Google Shape;52;g3ca31053399_0_44" descr=" ">
            <a:extLst>
              <a:ext uri="{FF2B5EF4-FFF2-40B4-BE49-F238E27FC236}">
                <a16:creationId xmlns:a16="http://schemas.microsoft.com/office/drawing/2014/main" id="{A137F6E7-6668-0894-68CE-C5320A07E98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936113" y="709802"/>
            <a:ext cx="4485974" cy="5259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g3ca31053399_0_44" descr=" ">
            <a:extLst>
              <a:ext uri="{FF2B5EF4-FFF2-40B4-BE49-F238E27FC236}">
                <a16:creationId xmlns:a16="http://schemas.microsoft.com/office/drawing/2014/main" id="{52E9769F-4D80-30D1-B792-C691DB49CFF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92810" y="6554069"/>
            <a:ext cx="3431684" cy="35097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6;g3ca31053399_0_56">
            <a:extLst>
              <a:ext uri="{FF2B5EF4-FFF2-40B4-BE49-F238E27FC236}">
                <a16:creationId xmlns:a16="http://schemas.microsoft.com/office/drawing/2014/main" id="{F79B2267-D20F-B403-F04E-31E02152FDF7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727361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AFEE5EF2-73B2-8F54-271D-5C83EB9B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ca31053399_0_44" descr=" ">
            <a:extLst>
              <a:ext uri="{FF2B5EF4-FFF2-40B4-BE49-F238E27FC236}">
                <a16:creationId xmlns:a16="http://schemas.microsoft.com/office/drawing/2014/main" id="{0D11295A-6761-8D41-1963-CC2742C6FA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36327" y="131309"/>
            <a:ext cx="899677" cy="53699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ca31053399_0_44">
            <a:extLst>
              <a:ext uri="{FF2B5EF4-FFF2-40B4-BE49-F238E27FC236}">
                <a16:creationId xmlns:a16="http://schemas.microsoft.com/office/drawing/2014/main" id="{357B6308-8515-72F6-7A86-5DF3A0142109}"/>
              </a:ext>
            </a:extLst>
          </p:cNvPr>
          <p:cNvSpPr txBox="1"/>
          <p:nvPr/>
        </p:nvSpPr>
        <p:spPr>
          <a:xfrm>
            <a:off x="457200" y="114300"/>
            <a:ext cx="4697166" cy="536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24" tIns="62224" rIns="62224" bIns="62224" anchor="t" anchorCtr="0">
            <a:noAutofit/>
          </a:bodyPr>
          <a:lstStyle/>
          <a:p>
            <a:pPr lvl="0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</a:p>
        </p:txBody>
      </p:sp>
      <p:sp>
        <p:nvSpPr>
          <p:cNvPr id="58" name="Google Shape;58;g3ca31053399_0_44">
            <a:extLst>
              <a:ext uri="{FF2B5EF4-FFF2-40B4-BE49-F238E27FC236}">
                <a16:creationId xmlns:a16="http://schemas.microsoft.com/office/drawing/2014/main" id="{E6BB464D-F7C9-7A12-5515-54DA14B3B8F5}"/>
              </a:ext>
            </a:extLst>
          </p:cNvPr>
          <p:cNvSpPr txBox="1"/>
          <p:nvPr/>
        </p:nvSpPr>
        <p:spPr>
          <a:xfrm>
            <a:off x="2920012" y="2019590"/>
            <a:ext cx="12447644" cy="735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24" tIns="62224" rIns="62224" bIns="62224" anchor="t" anchorCtr="0">
            <a:noAutofit/>
          </a:bodyPr>
          <a:lstStyle/>
          <a:p>
            <a:endParaRPr sz="1225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80471F-DFFF-1343-7F43-1B2AE829E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463" y="22863"/>
            <a:ext cx="3640539" cy="24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CA89CC-2DA8-ABC6-A619-D5F4BC7CA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1" y="1028700"/>
            <a:ext cx="12314506" cy="8572014"/>
          </a:xfrm>
          <a:prstGeom prst="rect">
            <a:avLst/>
          </a:prstGeom>
        </p:spPr>
      </p:pic>
      <p:pic>
        <p:nvPicPr>
          <p:cNvPr id="56" name="Google Shape;56;g3ca31053399_0_44" descr=" ">
            <a:extLst>
              <a:ext uri="{FF2B5EF4-FFF2-40B4-BE49-F238E27FC236}">
                <a16:creationId xmlns:a16="http://schemas.microsoft.com/office/drawing/2014/main" id="{373FFCC9-E399-3A86-080A-2C1C39882B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92810" y="6554069"/>
            <a:ext cx="3431684" cy="350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g3ca31053399_0_44" descr=" ">
            <a:extLst>
              <a:ext uri="{FF2B5EF4-FFF2-40B4-BE49-F238E27FC236}">
                <a16:creationId xmlns:a16="http://schemas.microsoft.com/office/drawing/2014/main" id="{4712A96C-431D-BDDF-0C31-A10963D979A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936113" y="709802"/>
            <a:ext cx="4485974" cy="5259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ca31053399_0_44" descr=" ">
            <a:extLst>
              <a:ext uri="{FF2B5EF4-FFF2-40B4-BE49-F238E27FC236}">
                <a16:creationId xmlns:a16="http://schemas.microsoft.com/office/drawing/2014/main" id="{2DCB16BF-8B18-A175-6D93-8FC4C7D1385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72138" y="6351468"/>
            <a:ext cx="4304732" cy="355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6;g3ca31053399_0_56">
            <a:extLst>
              <a:ext uri="{FF2B5EF4-FFF2-40B4-BE49-F238E27FC236}">
                <a16:creationId xmlns:a16="http://schemas.microsoft.com/office/drawing/2014/main" id="{EC2BB196-9A3B-9E43-3F56-2DDC8ECD8B09}"/>
              </a:ext>
            </a:extLst>
          </p:cNvPr>
          <p:cNvSpPr/>
          <p:nvPr/>
        </p:nvSpPr>
        <p:spPr>
          <a:xfrm>
            <a:off x="304800" y="1104900"/>
            <a:ext cx="14556621" cy="17355"/>
          </a:xfrm>
          <a:prstGeom prst="rect">
            <a:avLst/>
          </a:prstGeom>
          <a:solidFill>
            <a:srgbClr val="ED3237"/>
          </a:solidFill>
          <a:ln>
            <a:noFill/>
          </a:ln>
        </p:spPr>
        <p:txBody>
          <a:bodyPr spcFirstLastPara="1" wrap="square" lIns="62224" tIns="62224" rIns="62224" bIns="62224" anchor="ctr" anchorCtr="0">
            <a:noAutofit/>
          </a:bodyPr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4214831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2288</Words>
  <Application>Microsoft Office PowerPoint</Application>
  <PresentationFormat>Произвольный</PresentationFormat>
  <Paragraphs>332</Paragraphs>
  <Slides>33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2" baseType="lpstr">
      <vt:lpstr>Bahnschrift Light</vt:lpstr>
      <vt:lpstr>Arial</vt:lpstr>
      <vt:lpstr>Arial Black</vt:lpstr>
      <vt:lpstr>Aptos</vt:lpstr>
      <vt:lpstr>Times New Roman</vt:lpstr>
      <vt:lpstr>Wingdings</vt:lpstr>
      <vt:lpstr>Bahnschrift Condensed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Gradient Technology Company Profile Presentation</dc:title>
  <dc:creator>m-jumanazarov</dc:creator>
  <cp:lastModifiedBy>Ulugbek Islomov</cp:lastModifiedBy>
  <cp:revision>32</cp:revision>
  <dcterms:created xsi:type="dcterms:W3CDTF">2006-08-16T00:00:00Z</dcterms:created>
  <dcterms:modified xsi:type="dcterms:W3CDTF">2026-04-22T15:40:25Z</dcterms:modified>
  <dc:identifier>DAG1Y6K5Lng</dc:identifier>
</cp:coreProperties>
</file>