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60" r:id="rId2"/>
    <p:sldId id="257" r:id="rId3"/>
    <p:sldId id="258" r:id="rId4"/>
    <p:sldId id="259" r:id="rId5"/>
    <p:sldId id="261" r:id="rId6"/>
    <p:sldId id="265" r:id="rId7"/>
  </p:sldIdLst>
  <p:sldSz cx="18288000" cy="10287000"/>
  <p:notesSz cx="6858000" cy="9144000"/>
  <p:embeddedFontLst>
    <p:embeddedFont>
      <p:font typeface="Arial Black" panose="020B0A04020102020204" pitchFamily="34" charset="0"/>
      <p:bold r:id="rId8"/>
    </p:embeddedFont>
    <p:embeddedFont>
      <p:font typeface="Bahnschrift Condensed" panose="020B0502040204020203" pitchFamily="34" charset="0"/>
      <p:regular r:id="rId9"/>
      <p:bold r:id="rId10"/>
    </p:embeddedFont>
    <p:embeddedFont>
      <p:font typeface="Bahnschrift Light" panose="020B0502040204020203" pitchFamily="34" charset="0"/>
      <p:regular r:id="rId11"/>
    </p:embeddedFont>
    <p:embeddedFont>
      <p:font typeface="Bahnschrift SemiBold SemiConden" panose="020B0502040204020203" pitchFamily="34" charset="0"/>
      <p:bold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3" d="100"/>
          <a:sy n="53" d="100"/>
        </p:scale>
        <p:origin x="730" y="26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2" y="1535113"/>
            <a:ext cx="4040188"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2"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1" y="273054"/>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4"/>
            <a:ext cx="3008313"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4"/>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4/8/2026</a:t>
            </a:fld>
            <a:endParaRPr lang="en-US"/>
          </a:p>
        </p:txBody>
      </p:sp>
      <p:sp>
        <p:nvSpPr>
          <p:cNvPr id="5" name="Footer Placeholder 4"/>
          <p:cNvSpPr>
            <a:spLocks noGrp="1"/>
          </p:cNvSpPr>
          <p:nvPr>
            <p:ph type="ftr" sz="quarter" idx="3"/>
          </p:nvPr>
        </p:nvSpPr>
        <p:spPr>
          <a:xfrm>
            <a:off x="3124200" y="6356354"/>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377"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reeform 2"/>
          <p:cNvSpPr/>
          <p:nvPr/>
        </p:nvSpPr>
        <p:spPr>
          <a:xfrm flipH="1">
            <a:off x="13144500" y="51435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12" name="Picture 2">
            <a:extLst>
              <a:ext uri="{FF2B5EF4-FFF2-40B4-BE49-F238E27FC236}">
                <a16:creationId xmlns:a16="http://schemas.microsoft.com/office/drawing/2014/main" id="{83B3D08D-E431-4351-A900-5966052993F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D17A11BA-9DCD-4BF1-989A-50EA063E6297}"/>
              </a:ext>
            </a:extLst>
          </p:cNvPr>
          <p:cNvSpPr txBox="1"/>
          <p:nvPr/>
        </p:nvSpPr>
        <p:spPr>
          <a:xfrm>
            <a:off x="1981200" y="2552700"/>
            <a:ext cx="12472133" cy="1938992"/>
          </a:xfrm>
          <a:prstGeom prst="rect">
            <a:avLst/>
          </a:prstGeom>
          <a:noFill/>
        </p:spPr>
        <p:txBody>
          <a:bodyPr wrap="square">
            <a:spAutoFit/>
          </a:bodyPr>
          <a:lstStyle/>
          <a:p>
            <a:pPr algn="ctr"/>
            <a:r>
              <a:rPr lang="en-US" sz="4000" b="1" dirty="0">
                <a:solidFill>
                  <a:srgbClr val="002060"/>
                </a:solidFill>
                <a:latin typeface="Arial Black" panose="020B0A04020102020204" pitchFamily="34" charset="0"/>
              </a:rPr>
              <a:t>Project 2</a:t>
            </a:r>
          </a:p>
          <a:p>
            <a:pPr algn="ctr"/>
            <a:r>
              <a:rPr lang="en-US" sz="4000" b="1" dirty="0">
                <a:solidFill>
                  <a:srgbClr val="002060"/>
                </a:solidFill>
                <a:latin typeface="Arial Black" panose="020B0A04020102020204" pitchFamily="34" charset="0"/>
              </a:rPr>
              <a:t>Implementing regression-based and classification modeling techniques"</a:t>
            </a:r>
          </a:p>
        </p:txBody>
      </p:sp>
      <p:grpSp>
        <p:nvGrpSpPr>
          <p:cNvPr id="14" name="Группа 13">
            <a:extLst>
              <a:ext uri="{FF2B5EF4-FFF2-40B4-BE49-F238E27FC236}">
                <a16:creationId xmlns:a16="http://schemas.microsoft.com/office/drawing/2014/main" id="{663E50E1-FFD3-4213-8FE9-77A5DC9747D0}"/>
              </a:ext>
            </a:extLst>
          </p:cNvPr>
          <p:cNvGrpSpPr/>
          <p:nvPr/>
        </p:nvGrpSpPr>
        <p:grpSpPr>
          <a:xfrm>
            <a:off x="3352800" y="7277096"/>
            <a:ext cx="10963040" cy="620335"/>
            <a:chOff x="4367650" y="8366534"/>
            <a:chExt cx="10963040" cy="620335"/>
          </a:xfrm>
        </p:grpSpPr>
        <p:sp>
          <p:nvSpPr>
            <p:cNvPr id="15" name="TextBox 14">
              <a:extLst>
                <a:ext uri="{FF2B5EF4-FFF2-40B4-BE49-F238E27FC236}">
                  <a16:creationId xmlns:a16="http://schemas.microsoft.com/office/drawing/2014/main" id="{C42F1CA1-EE39-4596-ACF7-E988F2A456F4}"/>
                </a:ext>
              </a:extLst>
            </p:cNvPr>
            <p:cNvSpPr txBox="1"/>
            <p:nvPr/>
          </p:nvSpPr>
          <p:spPr>
            <a:xfrm>
              <a:off x="4367650" y="8463649"/>
              <a:ext cx="3595348" cy="523220"/>
            </a:xfrm>
            <a:prstGeom prst="rect">
              <a:avLst/>
            </a:prstGeom>
            <a:noFill/>
          </p:spPr>
          <p:txBody>
            <a:bodyPr wrap="square">
              <a:spAutoFit/>
            </a:bodyPr>
            <a:lstStyle/>
            <a:p>
              <a:pPr algn="just"/>
              <a:r>
                <a:rPr lang="en-US" sz="2800" b="1" dirty="0">
                  <a:solidFill>
                    <a:srgbClr val="FF0000"/>
                  </a:solidFill>
                  <a:latin typeface="Arial Black" panose="020B0A04020102020204" pitchFamily="34" charset="0"/>
                </a:rPr>
                <a:t>Ulugbek Islomov</a:t>
              </a:r>
            </a:p>
          </p:txBody>
        </p:sp>
        <p:sp>
          <p:nvSpPr>
            <p:cNvPr id="16" name="TextBox 15">
              <a:extLst>
                <a:ext uri="{FF2B5EF4-FFF2-40B4-BE49-F238E27FC236}">
                  <a16:creationId xmlns:a16="http://schemas.microsoft.com/office/drawing/2014/main" id="{26B6B655-E663-45F7-A787-089521DECBF4}"/>
                </a:ext>
              </a:extLst>
            </p:cNvPr>
            <p:cNvSpPr txBox="1"/>
            <p:nvPr/>
          </p:nvSpPr>
          <p:spPr>
            <a:xfrm>
              <a:off x="8139994" y="8423765"/>
              <a:ext cx="3595348" cy="523220"/>
            </a:xfrm>
            <a:prstGeom prst="rect">
              <a:avLst/>
            </a:prstGeom>
            <a:noFill/>
          </p:spPr>
          <p:txBody>
            <a:bodyPr wrap="square">
              <a:spAutoFit/>
            </a:bodyPr>
            <a:lstStyle/>
            <a:p>
              <a:pPr algn="just"/>
              <a:r>
                <a:rPr lang="en-US" sz="2800" b="1" dirty="0">
                  <a:solidFill>
                    <a:srgbClr val="FF0000"/>
                  </a:solidFill>
                  <a:latin typeface="Arial Black" panose="020B0A04020102020204" pitchFamily="34" charset="0"/>
                </a:rPr>
                <a:t>Maurice Goode</a:t>
              </a:r>
            </a:p>
          </p:txBody>
        </p:sp>
        <p:sp>
          <p:nvSpPr>
            <p:cNvPr id="17" name="TextBox 16">
              <a:extLst>
                <a:ext uri="{FF2B5EF4-FFF2-40B4-BE49-F238E27FC236}">
                  <a16:creationId xmlns:a16="http://schemas.microsoft.com/office/drawing/2014/main" id="{AC879947-2BB1-4F21-B361-14A974AEE726}"/>
                </a:ext>
              </a:extLst>
            </p:cNvPr>
            <p:cNvSpPr txBox="1"/>
            <p:nvPr/>
          </p:nvSpPr>
          <p:spPr>
            <a:xfrm>
              <a:off x="11735342" y="8366534"/>
              <a:ext cx="3595348" cy="523220"/>
            </a:xfrm>
            <a:prstGeom prst="rect">
              <a:avLst/>
            </a:prstGeom>
            <a:noFill/>
          </p:spPr>
          <p:txBody>
            <a:bodyPr wrap="square">
              <a:spAutoFit/>
            </a:bodyPr>
            <a:lstStyle/>
            <a:p>
              <a:pPr algn="just"/>
              <a:r>
                <a:rPr lang="en-US" sz="2800" b="1" dirty="0" err="1">
                  <a:solidFill>
                    <a:srgbClr val="FF0000"/>
                  </a:solidFill>
                  <a:latin typeface="Arial Black" panose="020B0A04020102020204" pitchFamily="34" charset="0"/>
                </a:rPr>
                <a:t>Soumae</a:t>
              </a:r>
              <a:r>
                <a:rPr lang="en-US" sz="2800" b="1" dirty="0">
                  <a:solidFill>
                    <a:srgbClr val="FF0000"/>
                  </a:solidFill>
                  <a:latin typeface="Arial Black" panose="020B0A04020102020204" pitchFamily="34" charset="0"/>
                </a:rPr>
                <a:t> Patidar</a:t>
              </a:r>
            </a:p>
          </p:txBody>
        </p:sp>
      </p:grpSp>
      <p:sp>
        <p:nvSpPr>
          <p:cNvPr id="19" name="TextBox 18">
            <a:extLst>
              <a:ext uri="{FF2B5EF4-FFF2-40B4-BE49-F238E27FC236}">
                <a16:creationId xmlns:a16="http://schemas.microsoft.com/office/drawing/2014/main" id="{6999C7D7-E5E7-493B-8900-253CC353A670}"/>
              </a:ext>
            </a:extLst>
          </p:cNvPr>
          <p:cNvSpPr txBox="1"/>
          <p:nvPr/>
        </p:nvSpPr>
        <p:spPr>
          <a:xfrm>
            <a:off x="685801" y="419100"/>
            <a:ext cx="11083159" cy="707886"/>
          </a:xfrm>
          <a:prstGeom prst="rect">
            <a:avLst/>
          </a:prstGeom>
          <a:noFill/>
        </p:spPr>
        <p:txBody>
          <a:bodyPr wrap="square">
            <a:spAutoFit/>
          </a:bodyPr>
          <a:lstStyle/>
          <a:p>
            <a:r>
              <a:rPr lang="en-US" sz="4000" b="1" dirty="0">
                <a:solidFill>
                  <a:srgbClr val="002060"/>
                </a:solidFill>
                <a:latin typeface="Arial Black" panose="020B0A04020102020204" pitchFamily="34" charset="0"/>
              </a:rPr>
              <a:t>Group</a:t>
            </a:r>
            <a:r>
              <a:rPr lang="en-US" sz="4000" b="1" dirty="0">
                <a:solidFill>
                  <a:srgbClr val="0070C0"/>
                </a:solidFill>
                <a:latin typeface="Arial Black" panose="020B0A04020102020204" pitchFamily="34" charset="0"/>
              </a:rPr>
              <a:t> </a:t>
            </a:r>
            <a:r>
              <a:rPr lang="en-US" sz="4000" b="1" dirty="0">
                <a:solidFill>
                  <a:srgbClr val="002060"/>
                </a:solidFill>
                <a:latin typeface="Arial Black" panose="020B0A04020102020204" pitchFamily="34" charset="0"/>
              </a:rPr>
              <a:t>Presentation </a:t>
            </a:r>
            <a:r>
              <a:rPr lang="en-US" sz="4000" b="1">
                <a:solidFill>
                  <a:srgbClr val="002060"/>
                </a:solidFill>
                <a:latin typeface="Arial Black" panose="020B0A04020102020204" pitchFamily="34" charset="0"/>
              </a:rPr>
              <a:t>(Draft)</a:t>
            </a:r>
            <a:endParaRPr lang="en-US" sz="4000" b="1" dirty="0">
              <a:solidFill>
                <a:srgbClr val="002060"/>
              </a:solidFill>
              <a:latin typeface="Arial Black" panose="020B0A04020102020204" pitchFamily="34" charset="0"/>
            </a:endParaRPr>
          </a:p>
        </p:txBody>
      </p:sp>
      <p:pic>
        <p:nvPicPr>
          <p:cNvPr id="20" name="Picture 4">
            <a:extLst>
              <a:ext uri="{FF2B5EF4-FFF2-40B4-BE49-F238E27FC236}">
                <a16:creationId xmlns:a16="http://schemas.microsoft.com/office/drawing/2014/main" id="{44AEC818-E6E1-4048-89BB-984052170A6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329" y="8420100"/>
            <a:ext cx="4343400" cy="1526977"/>
          </a:xfrm>
          <a:prstGeom prst="rect">
            <a:avLst/>
          </a:prstGeom>
          <a:noFill/>
          <a:extLst>
            <a:ext uri="{909E8E84-426E-40DD-AFC4-6F175D3DCCD1}">
              <a14:hiddenFill xmlns:a14="http://schemas.microsoft.com/office/drawing/2010/main">
                <a:solidFill>
                  <a:srgbClr val="FFFFFF"/>
                </a:solidFill>
              </a14:hiddenFill>
            </a:ext>
          </a:extLst>
        </p:spPr>
      </p:pic>
      <p:pic>
        <p:nvPicPr>
          <p:cNvPr id="6" name="Рисунок 5">
            <a:extLst>
              <a:ext uri="{FF2B5EF4-FFF2-40B4-BE49-F238E27FC236}">
                <a16:creationId xmlns:a16="http://schemas.microsoft.com/office/drawing/2014/main" id="{6CACF301-5B11-829C-BE95-E1ED4B60A097}"/>
              </a:ext>
            </a:extLst>
          </p:cNvPr>
          <p:cNvPicPr>
            <a:picLocks noChangeAspect="1"/>
          </p:cNvPicPr>
          <p:nvPr/>
        </p:nvPicPr>
        <p:blipFill>
          <a:blip r:embed="rId6"/>
          <a:stretch>
            <a:fillRect/>
          </a:stretch>
        </p:blipFill>
        <p:spPr>
          <a:xfrm>
            <a:off x="6705600" y="4762500"/>
            <a:ext cx="3429000" cy="2286000"/>
          </a:xfrm>
          <a:prstGeom prst="rect">
            <a:avLst/>
          </a:prstGeom>
        </p:spPr>
      </p:pic>
    </p:spTree>
    <p:extLst>
      <p:ext uri="{BB962C8B-B14F-4D97-AF65-F5344CB8AC3E}">
        <p14:creationId xmlns:p14="http://schemas.microsoft.com/office/powerpoint/2010/main" val="2570391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reeform 2"/>
          <p:cNvSpPr/>
          <p:nvPr/>
        </p:nvSpPr>
        <p:spPr>
          <a:xfrm flipH="1">
            <a:off x="13144500" y="51435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12" name="Picture 2">
            <a:extLst>
              <a:ext uri="{FF2B5EF4-FFF2-40B4-BE49-F238E27FC236}">
                <a16:creationId xmlns:a16="http://schemas.microsoft.com/office/drawing/2014/main" id="{83B3D08D-E431-4351-A900-5966052993F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6999C7D7-E5E7-493B-8900-253CC353A670}"/>
              </a:ext>
            </a:extLst>
          </p:cNvPr>
          <p:cNvSpPr txBox="1"/>
          <p:nvPr/>
        </p:nvSpPr>
        <p:spPr>
          <a:xfrm>
            <a:off x="685801" y="419100"/>
            <a:ext cx="11083159" cy="707886"/>
          </a:xfrm>
          <a:prstGeom prst="rect">
            <a:avLst/>
          </a:prstGeom>
          <a:noFill/>
        </p:spPr>
        <p:txBody>
          <a:bodyPr wrap="square">
            <a:spAutoFit/>
          </a:bodyPr>
          <a:lstStyle/>
          <a:p>
            <a:r>
              <a:rPr lang="en-US" sz="4000" b="1" dirty="0">
                <a:solidFill>
                  <a:srgbClr val="002060"/>
                </a:solidFill>
                <a:latin typeface="Arial Black" panose="020B0A04020102020204" pitchFamily="34" charset="0"/>
              </a:rPr>
              <a:t>Introduction</a:t>
            </a:r>
          </a:p>
        </p:txBody>
      </p:sp>
      <p:sp>
        <p:nvSpPr>
          <p:cNvPr id="21" name="TextBox 20">
            <a:extLst>
              <a:ext uri="{FF2B5EF4-FFF2-40B4-BE49-F238E27FC236}">
                <a16:creationId xmlns:a16="http://schemas.microsoft.com/office/drawing/2014/main" id="{3E2B8187-8EB7-4818-9EB4-7AE59D73DD9D}"/>
              </a:ext>
            </a:extLst>
          </p:cNvPr>
          <p:cNvSpPr txBox="1"/>
          <p:nvPr/>
        </p:nvSpPr>
        <p:spPr>
          <a:xfrm>
            <a:off x="1600200" y="2171702"/>
            <a:ext cx="15925800" cy="6740307"/>
          </a:xfrm>
          <a:prstGeom prst="rect">
            <a:avLst/>
          </a:prstGeom>
          <a:noFill/>
        </p:spPr>
        <p:txBody>
          <a:bodyPr wrap="square">
            <a:spAutoFit/>
          </a:bodyPr>
          <a:lstStyle/>
          <a:p>
            <a:r>
              <a:rPr lang="en-US" sz="3600" dirty="0">
                <a:latin typeface="Bahnschrift Condensed" panose="020B0502040204020203" pitchFamily="34" charset="0"/>
              </a:rPr>
              <a:t>This project analyzes a credit risk dataset containing more than 30,000 loan observations. The dataset includes detailed information on borrower demographics (such as age and home ownership), financial capacity (income and employment length), credit history (credit history length and prior default), and loan characteristics (loan amount, loan intent, and interest rate).Building on exploratory findings from Project 1, this project focuses on applying statistical modeling techniques to better understand and quantify the relationships between borrower characteristics and key lending </a:t>
            </a:r>
            <a:r>
              <a:rPr lang="en-US" sz="3600" dirty="0" err="1">
                <a:latin typeface="Bahnschrift Condensed" panose="020B0502040204020203" pitchFamily="34" charset="0"/>
              </a:rPr>
              <a:t>outcomes.The</a:t>
            </a:r>
            <a:r>
              <a:rPr lang="en-US" sz="3600" dirty="0">
                <a:latin typeface="Bahnschrift Condensed" panose="020B0502040204020203" pitchFamily="34" charset="0"/>
              </a:rPr>
              <a:t> primary objective is to apply regression-based and classification modeling approaches to address three SMART research questions that capture different dimensions of credit risk and lending behavior. These questions focus on pricing (interest rate), risk (default probability), and borrowing behavior (loan amount).The analysis integrates exploratory insights with formal statistical models to evaluate both explanatory relationships and predictive performance, while also assessing the strengths and limitations of the models used.</a:t>
            </a:r>
          </a:p>
        </p:txBody>
      </p:sp>
    </p:spTree>
    <p:extLst>
      <p:ext uri="{BB962C8B-B14F-4D97-AF65-F5344CB8AC3E}">
        <p14:creationId xmlns:p14="http://schemas.microsoft.com/office/powerpoint/2010/main" val="2781560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reeform 2"/>
          <p:cNvSpPr/>
          <p:nvPr/>
        </p:nvSpPr>
        <p:spPr>
          <a:xfrm flipH="1">
            <a:off x="13144500" y="51435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12" name="Picture 2">
            <a:extLst>
              <a:ext uri="{FF2B5EF4-FFF2-40B4-BE49-F238E27FC236}">
                <a16:creationId xmlns:a16="http://schemas.microsoft.com/office/drawing/2014/main" id="{83B3D08D-E431-4351-A900-5966052993F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6999C7D7-E5E7-493B-8900-253CC353A670}"/>
              </a:ext>
            </a:extLst>
          </p:cNvPr>
          <p:cNvSpPr txBox="1"/>
          <p:nvPr/>
        </p:nvSpPr>
        <p:spPr>
          <a:xfrm>
            <a:off x="685801" y="419101"/>
            <a:ext cx="11083159" cy="707886"/>
          </a:xfrm>
          <a:prstGeom prst="rect">
            <a:avLst/>
          </a:prstGeom>
          <a:noFill/>
        </p:spPr>
        <p:txBody>
          <a:bodyPr wrap="square">
            <a:spAutoFit/>
          </a:bodyPr>
          <a:lstStyle/>
          <a:p>
            <a:r>
              <a:rPr lang="en-US" sz="4000" b="1" dirty="0">
                <a:solidFill>
                  <a:srgbClr val="002060"/>
                </a:solidFill>
                <a:latin typeface="Arial Black" panose="020B0A04020102020204" pitchFamily="34" charset="0"/>
              </a:rPr>
              <a:t>Background and summary of Project 1</a:t>
            </a:r>
          </a:p>
        </p:txBody>
      </p:sp>
      <p:sp>
        <p:nvSpPr>
          <p:cNvPr id="18" name="TextBox 17">
            <a:extLst>
              <a:ext uri="{FF2B5EF4-FFF2-40B4-BE49-F238E27FC236}">
                <a16:creationId xmlns:a16="http://schemas.microsoft.com/office/drawing/2014/main" id="{E5CF52F0-1446-4A1D-97A1-933FB78AC623}"/>
              </a:ext>
            </a:extLst>
          </p:cNvPr>
          <p:cNvSpPr txBox="1"/>
          <p:nvPr/>
        </p:nvSpPr>
        <p:spPr>
          <a:xfrm>
            <a:off x="2590800" y="2171703"/>
            <a:ext cx="14020800" cy="5078313"/>
          </a:xfrm>
          <a:prstGeom prst="rect">
            <a:avLst/>
          </a:prstGeom>
          <a:noFill/>
        </p:spPr>
        <p:txBody>
          <a:bodyPr wrap="square">
            <a:spAutoFit/>
          </a:bodyPr>
          <a:lstStyle/>
          <a:p>
            <a:r>
              <a:rPr lang="en-US" sz="3600" dirty="0">
                <a:latin typeface="Bahnschrift Condensed" panose="020B0502040204020203" pitchFamily="34" charset="0"/>
              </a:rPr>
              <a:t>In Project 1, we conducted an exploratory data analysis of the same credit risk dataset obtained from Kaggle. The goal was to identify key patterns in borrower behavior, default risk, and revenue </a:t>
            </a:r>
            <a:r>
              <a:rPr lang="en-US" sz="3600" dirty="0" err="1">
                <a:latin typeface="Bahnschrift Condensed" panose="020B0502040204020203" pitchFamily="34" charset="0"/>
              </a:rPr>
              <a:t>generation.The</a:t>
            </a:r>
            <a:r>
              <a:rPr lang="en-US" sz="3600" dirty="0">
                <a:latin typeface="Bahnschrift Condensed" panose="020B0502040204020203" pitchFamily="34" charset="0"/>
              </a:rPr>
              <a:t> analysis revealed that income and loan amount distributions are highly right-skewed, and that borrower characteristics such as income, employment length, loan intent, and credit history are strongly associated with both default risk and revenue outcomes. In particular, loan grade and income level were identified as major factors influencing default </a:t>
            </a:r>
            <a:r>
              <a:rPr lang="en-US" sz="3600" dirty="0" err="1">
                <a:latin typeface="Bahnschrift Condensed" panose="020B0502040204020203" pitchFamily="34" charset="0"/>
              </a:rPr>
              <a:t>behavior.These</a:t>
            </a:r>
            <a:r>
              <a:rPr lang="en-US" sz="3600" dirty="0">
                <a:latin typeface="Bahnschrift Condensed" panose="020B0502040204020203" pitchFamily="34" charset="0"/>
              </a:rPr>
              <a:t> findings motivate the current project, where we move from exploratory analysis to formal statistical modeling in order to quantify these relationships and assess their significance.</a:t>
            </a:r>
          </a:p>
        </p:txBody>
      </p:sp>
    </p:spTree>
    <p:extLst>
      <p:ext uri="{BB962C8B-B14F-4D97-AF65-F5344CB8AC3E}">
        <p14:creationId xmlns:p14="http://schemas.microsoft.com/office/powerpoint/2010/main" val="1637210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reeform 2"/>
          <p:cNvSpPr/>
          <p:nvPr/>
        </p:nvSpPr>
        <p:spPr>
          <a:xfrm flipH="1">
            <a:off x="13144500" y="51435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12" name="Picture 2">
            <a:extLst>
              <a:ext uri="{FF2B5EF4-FFF2-40B4-BE49-F238E27FC236}">
                <a16:creationId xmlns:a16="http://schemas.microsoft.com/office/drawing/2014/main" id="{83B3D08D-E431-4351-A900-5966052993F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6999C7D7-E5E7-493B-8900-253CC353A670}"/>
              </a:ext>
            </a:extLst>
          </p:cNvPr>
          <p:cNvSpPr txBox="1"/>
          <p:nvPr/>
        </p:nvSpPr>
        <p:spPr>
          <a:xfrm>
            <a:off x="685801" y="419100"/>
            <a:ext cx="11083159" cy="707886"/>
          </a:xfrm>
          <a:prstGeom prst="rect">
            <a:avLst/>
          </a:prstGeom>
          <a:noFill/>
        </p:spPr>
        <p:txBody>
          <a:bodyPr wrap="square">
            <a:spAutoFit/>
          </a:bodyPr>
          <a:lstStyle/>
          <a:p>
            <a:r>
              <a:rPr lang="en-US" sz="4000" b="1" dirty="0">
                <a:solidFill>
                  <a:srgbClr val="002060"/>
                </a:solidFill>
                <a:latin typeface="Arial Black" panose="020B0A04020102020204" pitchFamily="34" charset="0"/>
              </a:rPr>
              <a:t>Data and variables</a:t>
            </a:r>
          </a:p>
        </p:txBody>
      </p:sp>
      <p:sp>
        <p:nvSpPr>
          <p:cNvPr id="47" name="Rectangle 3">
            <a:extLst>
              <a:ext uri="{FF2B5EF4-FFF2-40B4-BE49-F238E27FC236}">
                <a16:creationId xmlns:a16="http://schemas.microsoft.com/office/drawing/2014/main" id="{833F0017-DFD8-4B00-809F-53EAEFECD273}"/>
              </a:ext>
            </a:extLst>
          </p:cNvPr>
          <p:cNvSpPr>
            <a:spLocks noChangeArrowheads="1"/>
          </p:cNvSpPr>
          <p:nvPr/>
        </p:nvSpPr>
        <p:spPr bwMode="auto">
          <a:xfrm>
            <a:off x="174755" y="1074511"/>
            <a:ext cx="8816845"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377" eaLnBrk="0" fontAlgn="base" hangingPunct="0">
              <a:spcBef>
                <a:spcPct val="0"/>
              </a:spcBef>
              <a:spcAft>
                <a:spcPct val="0"/>
              </a:spcAft>
            </a:pPr>
            <a:r>
              <a:rPr lang="en-US" altLang="en-US" sz="3000" b="1" dirty="0">
                <a:solidFill>
                  <a:srgbClr val="002060"/>
                </a:solidFill>
              </a:rPr>
              <a:t>Dataset Overview:</a:t>
            </a:r>
          </a:p>
          <a:p>
            <a:pPr defTabSz="914377" eaLnBrk="0" fontAlgn="base" hangingPunct="0">
              <a:spcBef>
                <a:spcPct val="0"/>
              </a:spcBef>
              <a:spcAft>
                <a:spcPct val="0"/>
              </a:spcAft>
            </a:pPr>
            <a:endParaRPr lang="en-US" altLang="en-US" sz="3000" b="1" dirty="0">
              <a:solidFill>
                <a:srgbClr val="002060"/>
              </a:solidFill>
            </a:endParaRPr>
          </a:p>
          <a:p>
            <a:pPr marL="571486" indent="-571486" defTabSz="914377" eaLnBrk="0" fontAlgn="base" hangingPunct="0">
              <a:spcBef>
                <a:spcPct val="0"/>
              </a:spcBef>
              <a:spcAft>
                <a:spcPct val="0"/>
              </a:spcAft>
              <a:buFont typeface="Wingdings" panose="05000000000000000000" pitchFamily="2" charset="2"/>
              <a:buChar char="v"/>
            </a:pPr>
            <a:r>
              <a:rPr lang="en-US" altLang="en-US" sz="3000" b="1" dirty="0">
                <a:solidFill>
                  <a:srgbClr val="002060"/>
                </a:solidFill>
              </a:rPr>
              <a:t>Source: Kaggle </a:t>
            </a:r>
          </a:p>
          <a:p>
            <a:pPr marL="571486" indent="-571486" defTabSz="914377" eaLnBrk="0" fontAlgn="base" hangingPunct="0">
              <a:spcBef>
                <a:spcPct val="0"/>
              </a:spcBef>
              <a:spcAft>
                <a:spcPct val="0"/>
              </a:spcAft>
              <a:buFont typeface="Wingdings" panose="05000000000000000000" pitchFamily="2" charset="2"/>
              <a:buChar char="v"/>
            </a:pPr>
            <a:r>
              <a:rPr lang="en-US" altLang="en-US" sz="3000" b="1" dirty="0">
                <a:solidFill>
                  <a:srgbClr val="002060"/>
                </a:solidFill>
              </a:rPr>
              <a:t>Name: credit_risk_dataset.csv</a:t>
            </a:r>
          </a:p>
          <a:p>
            <a:pPr marL="571486" indent="-571486" defTabSz="914377" eaLnBrk="0" fontAlgn="base" hangingPunct="0">
              <a:spcBef>
                <a:spcPct val="0"/>
              </a:spcBef>
              <a:spcAft>
                <a:spcPct val="0"/>
              </a:spcAft>
              <a:buFont typeface="Wingdings" panose="05000000000000000000" pitchFamily="2" charset="2"/>
              <a:buChar char="v"/>
            </a:pPr>
            <a:r>
              <a:rPr lang="en-US" altLang="en-US" sz="3000" b="1" dirty="0">
                <a:solidFill>
                  <a:srgbClr val="002060"/>
                </a:solidFill>
              </a:rPr>
              <a:t>Observations: ~ 32,000</a:t>
            </a:r>
          </a:p>
          <a:p>
            <a:pPr marL="571486" indent="-571486" defTabSz="914377" eaLnBrk="0" fontAlgn="base" hangingPunct="0">
              <a:spcBef>
                <a:spcPct val="0"/>
              </a:spcBef>
              <a:spcAft>
                <a:spcPct val="0"/>
              </a:spcAft>
              <a:buFont typeface="Wingdings" panose="05000000000000000000" pitchFamily="2" charset="2"/>
              <a:buChar char="v"/>
            </a:pPr>
            <a:r>
              <a:rPr lang="en-US" altLang="en-US" sz="3000" b="1" dirty="0">
                <a:solidFill>
                  <a:srgbClr val="002060"/>
                </a:solidFill>
              </a:rPr>
              <a:t>Variables: 12 borrower and loan characteristics</a:t>
            </a:r>
          </a:p>
          <a:p>
            <a:pPr marL="571486" indent="-571486" defTabSz="914377" eaLnBrk="0" fontAlgn="base" hangingPunct="0">
              <a:spcBef>
                <a:spcPct val="0"/>
              </a:spcBef>
              <a:spcAft>
                <a:spcPct val="0"/>
              </a:spcAft>
              <a:buFont typeface="Wingdings" panose="05000000000000000000" pitchFamily="2" charset="2"/>
              <a:buChar char="v"/>
            </a:pPr>
            <a:r>
              <a:rPr lang="en-US" altLang="en-US" sz="3000" b="1" dirty="0">
                <a:solidFill>
                  <a:srgbClr val="002060"/>
                </a:solidFill>
              </a:rPr>
              <a:t>Target variable: </a:t>
            </a:r>
            <a:r>
              <a:rPr lang="en-US" altLang="en-US" sz="3000" b="1" dirty="0" err="1">
                <a:solidFill>
                  <a:srgbClr val="002060"/>
                </a:solidFill>
              </a:rPr>
              <a:t>loan_status</a:t>
            </a:r>
            <a:r>
              <a:rPr lang="en-US" altLang="en-US" sz="3000" b="1" dirty="0">
                <a:solidFill>
                  <a:srgbClr val="002060"/>
                </a:solidFill>
              </a:rPr>
              <a:t>                                                                         (1 = default,  0 = non-default)</a:t>
            </a:r>
          </a:p>
          <a:p>
            <a:pPr marL="571486" indent="-571486" defTabSz="914377" eaLnBrk="0" fontAlgn="base" hangingPunct="0">
              <a:spcBef>
                <a:spcPct val="0"/>
              </a:spcBef>
              <a:spcAft>
                <a:spcPct val="0"/>
              </a:spcAft>
              <a:buFont typeface="Wingdings" panose="05000000000000000000" pitchFamily="2" charset="2"/>
              <a:buChar char="v"/>
            </a:pPr>
            <a:r>
              <a:rPr lang="en-US" altLang="en-US" sz="3000" b="1" dirty="0">
                <a:solidFill>
                  <a:srgbClr val="002060"/>
                </a:solidFill>
              </a:rPr>
              <a:t>Nature: Consumer lending data</a:t>
            </a:r>
          </a:p>
          <a:p>
            <a:pPr defTabSz="914377" eaLnBrk="0" fontAlgn="base" hangingPunct="0">
              <a:spcBef>
                <a:spcPct val="0"/>
              </a:spcBef>
              <a:spcAft>
                <a:spcPct val="0"/>
              </a:spcAft>
            </a:pPr>
            <a:endParaRPr lang="en-US" altLang="en-US" sz="3000" b="1" dirty="0">
              <a:solidFill>
                <a:srgbClr val="002060"/>
              </a:solidFill>
              <a:latin typeface="Bahnschrift Light" panose="020B0502040204020203" pitchFamily="34" charset="0"/>
            </a:endParaRPr>
          </a:p>
        </p:txBody>
      </p:sp>
      <p:sp>
        <p:nvSpPr>
          <p:cNvPr id="48" name="TextBox 47">
            <a:extLst>
              <a:ext uri="{FF2B5EF4-FFF2-40B4-BE49-F238E27FC236}">
                <a16:creationId xmlns:a16="http://schemas.microsoft.com/office/drawing/2014/main" id="{666344A5-3ABC-4B45-967B-CA3A46306FF5}"/>
              </a:ext>
            </a:extLst>
          </p:cNvPr>
          <p:cNvSpPr txBox="1"/>
          <p:nvPr/>
        </p:nvSpPr>
        <p:spPr>
          <a:xfrm>
            <a:off x="11165095" y="1581112"/>
            <a:ext cx="3915833" cy="553998"/>
          </a:xfrm>
          <a:prstGeom prst="rect">
            <a:avLst/>
          </a:prstGeom>
          <a:noFill/>
        </p:spPr>
        <p:txBody>
          <a:bodyPr wrap="square">
            <a:spAutoFit/>
          </a:bodyPr>
          <a:lstStyle/>
          <a:p>
            <a:pPr defTabSz="914377" eaLnBrk="0" fontAlgn="base" hangingPunct="0">
              <a:spcBef>
                <a:spcPct val="0"/>
              </a:spcBef>
              <a:spcAft>
                <a:spcPct val="0"/>
              </a:spcAft>
            </a:pPr>
            <a:r>
              <a:rPr lang="en-US" altLang="en-US" sz="3000" b="1" dirty="0">
                <a:solidFill>
                  <a:srgbClr val="002060"/>
                </a:solidFill>
              </a:rPr>
              <a:t>Variable Definitions:</a:t>
            </a:r>
          </a:p>
        </p:txBody>
      </p:sp>
      <p:sp>
        <p:nvSpPr>
          <p:cNvPr id="52" name="Блок-схема: узел 51">
            <a:extLst>
              <a:ext uri="{FF2B5EF4-FFF2-40B4-BE49-F238E27FC236}">
                <a16:creationId xmlns:a16="http://schemas.microsoft.com/office/drawing/2014/main" id="{2A457A3C-E36D-4FD3-A330-A46F5A54F1D5}"/>
              </a:ext>
            </a:extLst>
          </p:cNvPr>
          <p:cNvSpPr/>
          <p:nvPr/>
        </p:nvSpPr>
        <p:spPr>
          <a:xfrm>
            <a:off x="2209800" y="7429501"/>
            <a:ext cx="728133" cy="702435"/>
          </a:xfrm>
          <a:prstGeom prst="flowChartConnector">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4000" b="1" dirty="0"/>
              <a:t>1</a:t>
            </a:r>
          </a:p>
        </p:txBody>
      </p:sp>
      <p:sp>
        <p:nvSpPr>
          <p:cNvPr id="53" name="Блок-схема: узел 52">
            <a:extLst>
              <a:ext uri="{FF2B5EF4-FFF2-40B4-BE49-F238E27FC236}">
                <a16:creationId xmlns:a16="http://schemas.microsoft.com/office/drawing/2014/main" id="{93FAA031-B6F1-40B2-A5FA-6F2D6C6D55B5}"/>
              </a:ext>
            </a:extLst>
          </p:cNvPr>
          <p:cNvSpPr/>
          <p:nvPr/>
        </p:nvSpPr>
        <p:spPr>
          <a:xfrm>
            <a:off x="7728136" y="7467206"/>
            <a:ext cx="728133" cy="702435"/>
          </a:xfrm>
          <a:prstGeom prst="flowChartConnector">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4000" b="1" dirty="0"/>
              <a:t>2</a:t>
            </a:r>
          </a:p>
        </p:txBody>
      </p:sp>
      <p:sp>
        <p:nvSpPr>
          <p:cNvPr id="54" name="Блок-схема: узел 53">
            <a:extLst>
              <a:ext uri="{FF2B5EF4-FFF2-40B4-BE49-F238E27FC236}">
                <a16:creationId xmlns:a16="http://schemas.microsoft.com/office/drawing/2014/main" id="{9C720AB4-D199-4FD2-B3B9-7FE6C7486D78}"/>
              </a:ext>
            </a:extLst>
          </p:cNvPr>
          <p:cNvSpPr/>
          <p:nvPr/>
        </p:nvSpPr>
        <p:spPr>
          <a:xfrm>
            <a:off x="13335002" y="7124703"/>
            <a:ext cx="728133" cy="702435"/>
          </a:xfrm>
          <a:prstGeom prst="flowChartConnector">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4000" b="1" dirty="0"/>
              <a:t>3</a:t>
            </a:r>
          </a:p>
        </p:txBody>
      </p:sp>
      <p:sp>
        <p:nvSpPr>
          <p:cNvPr id="55" name="TextBox 54">
            <a:extLst>
              <a:ext uri="{FF2B5EF4-FFF2-40B4-BE49-F238E27FC236}">
                <a16:creationId xmlns:a16="http://schemas.microsoft.com/office/drawing/2014/main" id="{548511A9-B040-4B13-92C2-F0C866BE0698}"/>
              </a:ext>
            </a:extLst>
          </p:cNvPr>
          <p:cNvSpPr txBox="1"/>
          <p:nvPr/>
        </p:nvSpPr>
        <p:spPr>
          <a:xfrm>
            <a:off x="246101" y="5645878"/>
            <a:ext cx="7215575" cy="553998"/>
          </a:xfrm>
          <a:prstGeom prst="rect">
            <a:avLst/>
          </a:prstGeom>
          <a:noFill/>
        </p:spPr>
        <p:txBody>
          <a:bodyPr wrap="square">
            <a:spAutoFit/>
          </a:bodyPr>
          <a:lstStyle/>
          <a:p>
            <a:pPr defTabSz="914377" eaLnBrk="0" fontAlgn="base" hangingPunct="0">
              <a:spcBef>
                <a:spcPct val="0"/>
              </a:spcBef>
              <a:spcAft>
                <a:spcPct val="0"/>
              </a:spcAft>
            </a:pPr>
            <a:r>
              <a:rPr lang="en-US" altLang="en-US" sz="3000" b="1" dirty="0">
                <a:solidFill>
                  <a:srgbClr val="002060"/>
                </a:solidFill>
              </a:rPr>
              <a:t>Data cleaning and feature engineering:</a:t>
            </a:r>
          </a:p>
        </p:txBody>
      </p:sp>
      <p:pic>
        <p:nvPicPr>
          <p:cNvPr id="6" name="Рисунок 5">
            <a:extLst>
              <a:ext uri="{FF2B5EF4-FFF2-40B4-BE49-F238E27FC236}">
                <a16:creationId xmlns:a16="http://schemas.microsoft.com/office/drawing/2014/main" id="{07A9AD1C-FAEC-4650-89B0-8E1D09FC9B65}"/>
              </a:ext>
            </a:extLst>
          </p:cNvPr>
          <p:cNvPicPr>
            <a:picLocks noChangeAspect="1"/>
          </p:cNvPicPr>
          <p:nvPr/>
        </p:nvPicPr>
        <p:blipFill>
          <a:blip r:embed="rId5"/>
          <a:stretch>
            <a:fillRect/>
          </a:stretch>
        </p:blipFill>
        <p:spPr>
          <a:xfrm>
            <a:off x="9105479" y="2095504"/>
            <a:ext cx="8344321" cy="4026927"/>
          </a:xfrm>
          <a:prstGeom prst="rect">
            <a:avLst/>
          </a:prstGeom>
        </p:spPr>
      </p:pic>
    </p:spTree>
    <p:extLst>
      <p:ext uri="{BB962C8B-B14F-4D97-AF65-F5344CB8AC3E}">
        <p14:creationId xmlns:p14="http://schemas.microsoft.com/office/powerpoint/2010/main" val="1430881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reeform 2"/>
          <p:cNvSpPr/>
          <p:nvPr/>
        </p:nvSpPr>
        <p:spPr>
          <a:xfrm flipH="1">
            <a:off x="13144500" y="51435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12" name="Picture 2">
            <a:extLst>
              <a:ext uri="{FF2B5EF4-FFF2-40B4-BE49-F238E27FC236}">
                <a16:creationId xmlns:a16="http://schemas.microsoft.com/office/drawing/2014/main" id="{83B3D08D-E431-4351-A900-5966052993F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D17A11BA-9DCD-4BF1-989A-50EA063E6297}"/>
              </a:ext>
            </a:extLst>
          </p:cNvPr>
          <p:cNvSpPr txBox="1"/>
          <p:nvPr/>
        </p:nvSpPr>
        <p:spPr>
          <a:xfrm>
            <a:off x="304800" y="1257300"/>
            <a:ext cx="15011400" cy="707886"/>
          </a:xfrm>
          <a:prstGeom prst="rect">
            <a:avLst/>
          </a:prstGeom>
          <a:noFill/>
        </p:spPr>
        <p:txBody>
          <a:bodyPr wrap="square">
            <a:spAutoFit/>
          </a:bodyPr>
          <a:lstStyle/>
          <a:p>
            <a:pPr algn="ctr"/>
            <a:r>
              <a:rPr lang="en-US" sz="4000" b="1" dirty="0">
                <a:solidFill>
                  <a:srgbClr val="002060"/>
                </a:solidFill>
                <a:latin typeface="Bahnschrift SemiBold SemiConden" panose="020B0502040204020203" pitchFamily="34" charset="0"/>
              </a:rPr>
              <a:t>Do Borrower Characteristics Affect Interest Rate?</a:t>
            </a:r>
          </a:p>
        </p:txBody>
      </p:sp>
      <p:sp>
        <p:nvSpPr>
          <p:cNvPr id="19" name="TextBox 18">
            <a:extLst>
              <a:ext uri="{FF2B5EF4-FFF2-40B4-BE49-F238E27FC236}">
                <a16:creationId xmlns:a16="http://schemas.microsoft.com/office/drawing/2014/main" id="{6999C7D7-E5E7-493B-8900-253CC353A670}"/>
              </a:ext>
            </a:extLst>
          </p:cNvPr>
          <p:cNvSpPr txBox="1"/>
          <p:nvPr/>
        </p:nvSpPr>
        <p:spPr>
          <a:xfrm>
            <a:off x="228600" y="190500"/>
            <a:ext cx="2133600" cy="707886"/>
          </a:xfrm>
          <a:prstGeom prst="rect">
            <a:avLst/>
          </a:prstGeom>
          <a:noFill/>
        </p:spPr>
        <p:txBody>
          <a:bodyPr wrap="square">
            <a:spAutoFit/>
          </a:bodyPr>
          <a:lstStyle/>
          <a:p>
            <a:r>
              <a:rPr lang="en-US" sz="4000" b="1" dirty="0">
                <a:solidFill>
                  <a:srgbClr val="002060"/>
                </a:solidFill>
                <a:latin typeface="Arial Black" panose="020B0A04020102020204" pitchFamily="34" charset="0"/>
              </a:rPr>
              <a:t>SQ 1</a:t>
            </a:r>
          </a:p>
        </p:txBody>
      </p:sp>
      <p:sp>
        <p:nvSpPr>
          <p:cNvPr id="6" name="Rectangle 2">
            <a:extLst>
              <a:ext uri="{FF2B5EF4-FFF2-40B4-BE49-F238E27FC236}">
                <a16:creationId xmlns:a16="http://schemas.microsoft.com/office/drawing/2014/main" id="{EBED1D7E-CFE3-0886-58B3-06AD02061888}"/>
              </a:ext>
            </a:extLst>
          </p:cNvPr>
          <p:cNvSpPr>
            <a:spLocks noChangeArrowheads="1"/>
          </p:cNvSpPr>
          <p:nvPr/>
        </p:nvSpPr>
        <p:spPr bwMode="auto">
          <a:xfrm>
            <a:off x="533400" y="1866900"/>
            <a:ext cx="87630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0" b="0" i="0" u="none" strike="noStrike" cap="none" normalizeH="0" baseline="0" dirty="0">
              <a:ln>
                <a:noFill/>
              </a:ln>
              <a:solidFill>
                <a:schemeClr val="tx1"/>
              </a:solidFill>
              <a:effectLst/>
              <a:latin typeface="Bahnschrift SemiBold SemiConden"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Bahnschrift SemiBold SemiConden" panose="020B0502040204020203" pitchFamily="34" charset="0"/>
              </a:rPr>
              <a:t>Pricing of loans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Bahnschrift SemiBold SemiConden" panose="020B0502040204020203" pitchFamily="34" charset="0"/>
              </a:rPr>
              <a:t>Role of borrower vs risk classification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0" i="0" u="none" strike="noStrike" cap="none" normalizeH="0" baseline="0" dirty="0">
                <a:ln>
                  <a:noFill/>
                </a:ln>
                <a:solidFill>
                  <a:schemeClr val="tx1"/>
                </a:solidFill>
                <a:effectLst/>
                <a:latin typeface="Bahnschrift SemiBold SemiConden" panose="020B0502040204020203" pitchFamily="34" charset="0"/>
              </a:rPr>
              <a:t>Regression + Tree models </a:t>
            </a:r>
          </a:p>
        </p:txBody>
      </p:sp>
      <p:sp>
        <p:nvSpPr>
          <p:cNvPr id="8" name="TextBox 7">
            <a:extLst>
              <a:ext uri="{FF2B5EF4-FFF2-40B4-BE49-F238E27FC236}">
                <a16:creationId xmlns:a16="http://schemas.microsoft.com/office/drawing/2014/main" id="{13D6BB1A-E7E8-432B-8D2E-7823825521B3}"/>
              </a:ext>
            </a:extLst>
          </p:cNvPr>
          <p:cNvSpPr txBox="1"/>
          <p:nvPr/>
        </p:nvSpPr>
        <p:spPr>
          <a:xfrm>
            <a:off x="8839200" y="2247900"/>
            <a:ext cx="8534400" cy="707886"/>
          </a:xfrm>
          <a:prstGeom prst="rect">
            <a:avLst/>
          </a:prstGeom>
          <a:noFill/>
        </p:spPr>
        <p:txBody>
          <a:bodyPr wrap="square">
            <a:spAutoFit/>
          </a:bodyPr>
          <a:lstStyle/>
          <a:p>
            <a:r>
              <a:rPr lang="en-US" sz="4000" dirty="0">
                <a:solidFill>
                  <a:srgbClr val="FF0000"/>
                </a:solidFill>
                <a:latin typeface="Bahnschrift SemiBold SemiConden" panose="020B0502040204020203" pitchFamily="34" charset="0"/>
              </a:rPr>
              <a:t>Borrower → Loan Grade → Interest Rate</a:t>
            </a:r>
          </a:p>
        </p:txBody>
      </p:sp>
      <p:sp>
        <p:nvSpPr>
          <p:cNvPr id="10" name="TextBox 9">
            <a:extLst>
              <a:ext uri="{FF2B5EF4-FFF2-40B4-BE49-F238E27FC236}">
                <a16:creationId xmlns:a16="http://schemas.microsoft.com/office/drawing/2014/main" id="{514FF371-560B-8B6A-EB11-E852F956D836}"/>
              </a:ext>
            </a:extLst>
          </p:cNvPr>
          <p:cNvSpPr txBox="1"/>
          <p:nvPr/>
        </p:nvSpPr>
        <p:spPr>
          <a:xfrm>
            <a:off x="4572000" y="4597791"/>
            <a:ext cx="9144000" cy="707886"/>
          </a:xfrm>
          <a:prstGeom prst="rect">
            <a:avLst/>
          </a:prstGeom>
          <a:noFill/>
        </p:spPr>
        <p:txBody>
          <a:bodyPr wrap="square">
            <a:spAutoFit/>
          </a:bodyPr>
          <a:lstStyle/>
          <a:p>
            <a:pPr algn="ctr"/>
            <a:r>
              <a:rPr lang="en-US" sz="4000" b="1" dirty="0">
                <a:solidFill>
                  <a:srgbClr val="002060"/>
                </a:solidFill>
                <a:latin typeface="Bahnschrift SemiBold SemiConden" panose="020B0502040204020203" pitchFamily="34" charset="0"/>
              </a:rPr>
              <a:t>Modelling Strategy</a:t>
            </a:r>
          </a:p>
        </p:txBody>
      </p:sp>
      <p:sp>
        <p:nvSpPr>
          <p:cNvPr id="14" name="TextBox 13">
            <a:extLst>
              <a:ext uri="{FF2B5EF4-FFF2-40B4-BE49-F238E27FC236}">
                <a16:creationId xmlns:a16="http://schemas.microsoft.com/office/drawing/2014/main" id="{BF27E80D-4FFB-4BE5-0018-BFAFD03C6A73}"/>
              </a:ext>
            </a:extLst>
          </p:cNvPr>
          <p:cNvSpPr txBox="1"/>
          <p:nvPr/>
        </p:nvSpPr>
        <p:spPr>
          <a:xfrm>
            <a:off x="7162800" y="5524500"/>
            <a:ext cx="9144000" cy="3785652"/>
          </a:xfrm>
          <a:prstGeom prst="rect">
            <a:avLst/>
          </a:prstGeom>
          <a:noFill/>
        </p:spPr>
        <p:txBody>
          <a:bodyPr wrap="square">
            <a:spAutoFit/>
          </a:bodyPr>
          <a:lstStyle/>
          <a:p>
            <a:pPr>
              <a:buNone/>
            </a:pPr>
            <a:r>
              <a:rPr lang="en-US" sz="3000" b="1" dirty="0">
                <a:solidFill>
                  <a:srgbClr val="FF0000"/>
                </a:solidFill>
                <a:latin typeface="Bahnschrift SemiBold SemiConden" panose="020B0502040204020203" pitchFamily="34" charset="0"/>
              </a:rPr>
              <a:t>Approach</a:t>
            </a:r>
            <a:endParaRPr lang="en-US" sz="3000" dirty="0">
              <a:solidFill>
                <a:srgbClr val="FF0000"/>
              </a:solidFill>
              <a:latin typeface="Bahnschrift SemiBold SemiConden" panose="020B0502040204020203" pitchFamily="34" charset="0"/>
            </a:endParaRPr>
          </a:p>
          <a:p>
            <a:pPr>
              <a:buFont typeface="Arial" panose="020B0604020202020204" pitchFamily="34" charset="0"/>
              <a:buChar char="•"/>
            </a:pPr>
            <a:r>
              <a:rPr lang="en-US" sz="3000" dirty="0">
                <a:solidFill>
                  <a:srgbClr val="FF0000"/>
                </a:solidFill>
                <a:latin typeface="Bahnschrift SemiBold SemiConden" panose="020B0502040204020203" pitchFamily="34" charset="0"/>
              </a:rPr>
              <a:t>Multiple Linear Regression </a:t>
            </a:r>
          </a:p>
          <a:p>
            <a:pPr marL="742950" lvl="1" indent="-285750">
              <a:buFont typeface="Arial" panose="020B0604020202020204" pitchFamily="34" charset="0"/>
              <a:buChar char="•"/>
            </a:pPr>
            <a:r>
              <a:rPr lang="en-US" sz="3000" dirty="0">
                <a:solidFill>
                  <a:srgbClr val="FF0000"/>
                </a:solidFill>
                <a:latin typeface="Bahnschrift SemiBold SemiConden" panose="020B0502040204020203" pitchFamily="34" charset="0"/>
              </a:rPr>
              <a:t>Model 1: Borrower variables </a:t>
            </a:r>
          </a:p>
          <a:p>
            <a:pPr marL="742950" lvl="1" indent="-285750">
              <a:buFont typeface="Arial" panose="020B0604020202020204" pitchFamily="34" charset="0"/>
              <a:buChar char="•"/>
            </a:pPr>
            <a:r>
              <a:rPr lang="en-US" sz="3000" dirty="0">
                <a:solidFill>
                  <a:srgbClr val="FF0000"/>
                </a:solidFill>
                <a:latin typeface="Bahnschrift SemiBold SemiConden" panose="020B0502040204020203" pitchFamily="34" charset="0"/>
              </a:rPr>
              <a:t>Model 2: + Loan Grade </a:t>
            </a:r>
          </a:p>
          <a:p>
            <a:pPr>
              <a:buFont typeface="Arial" panose="020B0604020202020204" pitchFamily="34" charset="0"/>
              <a:buChar char="•"/>
            </a:pPr>
            <a:r>
              <a:rPr lang="en-US" sz="3000" dirty="0">
                <a:solidFill>
                  <a:srgbClr val="FF0000"/>
                </a:solidFill>
                <a:latin typeface="Bahnschrift SemiBold SemiConden" panose="020B0502040204020203" pitchFamily="34" charset="0"/>
              </a:rPr>
              <a:t>ANOVA model comparison </a:t>
            </a:r>
          </a:p>
          <a:p>
            <a:pPr>
              <a:buFont typeface="Arial" panose="020B0604020202020204" pitchFamily="34" charset="0"/>
              <a:buChar char="•"/>
            </a:pPr>
            <a:r>
              <a:rPr lang="en-US" sz="3000" dirty="0">
                <a:solidFill>
                  <a:srgbClr val="FF0000"/>
                </a:solidFill>
                <a:latin typeface="Bahnschrift SemiBold SemiConden" panose="020B0502040204020203" pitchFamily="34" charset="0"/>
              </a:rPr>
              <a:t>Regression Trees </a:t>
            </a:r>
          </a:p>
          <a:p>
            <a:pPr marL="742950" lvl="1" indent="-285750">
              <a:buFont typeface="Arial" panose="020B0604020202020204" pitchFamily="34" charset="0"/>
              <a:buChar char="•"/>
            </a:pPr>
            <a:r>
              <a:rPr lang="en-US" sz="3000" dirty="0">
                <a:solidFill>
                  <a:srgbClr val="FF0000"/>
                </a:solidFill>
                <a:latin typeface="Bahnschrift SemiBold SemiConden" panose="020B0502040204020203" pitchFamily="34" charset="0"/>
              </a:rPr>
              <a:t>With loan grade </a:t>
            </a:r>
          </a:p>
          <a:p>
            <a:pPr marL="742950" lvl="1" indent="-285750">
              <a:buFont typeface="Arial" panose="020B0604020202020204" pitchFamily="34" charset="0"/>
              <a:buChar char="•"/>
            </a:pPr>
            <a:r>
              <a:rPr lang="en-US" sz="3000" dirty="0">
                <a:solidFill>
                  <a:srgbClr val="FF0000"/>
                </a:solidFill>
                <a:latin typeface="Bahnschrift SemiBold SemiConden" panose="020B0502040204020203" pitchFamily="34" charset="0"/>
              </a:rPr>
              <a:t>Without loan grade</a:t>
            </a:r>
          </a:p>
        </p:txBody>
      </p:sp>
    </p:spTree>
    <p:extLst>
      <p:ext uri="{BB962C8B-B14F-4D97-AF65-F5344CB8AC3E}">
        <p14:creationId xmlns:p14="http://schemas.microsoft.com/office/powerpoint/2010/main" val="1040147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reeform 2"/>
          <p:cNvSpPr/>
          <p:nvPr/>
        </p:nvSpPr>
        <p:spPr>
          <a:xfrm flipH="1">
            <a:off x="13144500" y="51435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flipH="1">
            <a:off x="8074624" y="3"/>
            <a:ext cx="2437935" cy="1613471"/>
          </a:xfrm>
          <a:custGeom>
            <a:avLst/>
            <a:gdLst/>
            <a:ahLst/>
            <a:cxnLst/>
            <a:rect l="l" t="t" r="r" b="b"/>
            <a:pathLst>
              <a:path w="2437935" h="1613470">
                <a:moveTo>
                  <a:pt x="2437935" y="0"/>
                </a:moveTo>
                <a:lnTo>
                  <a:pt x="0" y="0"/>
                </a:lnTo>
                <a:lnTo>
                  <a:pt x="0" y="1613470"/>
                </a:lnTo>
                <a:lnTo>
                  <a:pt x="2437935" y="1613470"/>
                </a:lnTo>
                <a:lnTo>
                  <a:pt x="2437935"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pic>
        <p:nvPicPr>
          <p:cNvPr id="12" name="Picture 2">
            <a:extLst>
              <a:ext uri="{FF2B5EF4-FFF2-40B4-BE49-F238E27FC236}">
                <a16:creationId xmlns:a16="http://schemas.microsoft.com/office/drawing/2014/main" id="{83B3D08D-E431-4351-A900-5966052993F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647463" y="22863"/>
            <a:ext cx="3640539" cy="242702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D17A11BA-9DCD-4BF1-989A-50EA063E6297}"/>
              </a:ext>
            </a:extLst>
          </p:cNvPr>
          <p:cNvSpPr txBox="1"/>
          <p:nvPr/>
        </p:nvSpPr>
        <p:spPr>
          <a:xfrm>
            <a:off x="0" y="1257301"/>
            <a:ext cx="15011400" cy="707886"/>
          </a:xfrm>
          <a:prstGeom prst="rect">
            <a:avLst/>
          </a:prstGeom>
          <a:noFill/>
        </p:spPr>
        <p:txBody>
          <a:bodyPr wrap="square">
            <a:spAutoFit/>
          </a:bodyPr>
          <a:lstStyle/>
          <a:p>
            <a:pPr algn="ctr"/>
            <a:r>
              <a:rPr lang="en-US" sz="4000" b="1" dirty="0">
                <a:solidFill>
                  <a:srgbClr val="002060"/>
                </a:solidFill>
                <a:latin typeface="Arial Black" panose="020B0A04020102020204" pitchFamily="34" charset="0"/>
              </a:rPr>
              <a:t>Do Borrower Characteristics Affect Interest Rate?</a:t>
            </a:r>
          </a:p>
        </p:txBody>
      </p:sp>
      <p:sp>
        <p:nvSpPr>
          <p:cNvPr id="19" name="TextBox 18">
            <a:extLst>
              <a:ext uri="{FF2B5EF4-FFF2-40B4-BE49-F238E27FC236}">
                <a16:creationId xmlns:a16="http://schemas.microsoft.com/office/drawing/2014/main" id="{6999C7D7-E5E7-493B-8900-253CC353A670}"/>
              </a:ext>
            </a:extLst>
          </p:cNvPr>
          <p:cNvSpPr txBox="1"/>
          <p:nvPr/>
        </p:nvSpPr>
        <p:spPr>
          <a:xfrm>
            <a:off x="685801" y="419100"/>
            <a:ext cx="11083159" cy="707886"/>
          </a:xfrm>
          <a:prstGeom prst="rect">
            <a:avLst/>
          </a:prstGeom>
          <a:noFill/>
        </p:spPr>
        <p:txBody>
          <a:bodyPr wrap="square">
            <a:spAutoFit/>
          </a:bodyPr>
          <a:lstStyle/>
          <a:p>
            <a:r>
              <a:rPr lang="en-US" sz="4000" b="1" dirty="0">
                <a:solidFill>
                  <a:srgbClr val="002060"/>
                </a:solidFill>
                <a:latin typeface="Arial Black" panose="020B0A04020102020204" pitchFamily="34" charset="0"/>
              </a:rPr>
              <a:t>Smart question 1:</a:t>
            </a:r>
          </a:p>
        </p:txBody>
      </p:sp>
      <p:sp>
        <p:nvSpPr>
          <p:cNvPr id="10" name="TextBox 9">
            <a:extLst>
              <a:ext uri="{FF2B5EF4-FFF2-40B4-BE49-F238E27FC236}">
                <a16:creationId xmlns:a16="http://schemas.microsoft.com/office/drawing/2014/main" id="{6FB433C1-91B9-4DFD-8C2E-B65DB9A2BA36}"/>
              </a:ext>
            </a:extLst>
          </p:cNvPr>
          <p:cNvSpPr txBox="1"/>
          <p:nvPr/>
        </p:nvSpPr>
        <p:spPr>
          <a:xfrm>
            <a:off x="6858000" y="5067300"/>
            <a:ext cx="11090030" cy="707886"/>
          </a:xfrm>
          <a:prstGeom prst="rect">
            <a:avLst/>
          </a:prstGeom>
          <a:noFill/>
        </p:spPr>
        <p:txBody>
          <a:bodyPr wrap="square">
            <a:spAutoFit/>
          </a:bodyPr>
          <a:lstStyle/>
          <a:p>
            <a:r>
              <a:rPr lang="en-US" sz="4000" dirty="0">
                <a:latin typeface="Bahnschrift Condensed" panose="020B0502040204020203" pitchFamily="34" charset="0"/>
              </a:rPr>
              <a:t>Correlation Analysis</a:t>
            </a:r>
          </a:p>
        </p:txBody>
      </p:sp>
    </p:spTree>
    <p:extLst>
      <p:ext uri="{BB962C8B-B14F-4D97-AF65-F5344CB8AC3E}">
        <p14:creationId xmlns:p14="http://schemas.microsoft.com/office/powerpoint/2010/main" val="26538325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TotalTime>
  <Words>454</Words>
  <Application>Microsoft Office PowerPoint</Application>
  <PresentationFormat>Произвольный</PresentationFormat>
  <Paragraphs>43</Paragraphs>
  <Slides>6</Slides>
  <Notes>0</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6</vt:i4>
      </vt:variant>
    </vt:vector>
  </HeadingPairs>
  <TitlesOfParts>
    <vt:vector size="14" baseType="lpstr">
      <vt:lpstr>Arial Black</vt:lpstr>
      <vt:lpstr>Arial</vt:lpstr>
      <vt:lpstr>Bahnschrift SemiBold SemiConden</vt:lpstr>
      <vt:lpstr>Bahnschrift Light</vt:lpstr>
      <vt:lpstr>Bahnschrift Condensed</vt:lpstr>
      <vt:lpstr>Wingdings</vt:lpstr>
      <vt:lpstr>Calibri</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Gradient Technology Company Profile Presentation</dc:title>
  <dc:creator>m-jumanazarov</dc:creator>
  <cp:lastModifiedBy>Ulugbek Islomov</cp:lastModifiedBy>
  <cp:revision>21</cp:revision>
  <dcterms:created xsi:type="dcterms:W3CDTF">2006-08-16T00:00:00Z</dcterms:created>
  <dcterms:modified xsi:type="dcterms:W3CDTF">2026-04-08T16:37:19Z</dcterms:modified>
  <dc:identifier>DAG1Y6K5Lng</dc:identifier>
</cp:coreProperties>
</file>