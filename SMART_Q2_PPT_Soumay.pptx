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76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w_logo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82296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" y="182880"/>
            <a:ext cx="137160" cy="1371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QUESTION 2: CAN WE PREDICT LOAN DEFAULT?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20040" y="594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to estimate probability of loan default using borrower demographics and financial variables.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Variable:</a:t>
            </a: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loan_status (0 = No Default, 1 = Default)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problem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3042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Logistic Regression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7797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Income, Emp. Length, Home Ownership, Loan Amount, Interest Rate, Loan % Income, Age, Credit History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2552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70% Train / 30% Test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4389120"/>
            <a:ext cx="1188720" cy="50292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5760" y="4389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554480" y="4636008"/>
            <a:ext cx="18288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737360" y="4389120"/>
            <a:ext cx="1188720" cy="50292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737360" y="4389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926080" y="4636008"/>
            <a:ext cx="18288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108960" y="4389120"/>
            <a:ext cx="1188720" cy="502920"/>
          </a:xfrm>
          <a:prstGeom prst="roundRect">
            <a:avLst/>
          </a:prstGeom>
          <a:solidFill>
            <a:srgbClr val="0020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108960" y="4389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Default?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Code: str() / head() / colSums(is.na()) ]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BE7E60A-1FD9-74C5-2146-9278B9EE9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387" y="657595"/>
            <a:ext cx="3538025" cy="23424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50F5325-1391-DB28-7EBA-FF9AFFAA6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925" y="3063239"/>
            <a:ext cx="2482948" cy="16398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w_logo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82296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" y="182880"/>
            <a:ext cx="137160" cy="1371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structure the data before modeling.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credit_risk_dataset.csv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9751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 → removed with na.omit()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loan_status → factor  (R needs categorical for classification)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999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vars → factors: home_ownership, loan_intent, loan_grade, cb_default_on_file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5112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Split: 70% train / 30% test | set.seed(123)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1546540"/>
            <a:ext cx="4389120" cy="2047755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str(), head(), dim(train_data), dim(test_data) ]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768F4C-189A-59BB-E7BD-98A18DB66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982" y="1653860"/>
            <a:ext cx="4302836" cy="18574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w_logo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82296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" y="182880"/>
            <a:ext cx="137160" cy="1371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MODEL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glm() with family = binomial trains the model on 70% of data.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variable is binary → Logistic Regression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9751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probability (0 to 1) of default for each borrower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0.5 → probability &gt; 0.5 classified as Default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999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predictors: income, emp. length, home ownership, loan amt, interest rate, % income, age, credit history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5112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summary(model_logit) shows which variables are significant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summary(model_logit) ]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84FDD67-0402-63F5-ECC2-7A62889DF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58368"/>
            <a:ext cx="403093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w_logo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82296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" y="182880"/>
            <a:ext cx="137160" cy="1371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predictions into 4 categories to reveal what kind of mistakes the model makes.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4630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 (TN):  </a:t>
            </a: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safe → Actually safe ✓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20116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(TP):  </a:t>
            </a: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default → Actually default 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5603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(FP):  </a:t>
            </a: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default → Actually safe  (False Alarm)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31089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(FN):  </a:t>
            </a: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safe → Actually default  (Missed!)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703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banks — FN is the costliest mistake (missed defaults = lost money)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confusionMatrix() ]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0178E9-A384-BA96-161F-6C9D9C6C2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97" y="731520"/>
            <a:ext cx="3970606" cy="3964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w_logo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82296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" y="182880"/>
            <a:ext cx="137160" cy="1371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metrics give a complete picture of model performance.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84.39%:  </a:t>
            </a: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9751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44.89%:  </a:t>
            </a: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flag a default, we're right 44.89% of the time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72.55%:  </a:t>
            </a: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catch 72.55% of actual defaults,</a:t>
            </a:r>
          </a:p>
          <a:p>
            <a:pPr>
              <a:buSzPct val="100000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miss 27.45%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999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 0.5546:  </a:t>
            </a: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measure combining precision &amp; recall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5112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 0.8478:  </a:t>
            </a: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discrimination between defaulters and non-defaulters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0" y="594360"/>
            <a:ext cx="4058529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Accuracy / Precision / Recall / F1-Score printout ]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F31E10-92B7-25A5-3C6F-4DBE6645B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590" y="707956"/>
            <a:ext cx="3753619" cy="40156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w_logo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82296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" y="182880"/>
            <a:ext cx="137160" cy="1371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&amp; AUC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 curve evaluates model performance across all possible thresholds, not just 0.5.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False Positive Rate  |  Y-axis: True Positive Rate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9751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line = random guessing (AUC = 0.5)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curve bends toward top-left → better than random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9992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0.5 → random  |  AUC = 1.0 → perfect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5112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AUC = 0.8478 → Good model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705142"/>
            <a:ext cx="4389120" cy="3843997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ROC Curve plot from R ]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186647-AC4F-F34C-ECF9-88ABFA5B4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823" y="868680"/>
            <a:ext cx="4223154" cy="35696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w_logo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82296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" y="182880"/>
            <a:ext cx="137160" cy="1371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FACTORS – ODDS RATIOS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ratios show which variables increase or decrease default risk.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&gt; 1 → Increases Risk   |   Odds Ratio &lt; 1 → Decreases Risk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Interest Rate - strongest risk increaser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2951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Loan % of Income - higher burden = higher risk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807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Home Ownership - owners are more financially stable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3192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Employment Length -  longer tenure = lower risk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" y="38313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Loan Amount - slight protective effect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Odds Ratios table / exp(coef()) ]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28276B-E96F-1B82-1A56-7050F247B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691" y="1046833"/>
            <a:ext cx="4139418" cy="3347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w_logo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82296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" y="182880"/>
            <a:ext cx="137160" cy="1371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VS. RECALL TRADE-OFF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banks, missing a real default is more costly than a false alarm.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46304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44.89% → 55.11% of flagged loans are false alarms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193852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72.55% → we miss 27.45% of actual defaults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4140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Positive: bank reviews a safe loan → minor cost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88950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Negative: bank misses a default → loses principal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3649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lower threshold (0.5 → 0.4) to improve recall, but creates more false alarms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0040" y="38404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is the best single metric here, balances both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34840" y="594360"/>
            <a:ext cx="43891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Output: Precision / Recall / F1 printout ]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2540E6-87CB-BA8A-304B-FCF5046F0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310" y="706901"/>
            <a:ext cx="4282179" cy="40725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gw_logo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91440"/>
            <a:ext cx="82296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032" y="182880"/>
            <a:ext cx="137160" cy="13716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an effective baseline model for loan default prediction.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14630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84.39% accuracy and AUC 0.8478 → strong predictive performance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011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and loan-to-income ratio are the strongest default risk drivers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5603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and longer-employed borrowers show significantly lower default risk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0040" y="3108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72.55% → model still misses 27.45% of actual defaults (main limitation)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" y="3657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can use predicted probabilities to prescreen applicants and set interest rates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43434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Try Random Forest / Gradient Boosting  |  Optimize threshold  |  Cross-validation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91BF8B879F044A80A81A6641A4B8CB" ma:contentTypeVersion="4" ma:contentTypeDescription="Create a new document." ma:contentTypeScope="" ma:versionID="542fcdfbe29133e16f3e9cd192cd40e8">
  <xsd:schema xmlns:xsd="http://www.w3.org/2001/XMLSchema" xmlns:xs="http://www.w3.org/2001/XMLSchema" xmlns:p="http://schemas.microsoft.com/office/2006/metadata/properties" xmlns:ns3="d19fc63f-5e83-4a05-8803-ca95133313ac" targetNamespace="http://schemas.microsoft.com/office/2006/metadata/properties" ma:root="true" ma:fieldsID="31bdb394495f6b8caea86b8d39868769" ns3:_="">
    <xsd:import namespace="d19fc63f-5e83-4a05-8803-ca95133313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9fc63f-5e83-4a05-8803-ca95133313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8B34B2-01AC-4EF9-A8A4-B92A3A99C5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9fc63f-5e83-4a05-8803-ca95133313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8570DE-5EF9-4A02-A4A7-AE7CBFB47C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26C3DD-C9B2-4DCA-B193-5DA5403885F6}">
  <ds:schemaRefs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d19fc63f-5e83-4a05-8803-ca95133313ac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828</Words>
  <Application>Microsoft Office PowerPoint</Application>
  <PresentationFormat>On-screen Show (16:9)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Soumay Patidar</dc:creator>
  <cp:lastModifiedBy>Patidar, Soumay</cp:lastModifiedBy>
  <cp:revision>5</cp:revision>
  <dcterms:created xsi:type="dcterms:W3CDTF">2026-04-18T05:16:24Z</dcterms:created>
  <dcterms:modified xsi:type="dcterms:W3CDTF">2026-04-18T23:33:05Z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0x010100A991BF8B879F044A80A81A6641A4B8CB</vt:lpwstr>
  </property>
</Properties>
</file>