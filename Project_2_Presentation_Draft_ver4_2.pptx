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60" r:id="rId2"/>
    <p:sldId id="274" r:id="rId3"/>
    <p:sldId id="285"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86" r:id="rId18"/>
  </p:sldIdLst>
  <p:sldSz cx="18288000" cy="10287000"/>
  <p:notesSz cx="6858000" cy="9144000"/>
  <p:embeddedFontLst>
    <p:embeddedFont>
      <p:font typeface="Bahnschrift Condensed" panose="020B0502040204020203" pitchFamily="34" charset="0"/>
      <p:regular r:id="rId20"/>
      <p:bold r:id="rId21"/>
    </p:embeddedFont>
    <p:embeddedFont>
      <p:font typeface="Bahnschrift Light" panose="020B0502040204020203" pitchFamily="3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730" y="26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99EA91-46D7-4169-B221-2452D7CF4D25}" type="datetimeFigureOut">
              <a:rPr lang="en-US" smtClean="0"/>
              <a:t>4/19/2026</a:t>
            </a:fld>
            <a:endParaRPr lang="en-US"/>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34BE23-73F1-4227-A493-4D28F429C129}" type="slidenum">
              <a:rPr lang="en-US" smtClean="0"/>
              <a:t>‹#›</a:t>
            </a:fld>
            <a:endParaRPr lang="en-US"/>
          </a:p>
        </p:txBody>
      </p:sp>
    </p:spTree>
    <p:extLst>
      <p:ext uri="{BB962C8B-B14F-4D97-AF65-F5344CB8AC3E}">
        <p14:creationId xmlns:p14="http://schemas.microsoft.com/office/powerpoint/2010/main" val="2118752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3"/>
            <a:ext cx="4040188"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4"/>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4"/>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4"/>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4/19/2026</a:t>
            </a:fld>
            <a:endParaRPr lang="en-US"/>
          </a:p>
        </p:txBody>
      </p:sp>
      <p:sp>
        <p:nvSpPr>
          <p:cNvPr id="5"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svg"/><Relationship Id="rId5" Type="http://schemas.openxmlformats.org/officeDocument/2006/relationships/image" Target="../media/image8.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1.sv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svg"/><Relationship Id="rId5" Type="http://schemas.openxmlformats.org/officeDocument/2006/relationships/image" Target="../media/image2.sv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4.png"/><Relationship Id="rId4" Type="http://schemas.openxmlformats.org/officeDocument/2006/relationships/image" Target="../media/image1.sv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2.sv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sv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sv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sv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sv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sv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83B3D08D-E431-4351-A900-5966052993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17A11BA-9DCD-4BF1-989A-50EA063E6297}"/>
              </a:ext>
            </a:extLst>
          </p:cNvPr>
          <p:cNvSpPr txBox="1"/>
          <p:nvPr/>
        </p:nvSpPr>
        <p:spPr>
          <a:xfrm>
            <a:off x="533400" y="2400300"/>
            <a:ext cx="15240000" cy="2585323"/>
          </a:xfrm>
          <a:prstGeom prst="rect">
            <a:avLst/>
          </a:prstGeom>
          <a:noFill/>
        </p:spPr>
        <p:txBody>
          <a:bodyPr wrap="square">
            <a:spAutoFit/>
          </a:bodyPr>
          <a:lstStyle/>
          <a:p>
            <a:pPr algn="ctr"/>
            <a:r>
              <a:rPr lang="en-US" sz="5400" dirty="0">
                <a:solidFill>
                  <a:srgbClr val="002060"/>
                </a:solidFill>
                <a:latin typeface="Bahnschrift Condensed" panose="020B0502040204020203" pitchFamily="34" charset="0"/>
              </a:rPr>
              <a:t>PROJECT 2:</a:t>
            </a:r>
          </a:p>
          <a:p>
            <a:pPr algn="ctr"/>
            <a:r>
              <a:rPr lang="en-US" sz="5400" dirty="0">
                <a:solidFill>
                  <a:srgbClr val="002060"/>
                </a:solidFill>
                <a:latin typeface="Bahnschrift Condensed" panose="020B0502040204020203" pitchFamily="34" charset="0"/>
              </a:rPr>
              <a:t>IMPLEMENTING REGRESSION-BASED AND                               CLASSIFICATION MODELING TECHNIQUES</a:t>
            </a:r>
          </a:p>
        </p:txBody>
      </p:sp>
      <p:grpSp>
        <p:nvGrpSpPr>
          <p:cNvPr id="14" name="Группа 13">
            <a:extLst>
              <a:ext uri="{FF2B5EF4-FFF2-40B4-BE49-F238E27FC236}">
                <a16:creationId xmlns:a16="http://schemas.microsoft.com/office/drawing/2014/main" id="{663E50E1-FFD3-4213-8FE9-77A5DC9747D0}"/>
              </a:ext>
            </a:extLst>
          </p:cNvPr>
          <p:cNvGrpSpPr/>
          <p:nvPr/>
        </p:nvGrpSpPr>
        <p:grpSpPr>
          <a:xfrm>
            <a:off x="2819400" y="7200900"/>
            <a:ext cx="12715640" cy="805001"/>
            <a:chOff x="4367650" y="8366534"/>
            <a:chExt cx="10963040" cy="805001"/>
          </a:xfrm>
        </p:grpSpPr>
        <p:sp>
          <p:nvSpPr>
            <p:cNvPr id="15" name="TextBox 14">
              <a:extLst>
                <a:ext uri="{FF2B5EF4-FFF2-40B4-BE49-F238E27FC236}">
                  <a16:creationId xmlns:a16="http://schemas.microsoft.com/office/drawing/2014/main" id="{C42F1CA1-EE39-4596-ACF7-E988F2A456F4}"/>
                </a:ext>
              </a:extLst>
            </p:cNvPr>
            <p:cNvSpPr txBox="1"/>
            <p:nvPr/>
          </p:nvSpPr>
          <p:spPr>
            <a:xfrm>
              <a:off x="4367650" y="8463649"/>
              <a:ext cx="3595348" cy="707886"/>
            </a:xfrm>
            <a:prstGeom prst="rect">
              <a:avLst/>
            </a:prstGeom>
            <a:noFill/>
          </p:spPr>
          <p:txBody>
            <a:bodyPr wrap="square">
              <a:spAutoFit/>
            </a:bodyPr>
            <a:lstStyle/>
            <a:p>
              <a:pPr algn="just"/>
              <a:r>
                <a:rPr lang="en-US" sz="4000" u="sng" dirty="0">
                  <a:solidFill>
                    <a:srgbClr val="FF0000"/>
                  </a:solidFill>
                  <a:latin typeface="Bahnschrift Condensed" panose="020B0502040204020203" pitchFamily="34" charset="0"/>
                </a:rPr>
                <a:t>Ulugbek Islomov</a:t>
              </a:r>
            </a:p>
          </p:txBody>
        </p:sp>
        <p:sp>
          <p:nvSpPr>
            <p:cNvPr id="16" name="TextBox 15">
              <a:extLst>
                <a:ext uri="{FF2B5EF4-FFF2-40B4-BE49-F238E27FC236}">
                  <a16:creationId xmlns:a16="http://schemas.microsoft.com/office/drawing/2014/main" id="{26B6B655-E663-45F7-A787-089521DECBF4}"/>
                </a:ext>
              </a:extLst>
            </p:cNvPr>
            <p:cNvSpPr txBox="1"/>
            <p:nvPr/>
          </p:nvSpPr>
          <p:spPr>
            <a:xfrm>
              <a:off x="8139994" y="8423765"/>
              <a:ext cx="3595348" cy="707886"/>
            </a:xfrm>
            <a:prstGeom prst="rect">
              <a:avLst/>
            </a:prstGeom>
            <a:noFill/>
          </p:spPr>
          <p:txBody>
            <a:bodyPr wrap="square">
              <a:spAutoFit/>
            </a:bodyPr>
            <a:lstStyle/>
            <a:p>
              <a:pPr algn="just"/>
              <a:r>
                <a:rPr lang="en-US" sz="4000" u="sng" dirty="0">
                  <a:solidFill>
                    <a:srgbClr val="FF0000"/>
                  </a:solidFill>
                  <a:latin typeface="Bahnschrift Condensed" panose="020B0502040204020203" pitchFamily="34" charset="0"/>
                </a:rPr>
                <a:t>Maurice Goode</a:t>
              </a:r>
            </a:p>
          </p:txBody>
        </p:sp>
        <p:sp>
          <p:nvSpPr>
            <p:cNvPr id="17" name="TextBox 16">
              <a:extLst>
                <a:ext uri="{FF2B5EF4-FFF2-40B4-BE49-F238E27FC236}">
                  <a16:creationId xmlns:a16="http://schemas.microsoft.com/office/drawing/2014/main" id="{AC879947-2BB1-4F21-B361-14A974AEE726}"/>
                </a:ext>
              </a:extLst>
            </p:cNvPr>
            <p:cNvSpPr txBox="1"/>
            <p:nvPr/>
          </p:nvSpPr>
          <p:spPr>
            <a:xfrm>
              <a:off x="11735342" y="8366534"/>
              <a:ext cx="3595348" cy="707886"/>
            </a:xfrm>
            <a:prstGeom prst="rect">
              <a:avLst/>
            </a:prstGeom>
            <a:noFill/>
          </p:spPr>
          <p:txBody>
            <a:bodyPr wrap="square">
              <a:spAutoFit/>
            </a:bodyPr>
            <a:lstStyle/>
            <a:p>
              <a:pPr algn="just"/>
              <a:r>
                <a:rPr lang="en-US" sz="4000" u="sng" dirty="0" err="1">
                  <a:solidFill>
                    <a:srgbClr val="FF0000"/>
                  </a:solidFill>
                  <a:latin typeface="Bahnschrift Condensed" panose="020B0502040204020203" pitchFamily="34" charset="0"/>
                </a:rPr>
                <a:t>Soumae</a:t>
              </a:r>
              <a:r>
                <a:rPr lang="en-US" sz="4000" u="sng" dirty="0">
                  <a:solidFill>
                    <a:srgbClr val="FF0000"/>
                  </a:solidFill>
                  <a:latin typeface="Bahnschrift Condensed" panose="020B0502040204020203" pitchFamily="34" charset="0"/>
                </a:rPr>
                <a:t> Patidar</a:t>
              </a:r>
            </a:p>
          </p:txBody>
        </p:sp>
      </p:grpSp>
      <p:sp>
        <p:nvSpPr>
          <p:cNvPr id="19" name="TextBox 18">
            <a:extLst>
              <a:ext uri="{FF2B5EF4-FFF2-40B4-BE49-F238E27FC236}">
                <a16:creationId xmlns:a16="http://schemas.microsoft.com/office/drawing/2014/main" id="{6999C7D7-E5E7-493B-8900-253CC353A670}"/>
              </a:ext>
            </a:extLst>
          </p:cNvPr>
          <p:cNvSpPr txBox="1"/>
          <p:nvPr/>
        </p:nvSpPr>
        <p:spPr>
          <a:xfrm>
            <a:off x="685801" y="419100"/>
            <a:ext cx="11083159" cy="923330"/>
          </a:xfrm>
          <a:prstGeom prst="rect">
            <a:avLst/>
          </a:prstGeom>
          <a:noFill/>
        </p:spPr>
        <p:txBody>
          <a:bodyPr wrap="square">
            <a:spAutoFit/>
          </a:bodyPr>
          <a:lstStyle/>
          <a:p>
            <a:r>
              <a:rPr lang="en-US" sz="5400" b="1" dirty="0">
                <a:solidFill>
                  <a:srgbClr val="FF0000"/>
                </a:solidFill>
                <a:latin typeface="Bahnschrift Condensed" panose="020B0502040204020203" pitchFamily="34" charset="0"/>
              </a:rPr>
              <a:t>Group Presentation</a:t>
            </a:r>
          </a:p>
        </p:txBody>
      </p:sp>
      <p:pic>
        <p:nvPicPr>
          <p:cNvPr id="20" name="Picture 4">
            <a:extLst>
              <a:ext uri="{FF2B5EF4-FFF2-40B4-BE49-F238E27FC236}">
                <a16:creationId xmlns:a16="http://schemas.microsoft.com/office/drawing/2014/main" id="{44AEC818-E6E1-4048-89BB-984052170A6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43599" y="5219700"/>
            <a:ext cx="5418665"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0391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482EDC-51C7-C0CA-BEB6-FD37F92FB01A}"/>
            </a:ext>
          </a:extLst>
        </p:cNvPr>
        <p:cNvGrpSpPr/>
        <p:nvPr/>
      </p:nvGrpSpPr>
      <p:grpSpPr>
        <a:xfrm>
          <a:off x="0" y="0"/>
          <a:ext cx="0" cy="0"/>
          <a:chOff x="0" y="0"/>
          <a:chExt cx="0" cy="0"/>
        </a:xfrm>
      </p:grpSpPr>
      <p:pic>
        <p:nvPicPr>
          <p:cNvPr id="9" name="Рисунок 8">
            <a:extLst>
              <a:ext uri="{FF2B5EF4-FFF2-40B4-BE49-F238E27FC236}">
                <a16:creationId xmlns:a16="http://schemas.microsoft.com/office/drawing/2014/main" id="{11AC0C57-C7AB-205E-8AC1-054083A49116}"/>
              </a:ext>
            </a:extLst>
          </p:cNvPr>
          <p:cNvPicPr>
            <a:picLocks noChangeAspect="1"/>
          </p:cNvPicPr>
          <p:nvPr/>
        </p:nvPicPr>
        <p:blipFill>
          <a:blip r:embed="rId2"/>
          <a:stretch>
            <a:fillRect/>
          </a:stretch>
        </p:blipFill>
        <p:spPr>
          <a:xfrm>
            <a:off x="457200" y="3429000"/>
            <a:ext cx="7617856" cy="5993583"/>
          </a:xfrm>
          <a:prstGeom prst="rect">
            <a:avLst/>
          </a:prstGeom>
        </p:spPr>
      </p:pic>
      <p:pic>
        <p:nvPicPr>
          <p:cNvPr id="13" name="Рисунок 12">
            <a:extLst>
              <a:ext uri="{FF2B5EF4-FFF2-40B4-BE49-F238E27FC236}">
                <a16:creationId xmlns:a16="http://schemas.microsoft.com/office/drawing/2014/main" id="{4D8366A4-E168-FF1B-A1DA-35889801F225}"/>
              </a:ext>
            </a:extLst>
          </p:cNvPr>
          <p:cNvPicPr>
            <a:picLocks noChangeAspect="1"/>
          </p:cNvPicPr>
          <p:nvPr/>
        </p:nvPicPr>
        <p:blipFill>
          <a:blip r:embed="rId3"/>
          <a:stretch>
            <a:fillRect/>
          </a:stretch>
        </p:blipFill>
        <p:spPr>
          <a:xfrm>
            <a:off x="7543800" y="6591300"/>
            <a:ext cx="4791967" cy="2825115"/>
          </a:xfrm>
          <a:prstGeom prst="rect">
            <a:avLst/>
          </a:prstGeom>
        </p:spPr>
      </p:pic>
      <p:pic>
        <p:nvPicPr>
          <p:cNvPr id="12" name="Picture 2">
            <a:extLst>
              <a:ext uri="{FF2B5EF4-FFF2-40B4-BE49-F238E27FC236}">
                <a16:creationId xmlns:a16="http://schemas.microsoft.com/office/drawing/2014/main" id="{7A611D64-15D7-FB4D-B374-DE9A77BCD8E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5CC51CA2-EABF-9A3A-6C7F-FB6F879C2A94}"/>
              </a:ext>
            </a:extLst>
          </p:cNvPr>
          <p:cNvSpPr txBox="1"/>
          <p:nvPr/>
        </p:nvSpPr>
        <p:spPr>
          <a:xfrm>
            <a:off x="685801" y="419100"/>
            <a:ext cx="11083159" cy="646331"/>
          </a:xfrm>
          <a:prstGeom prst="rect">
            <a:avLst/>
          </a:prstGeom>
          <a:noFill/>
        </p:spPr>
        <p:txBody>
          <a:bodyPr wrap="square">
            <a:spAutoFit/>
          </a:bodyPr>
          <a:lstStyle/>
          <a:p>
            <a:pPr indent="-457200" fontAlgn="base">
              <a:spcBef>
                <a:spcPct val="0"/>
              </a:spcBef>
              <a:spcAft>
                <a:spcPct val="0"/>
              </a:spcAft>
              <a:buFont typeface="Arial" panose="020B0604020202020204" pitchFamily="34" charset="0"/>
              <a:buChar char="•"/>
            </a:pPr>
            <a:r>
              <a:rPr lang="en-US" sz="3600" b="1" u="sng" dirty="0">
                <a:solidFill>
                  <a:srgbClr val="FF0000"/>
                </a:solidFill>
                <a:latin typeface="Bahnschrift Condensed" panose="020B0502040204020203" pitchFamily="34" charset="0"/>
              </a:rPr>
              <a:t>INTRO</a:t>
            </a:r>
          </a:p>
        </p:txBody>
      </p:sp>
      <p:sp>
        <p:nvSpPr>
          <p:cNvPr id="2" name="Freeform 2">
            <a:extLst>
              <a:ext uri="{FF2B5EF4-FFF2-40B4-BE49-F238E27FC236}">
                <a16:creationId xmlns:a16="http://schemas.microsoft.com/office/drawing/2014/main" id="{EE0F01EB-AB67-8A3B-13AD-92C8DFFE5CB7}"/>
              </a:ext>
            </a:extLst>
          </p:cNvPr>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a:extLst>
              <a:ext uri="{FF2B5EF4-FFF2-40B4-BE49-F238E27FC236}">
                <a16:creationId xmlns:a16="http://schemas.microsoft.com/office/drawing/2014/main" id="{9B66A6B4-0CA0-9B56-6076-61AE8AB7AFE6}"/>
              </a:ext>
            </a:extLst>
          </p:cNvPr>
          <p:cNvSpPr txBox="1"/>
          <p:nvPr/>
        </p:nvSpPr>
        <p:spPr>
          <a:xfrm>
            <a:off x="6324600" y="1028700"/>
            <a:ext cx="6096000" cy="1938992"/>
          </a:xfrm>
          <a:prstGeom prst="rect">
            <a:avLst/>
          </a:prstGeom>
          <a:noFill/>
        </p:spPr>
        <p:txBody>
          <a:bodyPr wrap="square">
            <a:spAutoFit/>
          </a:bodyPr>
          <a:lstStyle/>
          <a:p>
            <a:pPr fontAlgn="base">
              <a:spcBef>
                <a:spcPct val="0"/>
              </a:spcBef>
              <a:spcAft>
                <a:spcPct val="0"/>
              </a:spcAft>
            </a:pPr>
            <a:r>
              <a:rPr lang="en-US" sz="3000" dirty="0">
                <a:solidFill>
                  <a:srgbClr val="FF0000"/>
                </a:solidFill>
                <a:latin typeface="Bahnschrift Condensed" panose="020B0502040204020203" pitchFamily="34" charset="0"/>
              </a:rPr>
              <a:t>Objective</a:t>
            </a:r>
          </a:p>
          <a:p>
            <a:pPr indent="-457200" fontAlgn="base">
              <a:spcBef>
                <a:spcPct val="0"/>
              </a:spcBef>
              <a:spcAft>
                <a:spcPct val="0"/>
              </a:spcAft>
              <a:buFont typeface="Arial" panose="020B0604020202020204" pitchFamily="34" charset="0"/>
              <a:buChar char="•"/>
            </a:pPr>
            <a:r>
              <a:rPr lang="en-US" sz="3000" dirty="0">
                <a:solidFill>
                  <a:schemeClr val="tx2"/>
                </a:solidFill>
                <a:latin typeface="Bahnschrift Condensed" panose="020B0502040204020203" pitchFamily="34" charset="0"/>
              </a:rPr>
              <a:t>Understand pricing (interest rate) </a:t>
            </a:r>
          </a:p>
          <a:p>
            <a:pPr indent="-457200" fontAlgn="base">
              <a:spcBef>
                <a:spcPct val="0"/>
              </a:spcBef>
              <a:spcAft>
                <a:spcPct val="0"/>
              </a:spcAft>
              <a:buFont typeface="Arial" panose="020B0604020202020204" pitchFamily="34" charset="0"/>
              <a:buChar char="•"/>
            </a:pPr>
            <a:r>
              <a:rPr lang="en-US" sz="3000" dirty="0">
                <a:solidFill>
                  <a:schemeClr val="tx2"/>
                </a:solidFill>
                <a:latin typeface="Bahnschrift Condensed" panose="020B0502040204020203" pitchFamily="34" charset="0"/>
              </a:rPr>
              <a:t>Predict default risk </a:t>
            </a:r>
          </a:p>
          <a:p>
            <a:pPr indent="-457200" fontAlgn="base">
              <a:spcBef>
                <a:spcPct val="0"/>
              </a:spcBef>
              <a:spcAft>
                <a:spcPct val="0"/>
              </a:spcAft>
              <a:buFont typeface="Arial" panose="020B0604020202020204" pitchFamily="34" charset="0"/>
              <a:buChar char="•"/>
            </a:pPr>
            <a:r>
              <a:rPr lang="en-US" sz="3000" dirty="0">
                <a:solidFill>
                  <a:schemeClr val="tx2"/>
                </a:solidFill>
                <a:latin typeface="Bahnschrift Condensed" panose="020B0502040204020203" pitchFamily="34" charset="0"/>
              </a:rPr>
              <a:t>Analyze pricing–risk relationship </a:t>
            </a:r>
          </a:p>
        </p:txBody>
      </p:sp>
      <p:sp>
        <p:nvSpPr>
          <p:cNvPr id="10" name="TextBox 9">
            <a:extLst>
              <a:ext uri="{FF2B5EF4-FFF2-40B4-BE49-F238E27FC236}">
                <a16:creationId xmlns:a16="http://schemas.microsoft.com/office/drawing/2014/main" id="{98ADA9C0-E200-73AD-64CF-3F670E8ADD8A}"/>
              </a:ext>
            </a:extLst>
          </p:cNvPr>
          <p:cNvSpPr txBox="1"/>
          <p:nvPr/>
        </p:nvSpPr>
        <p:spPr>
          <a:xfrm>
            <a:off x="11658600" y="1104900"/>
            <a:ext cx="6019800" cy="1938992"/>
          </a:xfrm>
          <a:prstGeom prst="rect">
            <a:avLst/>
          </a:prstGeom>
          <a:noFill/>
        </p:spPr>
        <p:txBody>
          <a:bodyPr wrap="square">
            <a:spAutoFit/>
          </a:bodyPr>
          <a:lstStyle/>
          <a:p>
            <a:pPr fontAlgn="base">
              <a:spcBef>
                <a:spcPct val="0"/>
              </a:spcBef>
              <a:spcAft>
                <a:spcPct val="0"/>
              </a:spcAft>
            </a:pPr>
            <a:r>
              <a:rPr lang="en-US" sz="3000" dirty="0">
                <a:solidFill>
                  <a:srgbClr val="FF0000"/>
                </a:solidFill>
                <a:latin typeface="Bahnschrift Condensed" panose="020B0502040204020203" pitchFamily="34" charset="0"/>
              </a:rPr>
              <a:t>SMART Questions</a:t>
            </a:r>
          </a:p>
          <a:p>
            <a:pPr fontAlgn="base">
              <a:spcBef>
                <a:spcPct val="0"/>
              </a:spcBef>
              <a:spcAft>
                <a:spcPct val="0"/>
              </a:spcAft>
            </a:pPr>
            <a:r>
              <a:rPr lang="en-US" sz="3000" dirty="0">
                <a:solidFill>
                  <a:schemeClr val="tx2"/>
                </a:solidFill>
                <a:latin typeface="Bahnschrift Condensed" panose="020B0502040204020203" pitchFamily="34" charset="0"/>
              </a:rPr>
              <a:t>1. What drives interest rates? </a:t>
            </a:r>
          </a:p>
          <a:p>
            <a:pPr fontAlgn="base">
              <a:spcBef>
                <a:spcPct val="0"/>
              </a:spcBef>
              <a:spcAft>
                <a:spcPct val="0"/>
              </a:spcAft>
            </a:pPr>
            <a:r>
              <a:rPr lang="en-US" sz="3000" dirty="0">
                <a:solidFill>
                  <a:schemeClr val="tx2"/>
                </a:solidFill>
                <a:latin typeface="Bahnschrift Condensed" panose="020B0502040204020203" pitchFamily="34" charset="0"/>
              </a:rPr>
              <a:t>2. What predicts default probability? </a:t>
            </a:r>
          </a:p>
          <a:p>
            <a:pPr fontAlgn="base">
              <a:spcBef>
                <a:spcPct val="0"/>
              </a:spcBef>
              <a:spcAft>
                <a:spcPct val="0"/>
              </a:spcAft>
            </a:pPr>
            <a:r>
              <a:rPr lang="en-US" sz="3000" dirty="0">
                <a:solidFill>
                  <a:schemeClr val="tx2"/>
                </a:solidFill>
                <a:latin typeface="Bahnschrift Condensed" panose="020B0502040204020203" pitchFamily="34" charset="0"/>
              </a:rPr>
              <a:t>3. Does interest rate affect default?</a:t>
            </a:r>
          </a:p>
        </p:txBody>
      </p:sp>
      <p:sp>
        <p:nvSpPr>
          <p:cNvPr id="4" name="Freeform 4">
            <a:extLst>
              <a:ext uri="{FF2B5EF4-FFF2-40B4-BE49-F238E27FC236}">
                <a16:creationId xmlns:a16="http://schemas.microsoft.com/office/drawing/2014/main" id="{B60A9C20-3DB2-5DE2-50AC-0699966780A2}"/>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15" name="TextBox 14">
            <a:extLst>
              <a:ext uri="{FF2B5EF4-FFF2-40B4-BE49-F238E27FC236}">
                <a16:creationId xmlns:a16="http://schemas.microsoft.com/office/drawing/2014/main" id="{AB810E79-E166-9000-6730-9B9D875987B6}"/>
              </a:ext>
            </a:extLst>
          </p:cNvPr>
          <p:cNvSpPr txBox="1"/>
          <p:nvPr/>
        </p:nvSpPr>
        <p:spPr>
          <a:xfrm>
            <a:off x="12420600" y="4229100"/>
            <a:ext cx="4114800" cy="3785652"/>
          </a:xfrm>
          <a:prstGeom prst="rect">
            <a:avLst/>
          </a:prstGeom>
          <a:noFill/>
        </p:spPr>
        <p:txBody>
          <a:bodyPr wrap="square">
            <a:spAutoFit/>
          </a:bodyPr>
          <a:lstStyle/>
          <a:p>
            <a:r>
              <a:rPr lang="en-US" sz="3000" dirty="0">
                <a:solidFill>
                  <a:srgbClr val="FF0000"/>
                </a:solidFill>
                <a:latin typeface="Bahnschrift Condensed" panose="020B0502040204020203" pitchFamily="34" charset="0"/>
              </a:rPr>
              <a:t>Concept diagram</a:t>
            </a:r>
          </a:p>
          <a:p>
            <a:r>
              <a:rPr lang="en-US" sz="3000" dirty="0">
                <a:solidFill>
                  <a:schemeClr val="tx2"/>
                </a:solidFill>
                <a:latin typeface="Bahnschrift Condensed" panose="020B0502040204020203" pitchFamily="34" charset="0"/>
              </a:rPr>
              <a:t>Borrower Characteristics</a:t>
            </a:r>
          </a:p>
          <a:p>
            <a:r>
              <a:rPr lang="en-US" sz="3000" dirty="0">
                <a:solidFill>
                  <a:schemeClr val="tx2"/>
                </a:solidFill>
                <a:latin typeface="Bahnschrift Condensed" panose="020B0502040204020203" pitchFamily="34" charset="0"/>
              </a:rPr>
              <a:t>        ↓</a:t>
            </a:r>
          </a:p>
          <a:p>
            <a:r>
              <a:rPr lang="en-US" sz="3000" dirty="0">
                <a:solidFill>
                  <a:schemeClr val="tx2"/>
                </a:solidFill>
                <a:latin typeface="Bahnschrift Condensed" panose="020B0502040204020203" pitchFamily="34" charset="0"/>
              </a:rPr>
              <a:t>Loan Grade (Risk)</a:t>
            </a:r>
          </a:p>
          <a:p>
            <a:r>
              <a:rPr lang="en-US" sz="3000" dirty="0">
                <a:solidFill>
                  <a:schemeClr val="tx2"/>
                </a:solidFill>
                <a:latin typeface="Bahnschrift Condensed" panose="020B0502040204020203" pitchFamily="34" charset="0"/>
              </a:rPr>
              <a:t>        ↓</a:t>
            </a:r>
          </a:p>
          <a:p>
            <a:r>
              <a:rPr lang="en-US" sz="3000" dirty="0">
                <a:solidFill>
                  <a:schemeClr val="tx2"/>
                </a:solidFill>
                <a:latin typeface="Bahnschrift Condensed" panose="020B0502040204020203" pitchFamily="34" charset="0"/>
              </a:rPr>
              <a:t>Interest Rate (Pricing)</a:t>
            </a:r>
          </a:p>
          <a:p>
            <a:r>
              <a:rPr lang="en-US" sz="3000" dirty="0">
                <a:solidFill>
                  <a:schemeClr val="tx2"/>
                </a:solidFill>
                <a:latin typeface="Bahnschrift Condensed" panose="020B0502040204020203" pitchFamily="34" charset="0"/>
              </a:rPr>
              <a:t>        ↓</a:t>
            </a:r>
          </a:p>
          <a:p>
            <a:r>
              <a:rPr lang="en-US" sz="3000" dirty="0">
                <a:solidFill>
                  <a:schemeClr val="tx2"/>
                </a:solidFill>
                <a:latin typeface="Bahnschrift Condensed" panose="020B0502040204020203" pitchFamily="34" charset="0"/>
              </a:rPr>
              <a:t>Default (Outcome</a:t>
            </a:r>
            <a:r>
              <a:rPr lang="en-US" sz="3000" dirty="0"/>
              <a:t>)</a:t>
            </a:r>
          </a:p>
        </p:txBody>
      </p:sp>
      <p:sp>
        <p:nvSpPr>
          <p:cNvPr id="16" name="TextBox 15">
            <a:extLst>
              <a:ext uri="{FF2B5EF4-FFF2-40B4-BE49-F238E27FC236}">
                <a16:creationId xmlns:a16="http://schemas.microsoft.com/office/drawing/2014/main" id="{79833247-6E0C-7502-73E2-DC39677E61E4}"/>
              </a:ext>
            </a:extLst>
          </p:cNvPr>
          <p:cNvSpPr txBox="1"/>
          <p:nvPr/>
        </p:nvSpPr>
        <p:spPr>
          <a:xfrm>
            <a:off x="304800" y="1120676"/>
            <a:ext cx="6096000" cy="1938992"/>
          </a:xfrm>
          <a:prstGeom prst="rect">
            <a:avLst/>
          </a:prstGeom>
          <a:noFill/>
        </p:spPr>
        <p:txBody>
          <a:bodyPr wrap="square">
            <a:spAutoFit/>
          </a:bodyPr>
          <a:lstStyle/>
          <a:p>
            <a:pPr fontAlgn="base">
              <a:spcBef>
                <a:spcPct val="0"/>
              </a:spcBef>
              <a:spcAft>
                <a:spcPct val="0"/>
              </a:spcAft>
            </a:pPr>
            <a:r>
              <a:rPr lang="en-US" sz="3000" dirty="0">
                <a:solidFill>
                  <a:srgbClr val="FF0000"/>
                </a:solidFill>
                <a:latin typeface="Bahnschrift Condensed" panose="020B0502040204020203" pitchFamily="34" charset="0"/>
              </a:rPr>
              <a:t>Main Message :                                                   </a:t>
            </a:r>
            <a:r>
              <a:rPr lang="en-US" sz="3000" dirty="0">
                <a:solidFill>
                  <a:srgbClr val="002060"/>
                </a:solidFill>
                <a:latin typeface="Bahnschrift Condensed" panose="020B0502040204020203" pitchFamily="34" charset="0"/>
              </a:rPr>
              <a:t>We combine statistical and machine learning methods to understand pricing, risk, and their relationship.</a:t>
            </a:r>
          </a:p>
        </p:txBody>
      </p:sp>
      <p:sp>
        <p:nvSpPr>
          <p:cNvPr id="17" name="TextBox 16">
            <a:extLst>
              <a:ext uri="{FF2B5EF4-FFF2-40B4-BE49-F238E27FC236}">
                <a16:creationId xmlns:a16="http://schemas.microsoft.com/office/drawing/2014/main" id="{6529BAED-4CF7-28B0-4787-E547A53CAB33}"/>
              </a:ext>
            </a:extLst>
          </p:cNvPr>
          <p:cNvSpPr txBox="1"/>
          <p:nvPr/>
        </p:nvSpPr>
        <p:spPr>
          <a:xfrm>
            <a:off x="8077200" y="4305300"/>
            <a:ext cx="3200400" cy="1938992"/>
          </a:xfrm>
          <a:prstGeom prst="rect">
            <a:avLst/>
          </a:prstGeom>
          <a:noFill/>
        </p:spPr>
        <p:txBody>
          <a:bodyPr wrap="square">
            <a:spAutoFit/>
          </a:bodyPr>
          <a:lstStyle/>
          <a:p>
            <a:pPr fontAlgn="base">
              <a:spcBef>
                <a:spcPct val="0"/>
              </a:spcBef>
              <a:spcAft>
                <a:spcPct val="0"/>
              </a:spcAft>
            </a:pPr>
            <a:r>
              <a:rPr lang="en-US" sz="3000" dirty="0">
                <a:solidFill>
                  <a:srgbClr val="FF0000"/>
                </a:solidFill>
                <a:latin typeface="Bahnschrift Condensed" panose="020B0502040204020203" pitchFamily="34" charset="0"/>
              </a:rPr>
              <a:t>Methods</a:t>
            </a:r>
          </a:p>
          <a:p>
            <a:pPr indent="-457200" fontAlgn="base">
              <a:spcBef>
                <a:spcPct val="0"/>
              </a:spcBef>
              <a:spcAft>
                <a:spcPct val="0"/>
              </a:spcAft>
              <a:buFont typeface="Arial" panose="020B0604020202020204" pitchFamily="34" charset="0"/>
              <a:buChar char="•"/>
            </a:pPr>
            <a:r>
              <a:rPr lang="en-US" sz="3000" dirty="0">
                <a:solidFill>
                  <a:schemeClr val="tx2"/>
                </a:solidFill>
                <a:latin typeface="Bahnschrift Condensed" panose="020B0502040204020203" pitchFamily="34" charset="0"/>
              </a:rPr>
              <a:t>Linear regression </a:t>
            </a:r>
          </a:p>
          <a:p>
            <a:pPr indent="-457200" fontAlgn="base">
              <a:spcBef>
                <a:spcPct val="0"/>
              </a:spcBef>
              <a:spcAft>
                <a:spcPct val="0"/>
              </a:spcAft>
              <a:buFont typeface="Arial" panose="020B0604020202020204" pitchFamily="34" charset="0"/>
              <a:buChar char="•"/>
            </a:pPr>
            <a:r>
              <a:rPr lang="en-US" sz="3000" dirty="0">
                <a:solidFill>
                  <a:schemeClr val="tx2"/>
                </a:solidFill>
                <a:latin typeface="Bahnschrift Condensed" panose="020B0502040204020203" pitchFamily="34" charset="0"/>
              </a:rPr>
              <a:t>Logistic regression </a:t>
            </a:r>
          </a:p>
          <a:p>
            <a:pPr indent="-457200" fontAlgn="base">
              <a:spcBef>
                <a:spcPct val="0"/>
              </a:spcBef>
              <a:spcAft>
                <a:spcPct val="0"/>
              </a:spcAft>
              <a:buFont typeface="Arial" panose="020B0604020202020204" pitchFamily="34" charset="0"/>
              <a:buChar char="•"/>
            </a:pPr>
            <a:r>
              <a:rPr lang="en-US" sz="3000" dirty="0">
                <a:solidFill>
                  <a:schemeClr val="tx2"/>
                </a:solidFill>
                <a:latin typeface="Bahnschrift Condensed" panose="020B0502040204020203" pitchFamily="34" charset="0"/>
              </a:rPr>
              <a:t>Tree-based models </a:t>
            </a:r>
          </a:p>
        </p:txBody>
      </p:sp>
    </p:spTree>
    <p:extLst>
      <p:ext uri="{BB962C8B-B14F-4D97-AF65-F5344CB8AC3E}">
        <p14:creationId xmlns:p14="http://schemas.microsoft.com/office/powerpoint/2010/main" val="283489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F7B234-A981-F394-0A11-9D4B413FD38D}"/>
            </a:ext>
          </a:extLst>
        </p:cNvPr>
        <p:cNvGrpSpPr/>
        <p:nvPr/>
      </p:nvGrpSpPr>
      <p:grpSpPr>
        <a:xfrm>
          <a:off x="0" y="0"/>
          <a:ext cx="0" cy="0"/>
          <a:chOff x="0" y="0"/>
          <a:chExt cx="0" cy="0"/>
        </a:xfrm>
      </p:grpSpPr>
      <p:pic>
        <p:nvPicPr>
          <p:cNvPr id="6" name="Рисунок 5">
            <a:extLst>
              <a:ext uri="{FF2B5EF4-FFF2-40B4-BE49-F238E27FC236}">
                <a16:creationId xmlns:a16="http://schemas.microsoft.com/office/drawing/2014/main" id="{179EADCA-40CE-C0DA-9C92-F684316733BC}"/>
              </a:ext>
            </a:extLst>
          </p:cNvPr>
          <p:cNvPicPr>
            <a:picLocks noChangeAspect="1"/>
          </p:cNvPicPr>
          <p:nvPr/>
        </p:nvPicPr>
        <p:blipFill>
          <a:blip r:embed="rId2"/>
          <a:stretch>
            <a:fillRect/>
          </a:stretch>
        </p:blipFill>
        <p:spPr>
          <a:xfrm>
            <a:off x="8915400" y="1104900"/>
            <a:ext cx="8344321" cy="4026927"/>
          </a:xfrm>
          <a:prstGeom prst="rect">
            <a:avLst/>
          </a:prstGeom>
        </p:spPr>
      </p:pic>
      <p:sp>
        <p:nvSpPr>
          <p:cNvPr id="4" name="Freeform 4">
            <a:extLst>
              <a:ext uri="{FF2B5EF4-FFF2-40B4-BE49-F238E27FC236}">
                <a16:creationId xmlns:a16="http://schemas.microsoft.com/office/drawing/2014/main" id="{8F97CB88-F1D5-91E6-C0F1-F88C2C5F219C}"/>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A65DEDCC-5B16-C4B4-D205-6D501249D22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2FDDFA4C-BA1D-3BD6-9A4F-CFF245A98810}"/>
              </a:ext>
            </a:extLst>
          </p:cNvPr>
          <p:cNvSpPr txBox="1"/>
          <p:nvPr/>
        </p:nvSpPr>
        <p:spPr>
          <a:xfrm>
            <a:off x="685801" y="419100"/>
            <a:ext cx="11083159" cy="646331"/>
          </a:xfrm>
          <a:prstGeom prst="rect">
            <a:avLst/>
          </a:prstGeom>
          <a:noFill/>
        </p:spPr>
        <p:txBody>
          <a:bodyPr wrap="square">
            <a:spAutoFit/>
          </a:bodyPr>
          <a:lstStyle/>
          <a:p>
            <a:pPr indent="-457200" fontAlgn="base">
              <a:spcBef>
                <a:spcPct val="0"/>
              </a:spcBef>
              <a:spcAft>
                <a:spcPct val="0"/>
              </a:spcAft>
              <a:buFont typeface="Arial" panose="020B0604020202020204" pitchFamily="34" charset="0"/>
              <a:buChar char="•"/>
            </a:pPr>
            <a:r>
              <a:rPr lang="en-US" sz="3600" b="1" u="sng" dirty="0">
                <a:solidFill>
                  <a:srgbClr val="FF0000"/>
                </a:solidFill>
                <a:latin typeface="Bahnschrift Condensed" panose="020B0502040204020203" pitchFamily="34" charset="0"/>
              </a:rPr>
              <a:t>DATA AND VARIABLES</a:t>
            </a:r>
          </a:p>
        </p:txBody>
      </p:sp>
      <p:sp>
        <p:nvSpPr>
          <p:cNvPr id="47" name="Rectangle 3">
            <a:extLst>
              <a:ext uri="{FF2B5EF4-FFF2-40B4-BE49-F238E27FC236}">
                <a16:creationId xmlns:a16="http://schemas.microsoft.com/office/drawing/2014/main" id="{E52BC7C5-77DC-E99C-26E3-AF261AD817C6}"/>
              </a:ext>
            </a:extLst>
          </p:cNvPr>
          <p:cNvSpPr>
            <a:spLocks noChangeArrowheads="1"/>
          </p:cNvSpPr>
          <p:nvPr/>
        </p:nvSpPr>
        <p:spPr bwMode="auto">
          <a:xfrm>
            <a:off x="381000" y="1181100"/>
            <a:ext cx="8816845"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77" eaLnBrk="0" fontAlgn="base" hangingPunct="0">
              <a:spcBef>
                <a:spcPct val="0"/>
              </a:spcBef>
              <a:spcAft>
                <a:spcPct val="0"/>
              </a:spcAft>
            </a:pPr>
            <a:endParaRPr lang="en-US" altLang="en-US" sz="3600" dirty="0">
              <a:solidFill>
                <a:srgbClr val="002060"/>
              </a:solidFill>
              <a:latin typeface="Bahnschrift Condensed" panose="020B0502040204020203" pitchFamily="34" charset="0"/>
            </a:endParaRPr>
          </a:p>
          <a:p>
            <a:pPr defTabSz="914377" eaLnBrk="0" fontAlgn="base" hangingPunct="0">
              <a:spcBef>
                <a:spcPct val="0"/>
              </a:spcBef>
              <a:spcAft>
                <a:spcPct val="0"/>
              </a:spcAft>
            </a:pPr>
            <a:r>
              <a:rPr lang="en-US" altLang="en-US" sz="3600" dirty="0">
                <a:solidFill>
                  <a:srgbClr val="FF0000"/>
                </a:solidFill>
                <a:latin typeface="Bahnschrift Condensed" panose="020B0502040204020203" pitchFamily="34" charset="0"/>
              </a:rPr>
              <a:t>Dataset Overview:</a:t>
            </a:r>
          </a:p>
          <a:p>
            <a:pPr defTabSz="914377" eaLnBrk="0" fontAlgn="base" hangingPunct="0">
              <a:spcBef>
                <a:spcPct val="0"/>
              </a:spcBef>
              <a:spcAft>
                <a:spcPct val="0"/>
              </a:spcAft>
            </a:pPr>
            <a:endParaRPr lang="en-US" altLang="en-US" sz="3000" b="1" dirty="0">
              <a:solidFill>
                <a:srgbClr val="002060"/>
              </a:solidFill>
            </a:endParaRPr>
          </a:p>
          <a:p>
            <a:pPr marL="571486" indent="-571486" defTabSz="914377" eaLnBrk="0" fontAlgn="base" hangingPunct="0">
              <a:spcBef>
                <a:spcPct val="0"/>
              </a:spcBef>
              <a:spcAft>
                <a:spcPct val="0"/>
              </a:spcAft>
              <a:buFont typeface="Wingdings" panose="05000000000000000000" pitchFamily="2" charset="2"/>
              <a:buChar char="v"/>
            </a:pPr>
            <a:r>
              <a:rPr lang="en-US" altLang="en-US" sz="3600" dirty="0">
                <a:solidFill>
                  <a:srgbClr val="002060"/>
                </a:solidFill>
                <a:latin typeface="Bahnschrift Condensed" panose="020B0502040204020203" pitchFamily="34" charset="0"/>
              </a:rPr>
              <a:t>Source: Kaggle </a:t>
            </a:r>
          </a:p>
          <a:p>
            <a:pPr marL="571486" indent="-571486" defTabSz="914377" eaLnBrk="0" fontAlgn="base" hangingPunct="0">
              <a:spcBef>
                <a:spcPct val="0"/>
              </a:spcBef>
              <a:spcAft>
                <a:spcPct val="0"/>
              </a:spcAft>
              <a:buFont typeface="Wingdings" panose="05000000000000000000" pitchFamily="2" charset="2"/>
              <a:buChar char="v"/>
            </a:pPr>
            <a:r>
              <a:rPr lang="en-US" altLang="en-US" sz="3600" dirty="0">
                <a:solidFill>
                  <a:srgbClr val="002060"/>
                </a:solidFill>
                <a:latin typeface="Bahnschrift Condensed" panose="020B0502040204020203" pitchFamily="34" charset="0"/>
              </a:rPr>
              <a:t>Name: credit_risk_dataset.csv</a:t>
            </a:r>
          </a:p>
          <a:p>
            <a:pPr marL="571486" indent="-571486" defTabSz="914377" eaLnBrk="0" fontAlgn="base" hangingPunct="0">
              <a:spcBef>
                <a:spcPct val="0"/>
              </a:spcBef>
              <a:spcAft>
                <a:spcPct val="0"/>
              </a:spcAft>
              <a:buFont typeface="Wingdings" panose="05000000000000000000" pitchFamily="2" charset="2"/>
              <a:buChar char="v"/>
            </a:pPr>
            <a:r>
              <a:rPr lang="en-US" altLang="en-US" sz="3600" dirty="0">
                <a:solidFill>
                  <a:srgbClr val="002060"/>
                </a:solidFill>
                <a:latin typeface="Bahnschrift Condensed" panose="020B0502040204020203" pitchFamily="34" charset="0"/>
              </a:rPr>
              <a:t>Observations: ~ 32,000</a:t>
            </a:r>
          </a:p>
          <a:p>
            <a:pPr marL="571486" indent="-571486" defTabSz="914377" eaLnBrk="0" fontAlgn="base" hangingPunct="0">
              <a:spcBef>
                <a:spcPct val="0"/>
              </a:spcBef>
              <a:spcAft>
                <a:spcPct val="0"/>
              </a:spcAft>
              <a:buFont typeface="Wingdings" panose="05000000000000000000" pitchFamily="2" charset="2"/>
              <a:buChar char="v"/>
            </a:pPr>
            <a:r>
              <a:rPr lang="en-US" altLang="en-US" sz="3600" dirty="0">
                <a:solidFill>
                  <a:srgbClr val="002060"/>
                </a:solidFill>
                <a:latin typeface="Bahnschrift Condensed" panose="020B0502040204020203" pitchFamily="34" charset="0"/>
              </a:rPr>
              <a:t>Variables: 12 borrower and loan characteristics</a:t>
            </a:r>
          </a:p>
          <a:p>
            <a:pPr marL="571486" indent="-571486" defTabSz="914377" eaLnBrk="0" fontAlgn="base" hangingPunct="0">
              <a:spcBef>
                <a:spcPct val="0"/>
              </a:spcBef>
              <a:spcAft>
                <a:spcPct val="0"/>
              </a:spcAft>
              <a:buFont typeface="Wingdings" panose="05000000000000000000" pitchFamily="2" charset="2"/>
              <a:buChar char="v"/>
            </a:pPr>
            <a:r>
              <a:rPr lang="en-US" altLang="en-US" sz="3600" dirty="0">
                <a:solidFill>
                  <a:srgbClr val="002060"/>
                </a:solidFill>
                <a:latin typeface="Bahnschrift Condensed" panose="020B0502040204020203" pitchFamily="34" charset="0"/>
              </a:rPr>
              <a:t>Target variable: </a:t>
            </a:r>
            <a:r>
              <a:rPr lang="en-US" altLang="en-US" sz="3600" dirty="0" err="1">
                <a:solidFill>
                  <a:srgbClr val="002060"/>
                </a:solidFill>
                <a:latin typeface="Bahnschrift Condensed" panose="020B0502040204020203" pitchFamily="34" charset="0"/>
              </a:rPr>
              <a:t>loan_status</a:t>
            </a:r>
            <a:r>
              <a:rPr lang="en-US" altLang="en-US" sz="3600" dirty="0">
                <a:solidFill>
                  <a:srgbClr val="002060"/>
                </a:solidFill>
                <a:latin typeface="Bahnschrift Condensed" panose="020B0502040204020203" pitchFamily="34" charset="0"/>
              </a:rPr>
              <a:t>                                                                         (1 = default,  0 = non-default)</a:t>
            </a:r>
          </a:p>
          <a:p>
            <a:pPr marL="571486" indent="-571486" defTabSz="914377" eaLnBrk="0" fontAlgn="base" hangingPunct="0">
              <a:spcBef>
                <a:spcPct val="0"/>
              </a:spcBef>
              <a:spcAft>
                <a:spcPct val="0"/>
              </a:spcAft>
              <a:buFont typeface="Wingdings" panose="05000000000000000000" pitchFamily="2" charset="2"/>
              <a:buChar char="v"/>
            </a:pPr>
            <a:r>
              <a:rPr lang="en-US" altLang="en-US" sz="3600" dirty="0">
                <a:solidFill>
                  <a:srgbClr val="002060"/>
                </a:solidFill>
                <a:latin typeface="Bahnschrift Condensed" panose="020B0502040204020203" pitchFamily="34" charset="0"/>
              </a:rPr>
              <a:t>Nature: Consumer lending data</a:t>
            </a:r>
          </a:p>
          <a:p>
            <a:pPr defTabSz="914377" eaLnBrk="0" fontAlgn="base" hangingPunct="0">
              <a:spcBef>
                <a:spcPct val="0"/>
              </a:spcBef>
              <a:spcAft>
                <a:spcPct val="0"/>
              </a:spcAft>
            </a:pPr>
            <a:endParaRPr lang="en-US" altLang="en-US" sz="3000" b="1" dirty="0">
              <a:solidFill>
                <a:srgbClr val="002060"/>
              </a:solidFill>
              <a:latin typeface="Bahnschrift Light" panose="020B0502040204020203" pitchFamily="34" charset="0"/>
            </a:endParaRPr>
          </a:p>
        </p:txBody>
      </p:sp>
      <p:sp>
        <p:nvSpPr>
          <p:cNvPr id="48" name="TextBox 47">
            <a:extLst>
              <a:ext uri="{FF2B5EF4-FFF2-40B4-BE49-F238E27FC236}">
                <a16:creationId xmlns:a16="http://schemas.microsoft.com/office/drawing/2014/main" id="{F2B84174-DA76-7CAF-7E2E-4E6CFE18A334}"/>
              </a:ext>
            </a:extLst>
          </p:cNvPr>
          <p:cNvSpPr txBox="1"/>
          <p:nvPr/>
        </p:nvSpPr>
        <p:spPr>
          <a:xfrm>
            <a:off x="8991600" y="342900"/>
            <a:ext cx="3915833" cy="646331"/>
          </a:xfrm>
          <a:prstGeom prst="rect">
            <a:avLst/>
          </a:prstGeom>
          <a:noFill/>
        </p:spPr>
        <p:txBody>
          <a:bodyPr wrap="square">
            <a:spAutoFit/>
          </a:bodyPr>
          <a:lstStyle/>
          <a:p>
            <a:pPr defTabSz="914377" eaLnBrk="0" fontAlgn="base" hangingPunct="0">
              <a:spcBef>
                <a:spcPct val="0"/>
              </a:spcBef>
              <a:spcAft>
                <a:spcPct val="0"/>
              </a:spcAft>
            </a:pPr>
            <a:r>
              <a:rPr lang="en-US" altLang="en-US" sz="3600" dirty="0">
                <a:solidFill>
                  <a:srgbClr val="FF0000"/>
                </a:solidFill>
                <a:latin typeface="Bahnschrift Condensed" panose="020B0502040204020203" pitchFamily="34" charset="0"/>
              </a:rPr>
              <a:t>Variable Definitions:</a:t>
            </a:r>
          </a:p>
        </p:txBody>
      </p:sp>
      <p:pic>
        <p:nvPicPr>
          <p:cNvPr id="5" name="Рисунок 4">
            <a:extLst>
              <a:ext uri="{FF2B5EF4-FFF2-40B4-BE49-F238E27FC236}">
                <a16:creationId xmlns:a16="http://schemas.microsoft.com/office/drawing/2014/main" id="{21421790-0079-675A-604E-58DEF48822BC}"/>
              </a:ext>
            </a:extLst>
          </p:cNvPr>
          <p:cNvPicPr>
            <a:picLocks noChangeAspect="1"/>
          </p:cNvPicPr>
          <p:nvPr/>
        </p:nvPicPr>
        <p:blipFill>
          <a:blip r:embed="rId5"/>
          <a:stretch>
            <a:fillRect/>
          </a:stretch>
        </p:blipFill>
        <p:spPr>
          <a:xfrm>
            <a:off x="6629400" y="5067300"/>
            <a:ext cx="7848600" cy="4885608"/>
          </a:xfrm>
          <a:prstGeom prst="rect">
            <a:avLst/>
          </a:prstGeom>
        </p:spPr>
      </p:pic>
      <p:sp>
        <p:nvSpPr>
          <p:cNvPr id="2" name="Freeform 2">
            <a:extLst>
              <a:ext uri="{FF2B5EF4-FFF2-40B4-BE49-F238E27FC236}">
                <a16:creationId xmlns:a16="http://schemas.microsoft.com/office/drawing/2014/main" id="{268B8D3E-1118-741B-FD36-AA301F9E6BA6}"/>
              </a:ext>
            </a:extLst>
          </p:cNvPr>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extLst>
      <p:ext uri="{BB962C8B-B14F-4D97-AF65-F5344CB8AC3E}">
        <p14:creationId xmlns:p14="http://schemas.microsoft.com/office/powerpoint/2010/main" val="1237470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83B3D08D-E431-4351-A900-5966052993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4A9C484-AFE1-CEEE-8AA6-67F689B8F9B9}"/>
              </a:ext>
            </a:extLst>
          </p:cNvPr>
          <p:cNvSpPr txBox="1"/>
          <p:nvPr/>
        </p:nvSpPr>
        <p:spPr>
          <a:xfrm>
            <a:off x="609600" y="2667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rgbClr val="FF0000"/>
                </a:solidFill>
                <a:latin typeface="Bahnschrift Condensed" panose="020B0502040204020203" pitchFamily="34" charset="0"/>
              </a:rPr>
              <a:t>SMART QUESTION 1: DO BORROWER CHARACTERISTICS AFFECT INTEREST RATE?</a:t>
            </a:r>
          </a:p>
        </p:txBody>
      </p:sp>
      <p:sp>
        <p:nvSpPr>
          <p:cNvPr id="7" name="Прямоугольник: скругленные углы 6">
            <a:extLst>
              <a:ext uri="{FF2B5EF4-FFF2-40B4-BE49-F238E27FC236}">
                <a16:creationId xmlns:a16="http://schemas.microsoft.com/office/drawing/2014/main" id="{4F4E53E7-38BA-F00A-CFED-C85F89A38F5D}"/>
              </a:ext>
            </a:extLst>
          </p:cNvPr>
          <p:cNvSpPr/>
          <p:nvPr/>
        </p:nvSpPr>
        <p:spPr>
          <a:xfrm>
            <a:off x="1371600" y="7962900"/>
            <a:ext cx="3962400" cy="18288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t>Borrower</a:t>
            </a:r>
          </a:p>
        </p:txBody>
      </p:sp>
      <p:sp>
        <p:nvSpPr>
          <p:cNvPr id="11" name="Прямоугольник: скругленные углы 10">
            <a:extLst>
              <a:ext uri="{FF2B5EF4-FFF2-40B4-BE49-F238E27FC236}">
                <a16:creationId xmlns:a16="http://schemas.microsoft.com/office/drawing/2014/main" id="{B6E6BD70-2C01-63E4-3E91-088028370C1A}"/>
              </a:ext>
            </a:extLst>
          </p:cNvPr>
          <p:cNvSpPr/>
          <p:nvPr/>
        </p:nvSpPr>
        <p:spPr>
          <a:xfrm>
            <a:off x="6781800" y="7810500"/>
            <a:ext cx="3962400" cy="18288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t>Loan Grade</a:t>
            </a:r>
          </a:p>
        </p:txBody>
      </p:sp>
      <p:sp>
        <p:nvSpPr>
          <p:cNvPr id="15" name="Прямоугольник: скругленные углы 14">
            <a:extLst>
              <a:ext uri="{FF2B5EF4-FFF2-40B4-BE49-F238E27FC236}">
                <a16:creationId xmlns:a16="http://schemas.microsoft.com/office/drawing/2014/main" id="{E4927532-3063-3A38-81DB-EB866D6E98F2}"/>
              </a:ext>
            </a:extLst>
          </p:cNvPr>
          <p:cNvSpPr/>
          <p:nvPr/>
        </p:nvSpPr>
        <p:spPr>
          <a:xfrm>
            <a:off x="12039600" y="7658100"/>
            <a:ext cx="3962400" cy="18288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t>Interest</a:t>
            </a:r>
            <a:r>
              <a:rPr lang="en-US" sz="4400" dirty="0"/>
              <a:t> </a:t>
            </a:r>
            <a:r>
              <a:rPr lang="en-US" sz="4400" b="1" dirty="0"/>
              <a:t>Rate</a:t>
            </a:r>
          </a:p>
        </p:txBody>
      </p:sp>
      <p:sp>
        <p:nvSpPr>
          <p:cNvPr id="16" name="Стрелка: вправо 15">
            <a:extLst>
              <a:ext uri="{FF2B5EF4-FFF2-40B4-BE49-F238E27FC236}">
                <a16:creationId xmlns:a16="http://schemas.microsoft.com/office/drawing/2014/main" id="{D2018ABB-D15B-2A41-16C3-DB95C22633B0}"/>
              </a:ext>
            </a:extLst>
          </p:cNvPr>
          <p:cNvSpPr/>
          <p:nvPr/>
        </p:nvSpPr>
        <p:spPr>
          <a:xfrm>
            <a:off x="5486400" y="8496300"/>
            <a:ext cx="1066800" cy="609600"/>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17" name="Стрелка: вправо 16">
            <a:extLst>
              <a:ext uri="{FF2B5EF4-FFF2-40B4-BE49-F238E27FC236}">
                <a16:creationId xmlns:a16="http://schemas.microsoft.com/office/drawing/2014/main" id="{9470A59B-2AD5-413B-76E7-67E9CE0D4FD5}"/>
              </a:ext>
            </a:extLst>
          </p:cNvPr>
          <p:cNvSpPr/>
          <p:nvPr/>
        </p:nvSpPr>
        <p:spPr>
          <a:xfrm>
            <a:off x="10896600" y="8420100"/>
            <a:ext cx="1066800" cy="609600"/>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23" name="TextBox 22">
            <a:extLst>
              <a:ext uri="{FF2B5EF4-FFF2-40B4-BE49-F238E27FC236}">
                <a16:creationId xmlns:a16="http://schemas.microsoft.com/office/drawing/2014/main" id="{5099C7EE-5E9C-F64A-B1CF-82FC80D5235C}"/>
              </a:ext>
            </a:extLst>
          </p:cNvPr>
          <p:cNvSpPr txBox="1"/>
          <p:nvPr/>
        </p:nvSpPr>
        <p:spPr>
          <a:xfrm>
            <a:off x="7848600" y="1409700"/>
            <a:ext cx="9144000" cy="5078313"/>
          </a:xfrm>
          <a:prstGeom prst="rect">
            <a:avLst/>
          </a:prstGeom>
          <a:noFill/>
        </p:spPr>
        <p:txBody>
          <a:bodyPr wrap="square">
            <a:spAutoFit/>
          </a:bodyPr>
          <a:lstStyle/>
          <a:p>
            <a:r>
              <a:rPr lang="en-US" sz="3600" dirty="0">
                <a:solidFill>
                  <a:srgbClr val="FF0000"/>
                </a:solidFill>
                <a:latin typeface="Bahnschrift Condensed" panose="020B0502040204020203" pitchFamily="34" charset="0"/>
              </a:rPr>
              <a:t>Borrower Characteristics Used in the Project</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Age</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 Home ownership status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Annual income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Employment length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Credit history length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Prior default history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Loan intent (purpose)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Loan amount &amp; burden</a:t>
            </a:r>
          </a:p>
        </p:txBody>
      </p:sp>
      <p:sp>
        <p:nvSpPr>
          <p:cNvPr id="3" name="Rectangle 1">
            <a:extLst>
              <a:ext uri="{FF2B5EF4-FFF2-40B4-BE49-F238E27FC236}">
                <a16:creationId xmlns:a16="http://schemas.microsoft.com/office/drawing/2014/main" id="{0EA57EB8-AFDF-298A-8B9F-7990134D458D}"/>
              </a:ext>
            </a:extLst>
          </p:cNvPr>
          <p:cNvSpPr>
            <a:spLocks noChangeArrowheads="1"/>
          </p:cNvSpPr>
          <p:nvPr/>
        </p:nvSpPr>
        <p:spPr bwMode="auto">
          <a:xfrm>
            <a:off x="533400" y="3848100"/>
            <a:ext cx="483337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indent="-457200" fontAlgn="base">
              <a:lnSpc>
                <a:spcPct val="100000"/>
              </a:lnSpc>
              <a:spcBef>
                <a:spcPct val="0"/>
              </a:spcBef>
              <a:spcAft>
                <a:spcPct val="0"/>
              </a:spcAft>
              <a:buClrTx/>
              <a:buSzTx/>
              <a:buFont typeface="Arial" panose="020B0604020202020204" pitchFamily="34" charset="0"/>
              <a:buChar char="•"/>
              <a:tabLst/>
            </a:pPr>
            <a:r>
              <a:rPr lang="en-US" altLang="en-US" sz="3600" dirty="0">
                <a:solidFill>
                  <a:schemeClr val="tx2"/>
                </a:solidFill>
                <a:latin typeface="Bahnschrift Condensed" panose="020B0502040204020203" pitchFamily="34" charset="0"/>
              </a:rPr>
              <a:t>Outcome: Interest Rate </a:t>
            </a:r>
          </a:p>
          <a:p>
            <a:pPr marR="0" lvl="0" indent="-457200" fontAlgn="base">
              <a:lnSpc>
                <a:spcPct val="100000"/>
              </a:lnSpc>
              <a:spcBef>
                <a:spcPct val="0"/>
              </a:spcBef>
              <a:spcAft>
                <a:spcPct val="0"/>
              </a:spcAft>
              <a:buClrTx/>
              <a:buSzTx/>
              <a:buFont typeface="Arial" panose="020B0604020202020204" pitchFamily="34" charset="0"/>
              <a:buChar char="•"/>
              <a:tabLst/>
            </a:pPr>
            <a:r>
              <a:rPr lang="en-US" altLang="en-US" sz="3600" dirty="0">
                <a:solidFill>
                  <a:schemeClr val="tx2"/>
                </a:solidFill>
                <a:latin typeface="Bahnschrift Condensed" panose="020B0502040204020203" pitchFamily="34" charset="0"/>
              </a:rPr>
              <a:t>Pricing vs borrower profile </a:t>
            </a:r>
          </a:p>
          <a:p>
            <a:pPr marR="0" lvl="0" indent="-457200" fontAlgn="base">
              <a:lnSpc>
                <a:spcPct val="100000"/>
              </a:lnSpc>
              <a:spcBef>
                <a:spcPct val="0"/>
              </a:spcBef>
              <a:spcAft>
                <a:spcPct val="0"/>
              </a:spcAft>
              <a:buClrTx/>
              <a:buSzTx/>
              <a:buFont typeface="Arial" panose="020B0604020202020204" pitchFamily="34" charset="0"/>
              <a:buChar char="•"/>
              <a:tabLst/>
            </a:pPr>
            <a:r>
              <a:rPr lang="en-US" altLang="en-US" sz="3600" dirty="0">
                <a:solidFill>
                  <a:schemeClr val="tx2"/>
                </a:solidFill>
                <a:latin typeface="Bahnschrift Condensed" panose="020B0502040204020203" pitchFamily="34" charset="0"/>
              </a:rPr>
              <a:t>Role of loan grade </a:t>
            </a:r>
          </a:p>
          <a:p>
            <a:pPr marR="0" lvl="0" indent="-457200" fontAlgn="base">
              <a:lnSpc>
                <a:spcPct val="100000"/>
              </a:lnSpc>
              <a:spcBef>
                <a:spcPct val="0"/>
              </a:spcBef>
              <a:spcAft>
                <a:spcPct val="0"/>
              </a:spcAft>
              <a:buClrTx/>
              <a:buSzTx/>
              <a:buFont typeface="Arial" panose="020B0604020202020204" pitchFamily="34" charset="0"/>
              <a:buChar char="•"/>
              <a:tabLst/>
            </a:pPr>
            <a:r>
              <a:rPr lang="en-US" altLang="en-US" sz="3600" dirty="0">
                <a:solidFill>
                  <a:schemeClr val="tx2"/>
                </a:solidFill>
                <a:latin typeface="Bahnschrift Condensed" panose="020B0502040204020203" pitchFamily="34" charset="0"/>
              </a:rPr>
              <a:t>Regression + tree methods </a:t>
            </a:r>
          </a:p>
        </p:txBody>
      </p:sp>
      <p:sp>
        <p:nvSpPr>
          <p:cNvPr id="8" name="TextBox 7">
            <a:extLst>
              <a:ext uri="{FF2B5EF4-FFF2-40B4-BE49-F238E27FC236}">
                <a16:creationId xmlns:a16="http://schemas.microsoft.com/office/drawing/2014/main" id="{B236AAF1-7B68-17F9-4C34-690E90BFE4DB}"/>
              </a:ext>
            </a:extLst>
          </p:cNvPr>
          <p:cNvSpPr txBox="1"/>
          <p:nvPr/>
        </p:nvSpPr>
        <p:spPr>
          <a:xfrm>
            <a:off x="762000" y="1562100"/>
            <a:ext cx="5562600" cy="2308324"/>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Research question and conceptual relationship between borrower risk and pricing.</a:t>
            </a:r>
          </a:p>
        </p:txBody>
      </p:sp>
    </p:spTree>
    <p:extLst>
      <p:ext uri="{BB962C8B-B14F-4D97-AF65-F5344CB8AC3E}">
        <p14:creationId xmlns:p14="http://schemas.microsoft.com/office/powerpoint/2010/main" val="1040147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10C3C9-B48A-D8C1-44B2-BF3840DC161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3586FBB-591E-A80A-0EC8-6F5D6111C487}"/>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BC11EB38-F6FF-E045-A841-E24C7271A481}"/>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BDC06195-42C6-94E3-FA72-D4489CDB396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4EAC019-01F7-D2B0-2CDB-66FA33E52165}"/>
              </a:ext>
            </a:extLst>
          </p:cNvPr>
          <p:cNvSpPr txBox="1"/>
          <p:nvPr/>
        </p:nvSpPr>
        <p:spPr>
          <a:xfrm>
            <a:off x="609600" y="342900"/>
            <a:ext cx="12344400" cy="1200329"/>
          </a:xfrm>
          <a:prstGeom prst="rect">
            <a:avLst/>
          </a:prstGeom>
          <a:noFill/>
        </p:spPr>
        <p:txBody>
          <a:bodyPr wrap="square">
            <a:spAutoFit/>
          </a:bodyPr>
          <a:lstStyle/>
          <a:p>
            <a:pPr indent="-457200">
              <a:buFont typeface="Arial" panose="020B0604020202020204" pitchFamily="34" charset="0"/>
              <a:buChar char="•"/>
            </a:pPr>
            <a:r>
              <a:rPr lang="en-US" sz="3600" b="1" u="sng" dirty="0">
                <a:solidFill>
                  <a:srgbClr val="FF0000"/>
                </a:solidFill>
                <a:latin typeface="Bahnschrift Condensed" panose="020B0502040204020203" pitchFamily="34" charset="0"/>
              </a:rPr>
              <a:t>MODELING STRATEGY</a:t>
            </a:r>
          </a:p>
          <a:p>
            <a:pPr indent="-457200">
              <a:buFont typeface="Arial" panose="020B0604020202020204" pitchFamily="34" charset="0"/>
              <a:buChar char="•"/>
            </a:pPr>
            <a:endParaRPr lang="en-US" sz="3600" b="1" u="sng" dirty="0">
              <a:solidFill>
                <a:schemeClr val="tx2"/>
              </a:solidFill>
              <a:latin typeface="Bahnschrift Condensed" panose="020B0502040204020203" pitchFamily="34" charset="0"/>
            </a:endParaRPr>
          </a:p>
        </p:txBody>
      </p:sp>
      <p:sp>
        <p:nvSpPr>
          <p:cNvPr id="8" name="TextBox 7">
            <a:extLst>
              <a:ext uri="{FF2B5EF4-FFF2-40B4-BE49-F238E27FC236}">
                <a16:creationId xmlns:a16="http://schemas.microsoft.com/office/drawing/2014/main" id="{E57AF66C-F11C-2D53-6765-0B6EA6857629}"/>
              </a:ext>
            </a:extLst>
          </p:cNvPr>
          <p:cNvSpPr txBox="1"/>
          <p:nvPr/>
        </p:nvSpPr>
        <p:spPr>
          <a:xfrm>
            <a:off x="537029" y="1257300"/>
            <a:ext cx="4038600" cy="1200329"/>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Analytical Roadmap</a:t>
            </a:r>
          </a:p>
        </p:txBody>
      </p:sp>
      <p:sp>
        <p:nvSpPr>
          <p:cNvPr id="6" name="Rectangle 1">
            <a:extLst>
              <a:ext uri="{FF2B5EF4-FFF2-40B4-BE49-F238E27FC236}">
                <a16:creationId xmlns:a16="http://schemas.microsoft.com/office/drawing/2014/main" id="{95571168-03C8-4A0F-BC03-E3F469F4A1EC}"/>
              </a:ext>
            </a:extLst>
          </p:cNvPr>
          <p:cNvSpPr>
            <a:spLocks noChangeArrowheads="1"/>
          </p:cNvSpPr>
          <p:nvPr/>
        </p:nvSpPr>
        <p:spPr bwMode="auto">
          <a:xfrm>
            <a:off x="2971800" y="6819900"/>
            <a:ext cx="548640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Char char="•"/>
              <a:tabLst/>
            </a:pPr>
            <a:r>
              <a:rPr lang="en-US" altLang="en-US" sz="4400" dirty="0">
                <a:solidFill>
                  <a:schemeClr val="tx2"/>
                </a:solidFill>
                <a:latin typeface="Bahnschrift Condensed" panose="020B0502040204020203" pitchFamily="34" charset="0"/>
              </a:rPr>
              <a:t>Inference problem </a:t>
            </a:r>
          </a:p>
          <a:p>
            <a:pPr marR="0" lvl="0" indent="0" fontAlgn="base">
              <a:lnSpc>
                <a:spcPct val="100000"/>
              </a:lnSpc>
              <a:spcBef>
                <a:spcPct val="0"/>
              </a:spcBef>
              <a:spcAft>
                <a:spcPct val="0"/>
              </a:spcAft>
              <a:buClrTx/>
              <a:buSzTx/>
              <a:buFontTx/>
              <a:buChar char="•"/>
              <a:tabLst/>
            </a:pPr>
            <a:r>
              <a:rPr lang="en-US" altLang="en-US" sz="4400" dirty="0">
                <a:solidFill>
                  <a:schemeClr val="tx2"/>
                </a:solidFill>
                <a:latin typeface="Bahnschrift Condensed" panose="020B0502040204020203" pitchFamily="34" charset="0"/>
              </a:rPr>
              <a:t>Model 1: borrower variables </a:t>
            </a:r>
          </a:p>
          <a:p>
            <a:pPr marR="0" lvl="0" indent="0" fontAlgn="base">
              <a:lnSpc>
                <a:spcPct val="100000"/>
              </a:lnSpc>
              <a:spcBef>
                <a:spcPct val="0"/>
              </a:spcBef>
              <a:spcAft>
                <a:spcPct val="0"/>
              </a:spcAft>
              <a:buClrTx/>
              <a:buSzTx/>
              <a:buFontTx/>
              <a:buChar char="•"/>
              <a:tabLst/>
            </a:pPr>
            <a:r>
              <a:rPr lang="en-US" altLang="en-US" sz="4400" dirty="0">
                <a:solidFill>
                  <a:schemeClr val="tx2"/>
                </a:solidFill>
                <a:latin typeface="Bahnschrift Condensed" panose="020B0502040204020203" pitchFamily="34" charset="0"/>
              </a:rPr>
              <a:t>Model 2: + loan grade </a:t>
            </a:r>
          </a:p>
          <a:p>
            <a:pPr marR="0" lvl="0" indent="0" fontAlgn="base">
              <a:lnSpc>
                <a:spcPct val="100000"/>
              </a:lnSpc>
              <a:spcBef>
                <a:spcPct val="0"/>
              </a:spcBef>
              <a:spcAft>
                <a:spcPct val="0"/>
              </a:spcAft>
              <a:buClrTx/>
              <a:buSzTx/>
              <a:tabLst/>
            </a:pPr>
            <a:endParaRPr kumimoji="0" lang="en-US" altLang="en-US" sz="4400" i="0" u="none" strike="noStrike" cap="none" normalizeH="0" baseline="0" dirty="0">
              <a:ln>
                <a:noFill/>
              </a:ln>
              <a:solidFill>
                <a:schemeClr val="tx1"/>
              </a:solidFill>
              <a:effectLst/>
              <a:latin typeface="Arial" panose="020B0604020202020204" pitchFamily="34" charset="0"/>
            </a:endParaRPr>
          </a:p>
        </p:txBody>
      </p:sp>
      <p:grpSp>
        <p:nvGrpSpPr>
          <p:cNvPr id="53" name="Группа 52">
            <a:extLst>
              <a:ext uri="{FF2B5EF4-FFF2-40B4-BE49-F238E27FC236}">
                <a16:creationId xmlns:a16="http://schemas.microsoft.com/office/drawing/2014/main" id="{287767D1-28F3-2E1D-FEA1-35693D171124}"/>
              </a:ext>
            </a:extLst>
          </p:cNvPr>
          <p:cNvGrpSpPr/>
          <p:nvPr/>
        </p:nvGrpSpPr>
        <p:grpSpPr>
          <a:xfrm>
            <a:off x="685800" y="2324100"/>
            <a:ext cx="17297400" cy="4145816"/>
            <a:chOff x="152400" y="4762500"/>
            <a:chExt cx="17297400" cy="4145816"/>
          </a:xfrm>
        </p:grpSpPr>
        <p:sp>
          <p:nvSpPr>
            <p:cNvPr id="10" name="TextBox 9">
              <a:extLst>
                <a:ext uri="{FF2B5EF4-FFF2-40B4-BE49-F238E27FC236}">
                  <a16:creationId xmlns:a16="http://schemas.microsoft.com/office/drawing/2014/main" id="{946F2B59-E1F2-5497-F1FA-BBBF62234B60}"/>
                </a:ext>
              </a:extLst>
            </p:cNvPr>
            <p:cNvSpPr txBox="1"/>
            <p:nvPr/>
          </p:nvSpPr>
          <p:spPr>
            <a:xfrm>
              <a:off x="4953000" y="4762500"/>
              <a:ext cx="6477000" cy="1569660"/>
            </a:xfrm>
            <a:prstGeom prst="rect">
              <a:avLst/>
            </a:prstGeom>
            <a:noFill/>
          </p:spPr>
          <p:txBody>
            <a:bodyPr wrap="square">
              <a:spAutoFit/>
            </a:bodyPr>
            <a:lstStyle/>
            <a:p>
              <a:r>
                <a:rPr lang="en-US" sz="4800" b="1" dirty="0">
                  <a:solidFill>
                    <a:srgbClr val="0070C0"/>
                  </a:solidFill>
                  <a:latin typeface="Bahnschrift Condensed" panose="020B0502040204020203" pitchFamily="34" charset="0"/>
                </a:rPr>
                <a:t>A METHOD FLOWCHART:</a:t>
              </a:r>
              <a:br>
                <a:rPr lang="en-US" sz="4800" b="1" dirty="0">
                  <a:solidFill>
                    <a:srgbClr val="0070C0"/>
                  </a:solidFill>
                  <a:latin typeface="Bahnschrift Condensed" panose="020B0502040204020203" pitchFamily="34" charset="0"/>
                </a:rPr>
              </a:br>
              <a:endParaRPr lang="en-US" sz="4800" dirty="0">
                <a:solidFill>
                  <a:srgbClr val="0070C0"/>
                </a:solidFill>
                <a:latin typeface="Bahnschrift Condensed" panose="020B0502040204020203" pitchFamily="34" charset="0"/>
              </a:endParaRPr>
            </a:p>
          </p:txBody>
        </p:sp>
        <p:sp>
          <p:nvSpPr>
            <p:cNvPr id="14" name="TextBox 13">
              <a:extLst>
                <a:ext uri="{FF2B5EF4-FFF2-40B4-BE49-F238E27FC236}">
                  <a16:creationId xmlns:a16="http://schemas.microsoft.com/office/drawing/2014/main" id="{8B50BC75-DDDE-0CC9-824D-44E58E803D73}"/>
                </a:ext>
              </a:extLst>
            </p:cNvPr>
            <p:cNvSpPr txBox="1"/>
            <p:nvPr/>
          </p:nvSpPr>
          <p:spPr>
            <a:xfrm>
              <a:off x="152400" y="7124700"/>
              <a:ext cx="1828800" cy="1631216"/>
            </a:xfrm>
            <a:prstGeom prst="rect">
              <a:avLst/>
            </a:prstGeom>
            <a:noFill/>
          </p:spPr>
          <p:txBody>
            <a:bodyPr wrap="square">
              <a:spAutoFit/>
            </a:bodyPr>
            <a:lstStyle/>
            <a:p>
              <a:r>
                <a:rPr lang="en-US" sz="10000" dirty="0"/>
                <a:t>🔍</a:t>
              </a:r>
            </a:p>
          </p:txBody>
        </p:sp>
        <p:sp>
          <p:nvSpPr>
            <p:cNvPr id="21" name="TextBox 20">
              <a:extLst>
                <a:ext uri="{FF2B5EF4-FFF2-40B4-BE49-F238E27FC236}">
                  <a16:creationId xmlns:a16="http://schemas.microsoft.com/office/drawing/2014/main" id="{C759C21F-293D-8F3C-7354-8727ED82467A}"/>
                </a:ext>
              </a:extLst>
            </p:cNvPr>
            <p:cNvSpPr txBox="1"/>
            <p:nvPr/>
          </p:nvSpPr>
          <p:spPr>
            <a:xfrm>
              <a:off x="2362200" y="7048500"/>
              <a:ext cx="1676400" cy="1631216"/>
            </a:xfrm>
            <a:prstGeom prst="rect">
              <a:avLst/>
            </a:prstGeom>
            <a:noFill/>
          </p:spPr>
          <p:txBody>
            <a:bodyPr wrap="square">
              <a:spAutoFit/>
            </a:bodyPr>
            <a:lstStyle/>
            <a:p>
              <a:r>
                <a:rPr lang="en-US" sz="10000" dirty="0"/>
                <a:t>🤖</a:t>
              </a:r>
            </a:p>
          </p:txBody>
        </p:sp>
        <p:sp>
          <p:nvSpPr>
            <p:cNvPr id="24" name="TextBox 23">
              <a:extLst>
                <a:ext uri="{FF2B5EF4-FFF2-40B4-BE49-F238E27FC236}">
                  <a16:creationId xmlns:a16="http://schemas.microsoft.com/office/drawing/2014/main" id="{9A842DA4-E03C-6086-D29E-9BA72312B2EF}"/>
                </a:ext>
              </a:extLst>
            </p:cNvPr>
            <p:cNvSpPr txBox="1"/>
            <p:nvPr/>
          </p:nvSpPr>
          <p:spPr>
            <a:xfrm>
              <a:off x="4953000" y="7124700"/>
              <a:ext cx="1752600" cy="1631216"/>
            </a:xfrm>
            <a:prstGeom prst="rect">
              <a:avLst/>
            </a:prstGeom>
            <a:noFill/>
          </p:spPr>
          <p:txBody>
            <a:bodyPr wrap="square">
              <a:spAutoFit/>
            </a:bodyPr>
            <a:lstStyle/>
            <a:p>
              <a:r>
                <a:rPr lang="en-US" sz="10000" dirty="0"/>
                <a:t>⚙️</a:t>
              </a:r>
            </a:p>
          </p:txBody>
        </p:sp>
        <p:sp>
          <p:nvSpPr>
            <p:cNvPr id="26" name="TextBox 25">
              <a:extLst>
                <a:ext uri="{FF2B5EF4-FFF2-40B4-BE49-F238E27FC236}">
                  <a16:creationId xmlns:a16="http://schemas.microsoft.com/office/drawing/2014/main" id="{BC74533D-3FD0-4708-4ED0-6D8CAE699A78}"/>
                </a:ext>
              </a:extLst>
            </p:cNvPr>
            <p:cNvSpPr txBox="1"/>
            <p:nvPr/>
          </p:nvSpPr>
          <p:spPr>
            <a:xfrm>
              <a:off x="7467600" y="7200900"/>
              <a:ext cx="1905000" cy="1631216"/>
            </a:xfrm>
            <a:prstGeom prst="rect">
              <a:avLst/>
            </a:prstGeom>
            <a:noFill/>
          </p:spPr>
          <p:txBody>
            <a:bodyPr wrap="square">
              <a:spAutoFit/>
            </a:bodyPr>
            <a:lstStyle/>
            <a:p>
              <a:r>
                <a:rPr lang="en-US" sz="10000" dirty="0"/>
                <a:t>📊</a:t>
              </a:r>
            </a:p>
          </p:txBody>
        </p:sp>
        <p:sp>
          <p:nvSpPr>
            <p:cNvPr id="28" name="TextBox 27">
              <a:extLst>
                <a:ext uri="{FF2B5EF4-FFF2-40B4-BE49-F238E27FC236}">
                  <a16:creationId xmlns:a16="http://schemas.microsoft.com/office/drawing/2014/main" id="{522111BC-72E5-9D7D-17F9-C0C71ECF1E0C}"/>
                </a:ext>
              </a:extLst>
            </p:cNvPr>
            <p:cNvSpPr txBox="1"/>
            <p:nvPr/>
          </p:nvSpPr>
          <p:spPr>
            <a:xfrm>
              <a:off x="9753600" y="7124700"/>
              <a:ext cx="1219200" cy="1631216"/>
            </a:xfrm>
            <a:prstGeom prst="rect">
              <a:avLst/>
            </a:prstGeom>
            <a:noFill/>
          </p:spPr>
          <p:txBody>
            <a:bodyPr wrap="square">
              <a:spAutoFit/>
            </a:bodyPr>
            <a:lstStyle/>
            <a:p>
              <a:r>
                <a:rPr lang="en-US" sz="10000" dirty="0"/>
                <a:t>🩺</a:t>
              </a:r>
            </a:p>
          </p:txBody>
        </p:sp>
        <p:sp>
          <p:nvSpPr>
            <p:cNvPr id="30" name="TextBox 29">
              <a:extLst>
                <a:ext uri="{FF2B5EF4-FFF2-40B4-BE49-F238E27FC236}">
                  <a16:creationId xmlns:a16="http://schemas.microsoft.com/office/drawing/2014/main" id="{3D16F892-5574-918A-4273-D86EAD4DD826}"/>
                </a:ext>
              </a:extLst>
            </p:cNvPr>
            <p:cNvSpPr txBox="1"/>
            <p:nvPr/>
          </p:nvSpPr>
          <p:spPr>
            <a:xfrm>
              <a:off x="12496800" y="7124700"/>
              <a:ext cx="1600200" cy="1631216"/>
            </a:xfrm>
            <a:prstGeom prst="rect">
              <a:avLst/>
            </a:prstGeom>
            <a:noFill/>
          </p:spPr>
          <p:txBody>
            <a:bodyPr wrap="square">
              <a:spAutoFit/>
            </a:bodyPr>
            <a:lstStyle/>
            <a:p>
              <a:r>
                <a:rPr lang="en-US" sz="10000" dirty="0"/>
                <a:t>🌲</a:t>
              </a:r>
            </a:p>
          </p:txBody>
        </p:sp>
        <p:sp>
          <p:nvSpPr>
            <p:cNvPr id="32" name="TextBox 31">
              <a:extLst>
                <a:ext uri="{FF2B5EF4-FFF2-40B4-BE49-F238E27FC236}">
                  <a16:creationId xmlns:a16="http://schemas.microsoft.com/office/drawing/2014/main" id="{2D194250-4A02-784D-A27F-86B87ECDA1F5}"/>
                </a:ext>
              </a:extLst>
            </p:cNvPr>
            <p:cNvSpPr txBox="1"/>
            <p:nvPr/>
          </p:nvSpPr>
          <p:spPr>
            <a:xfrm>
              <a:off x="15011400" y="7277100"/>
              <a:ext cx="1905000" cy="1631216"/>
            </a:xfrm>
            <a:prstGeom prst="rect">
              <a:avLst/>
            </a:prstGeom>
            <a:noFill/>
          </p:spPr>
          <p:txBody>
            <a:bodyPr wrap="square">
              <a:spAutoFit/>
            </a:bodyPr>
            <a:lstStyle/>
            <a:p>
              <a:r>
                <a:rPr lang="en-US" sz="10000" dirty="0"/>
                <a:t>✅</a:t>
              </a:r>
            </a:p>
          </p:txBody>
        </p:sp>
        <p:sp>
          <p:nvSpPr>
            <p:cNvPr id="39" name="TextBox 38">
              <a:extLst>
                <a:ext uri="{FF2B5EF4-FFF2-40B4-BE49-F238E27FC236}">
                  <a16:creationId xmlns:a16="http://schemas.microsoft.com/office/drawing/2014/main" id="{43C2F33E-FF45-7FD8-7955-C36D4A187A60}"/>
                </a:ext>
              </a:extLst>
            </p:cNvPr>
            <p:cNvSpPr txBox="1"/>
            <p:nvPr/>
          </p:nvSpPr>
          <p:spPr>
            <a:xfrm>
              <a:off x="381000" y="5829300"/>
              <a:ext cx="1143000" cy="1569660"/>
            </a:xfrm>
            <a:prstGeom prst="rect">
              <a:avLst/>
            </a:prstGeom>
            <a:noFill/>
          </p:spPr>
          <p:txBody>
            <a:bodyPr wrap="square">
              <a:spAutoFit/>
            </a:bodyPr>
            <a:lstStyle/>
            <a:p>
              <a:r>
                <a:rPr lang="en-US" sz="4800" dirty="0">
                  <a:solidFill>
                    <a:schemeClr val="tx2"/>
                  </a:solidFill>
                  <a:latin typeface="Bahnschrift Condensed" panose="020B0502040204020203" pitchFamily="34" charset="0"/>
                </a:rPr>
                <a:t>EDA</a:t>
              </a:r>
            </a:p>
            <a:p>
              <a:r>
                <a:rPr lang="en-US" sz="4800" dirty="0">
                  <a:solidFill>
                    <a:schemeClr val="tx2"/>
                  </a:solidFill>
                  <a:latin typeface="Bahnschrift Condensed" panose="020B0502040204020203" pitchFamily="34" charset="0"/>
                </a:rPr>
                <a:t> </a:t>
              </a:r>
            </a:p>
          </p:txBody>
        </p:sp>
        <p:sp>
          <p:nvSpPr>
            <p:cNvPr id="40" name="TextBox 39">
              <a:extLst>
                <a:ext uri="{FF2B5EF4-FFF2-40B4-BE49-F238E27FC236}">
                  <a16:creationId xmlns:a16="http://schemas.microsoft.com/office/drawing/2014/main" id="{5F38B875-BAE1-54CB-720C-BCC14E9241B0}"/>
                </a:ext>
              </a:extLst>
            </p:cNvPr>
            <p:cNvSpPr txBox="1"/>
            <p:nvPr/>
          </p:nvSpPr>
          <p:spPr>
            <a:xfrm>
              <a:off x="2286000" y="5829300"/>
              <a:ext cx="2324100" cy="830997"/>
            </a:xfrm>
            <a:prstGeom prst="rect">
              <a:avLst/>
            </a:prstGeom>
            <a:noFill/>
          </p:spPr>
          <p:txBody>
            <a:bodyPr wrap="square">
              <a:spAutoFit/>
            </a:bodyPr>
            <a:lstStyle/>
            <a:p>
              <a:r>
                <a:rPr lang="en-US" sz="4800" dirty="0">
                  <a:solidFill>
                    <a:schemeClr val="tx2"/>
                  </a:solidFill>
                  <a:latin typeface="Bahnschrift Condensed" panose="020B0502040204020203" pitchFamily="34" charset="0"/>
                </a:rPr>
                <a:t>Model 1</a:t>
              </a:r>
            </a:p>
          </p:txBody>
        </p:sp>
        <p:sp>
          <p:nvSpPr>
            <p:cNvPr id="41" name="TextBox 40">
              <a:extLst>
                <a:ext uri="{FF2B5EF4-FFF2-40B4-BE49-F238E27FC236}">
                  <a16:creationId xmlns:a16="http://schemas.microsoft.com/office/drawing/2014/main" id="{42BB31C1-43B5-2B57-DD89-20B77002F6F0}"/>
                </a:ext>
              </a:extLst>
            </p:cNvPr>
            <p:cNvSpPr txBox="1"/>
            <p:nvPr/>
          </p:nvSpPr>
          <p:spPr>
            <a:xfrm>
              <a:off x="4876800" y="5905500"/>
              <a:ext cx="2324100" cy="830997"/>
            </a:xfrm>
            <a:prstGeom prst="rect">
              <a:avLst/>
            </a:prstGeom>
            <a:noFill/>
          </p:spPr>
          <p:txBody>
            <a:bodyPr wrap="square">
              <a:spAutoFit/>
            </a:bodyPr>
            <a:lstStyle/>
            <a:p>
              <a:r>
                <a:rPr lang="en-US" sz="4800" dirty="0">
                  <a:solidFill>
                    <a:schemeClr val="tx2"/>
                  </a:solidFill>
                  <a:latin typeface="Bahnschrift Condensed" panose="020B0502040204020203" pitchFamily="34" charset="0"/>
                </a:rPr>
                <a:t>Model 2</a:t>
              </a:r>
            </a:p>
          </p:txBody>
        </p:sp>
        <p:sp>
          <p:nvSpPr>
            <p:cNvPr id="42" name="TextBox 41">
              <a:extLst>
                <a:ext uri="{FF2B5EF4-FFF2-40B4-BE49-F238E27FC236}">
                  <a16:creationId xmlns:a16="http://schemas.microsoft.com/office/drawing/2014/main" id="{367D999F-4C4B-2CEC-B7DF-E7F40A8E54F4}"/>
                </a:ext>
              </a:extLst>
            </p:cNvPr>
            <p:cNvSpPr txBox="1"/>
            <p:nvPr/>
          </p:nvSpPr>
          <p:spPr>
            <a:xfrm>
              <a:off x="7467600" y="5829300"/>
              <a:ext cx="2057400" cy="830997"/>
            </a:xfrm>
            <a:prstGeom prst="rect">
              <a:avLst/>
            </a:prstGeom>
            <a:noFill/>
          </p:spPr>
          <p:txBody>
            <a:bodyPr wrap="square">
              <a:spAutoFit/>
            </a:bodyPr>
            <a:lstStyle/>
            <a:p>
              <a:r>
                <a:rPr lang="en-US" sz="4800" dirty="0">
                  <a:solidFill>
                    <a:schemeClr val="tx2"/>
                  </a:solidFill>
                  <a:latin typeface="Bahnschrift Condensed" panose="020B0502040204020203" pitchFamily="34" charset="0"/>
                </a:rPr>
                <a:t>ANOVA</a:t>
              </a:r>
            </a:p>
          </p:txBody>
        </p:sp>
        <p:sp>
          <p:nvSpPr>
            <p:cNvPr id="43" name="TextBox 42">
              <a:extLst>
                <a:ext uri="{FF2B5EF4-FFF2-40B4-BE49-F238E27FC236}">
                  <a16:creationId xmlns:a16="http://schemas.microsoft.com/office/drawing/2014/main" id="{3AF6502B-F8D3-E498-2BB9-B91374B56A18}"/>
                </a:ext>
              </a:extLst>
            </p:cNvPr>
            <p:cNvSpPr txBox="1"/>
            <p:nvPr/>
          </p:nvSpPr>
          <p:spPr>
            <a:xfrm>
              <a:off x="9372600" y="5829300"/>
              <a:ext cx="3200400" cy="830997"/>
            </a:xfrm>
            <a:prstGeom prst="rect">
              <a:avLst/>
            </a:prstGeom>
            <a:noFill/>
          </p:spPr>
          <p:txBody>
            <a:bodyPr wrap="square">
              <a:spAutoFit/>
            </a:bodyPr>
            <a:lstStyle/>
            <a:p>
              <a:r>
                <a:rPr lang="en-US" sz="4800" dirty="0">
                  <a:solidFill>
                    <a:schemeClr val="tx2"/>
                  </a:solidFill>
                  <a:latin typeface="Bahnschrift Condensed" panose="020B0502040204020203" pitchFamily="34" charset="0"/>
                </a:rPr>
                <a:t>Diagnostics</a:t>
              </a:r>
            </a:p>
          </p:txBody>
        </p:sp>
        <p:sp>
          <p:nvSpPr>
            <p:cNvPr id="44" name="TextBox 43">
              <a:extLst>
                <a:ext uri="{FF2B5EF4-FFF2-40B4-BE49-F238E27FC236}">
                  <a16:creationId xmlns:a16="http://schemas.microsoft.com/office/drawing/2014/main" id="{1D69F899-C2B7-43CE-90E0-49E240531458}"/>
                </a:ext>
              </a:extLst>
            </p:cNvPr>
            <p:cNvSpPr txBox="1"/>
            <p:nvPr/>
          </p:nvSpPr>
          <p:spPr>
            <a:xfrm>
              <a:off x="12573000" y="5829300"/>
              <a:ext cx="2324100" cy="830997"/>
            </a:xfrm>
            <a:prstGeom prst="rect">
              <a:avLst/>
            </a:prstGeom>
            <a:noFill/>
          </p:spPr>
          <p:txBody>
            <a:bodyPr wrap="square">
              <a:spAutoFit/>
            </a:bodyPr>
            <a:lstStyle/>
            <a:p>
              <a:r>
                <a:rPr lang="en-US" sz="4800" dirty="0">
                  <a:solidFill>
                    <a:schemeClr val="tx2"/>
                  </a:solidFill>
                  <a:latin typeface="Bahnschrift Condensed" panose="020B0502040204020203" pitchFamily="34" charset="0"/>
                </a:rPr>
                <a:t>Trees</a:t>
              </a:r>
            </a:p>
          </p:txBody>
        </p:sp>
        <p:sp>
          <p:nvSpPr>
            <p:cNvPr id="45" name="TextBox 44">
              <a:extLst>
                <a:ext uri="{FF2B5EF4-FFF2-40B4-BE49-F238E27FC236}">
                  <a16:creationId xmlns:a16="http://schemas.microsoft.com/office/drawing/2014/main" id="{A46BC82E-E127-5B9A-81F7-8426DC58604E}"/>
                </a:ext>
              </a:extLst>
            </p:cNvPr>
            <p:cNvSpPr txBox="1"/>
            <p:nvPr/>
          </p:nvSpPr>
          <p:spPr>
            <a:xfrm>
              <a:off x="14478000" y="5829300"/>
              <a:ext cx="2971800" cy="830997"/>
            </a:xfrm>
            <a:prstGeom prst="rect">
              <a:avLst/>
            </a:prstGeom>
            <a:noFill/>
          </p:spPr>
          <p:txBody>
            <a:bodyPr wrap="square">
              <a:spAutoFit/>
            </a:bodyPr>
            <a:lstStyle/>
            <a:p>
              <a:r>
                <a:rPr lang="en-US" sz="4800" dirty="0">
                  <a:solidFill>
                    <a:schemeClr val="tx2"/>
                  </a:solidFill>
                  <a:latin typeface="Bahnschrift Condensed" panose="020B0502040204020203" pitchFamily="34" charset="0"/>
                </a:rPr>
                <a:t>Conclusion</a:t>
              </a:r>
            </a:p>
          </p:txBody>
        </p:sp>
        <p:sp>
          <p:nvSpPr>
            <p:cNvPr id="46" name="Стрелка: вправо 45">
              <a:extLst>
                <a:ext uri="{FF2B5EF4-FFF2-40B4-BE49-F238E27FC236}">
                  <a16:creationId xmlns:a16="http://schemas.microsoft.com/office/drawing/2014/main" id="{9CB35B2B-EA58-6293-BEC1-6339C03A0435}"/>
                </a:ext>
              </a:extLst>
            </p:cNvPr>
            <p:cNvSpPr/>
            <p:nvPr/>
          </p:nvSpPr>
          <p:spPr>
            <a:xfrm>
              <a:off x="1752600" y="7581900"/>
              <a:ext cx="6858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Стрелка: вправо 46">
              <a:extLst>
                <a:ext uri="{FF2B5EF4-FFF2-40B4-BE49-F238E27FC236}">
                  <a16:creationId xmlns:a16="http://schemas.microsoft.com/office/drawing/2014/main" id="{B5E1D1CF-B9B2-38A0-F544-2D6EDEEEB6D7}"/>
                </a:ext>
              </a:extLst>
            </p:cNvPr>
            <p:cNvSpPr/>
            <p:nvPr/>
          </p:nvSpPr>
          <p:spPr>
            <a:xfrm>
              <a:off x="4343400" y="7581900"/>
              <a:ext cx="6858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Стрелка: вправо 47">
              <a:extLst>
                <a:ext uri="{FF2B5EF4-FFF2-40B4-BE49-F238E27FC236}">
                  <a16:creationId xmlns:a16="http://schemas.microsoft.com/office/drawing/2014/main" id="{817B53E9-0C7F-9009-516D-3188601F1962}"/>
                </a:ext>
              </a:extLst>
            </p:cNvPr>
            <p:cNvSpPr/>
            <p:nvPr/>
          </p:nvSpPr>
          <p:spPr>
            <a:xfrm>
              <a:off x="6781800" y="7505700"/>
              <a:ext cx="6858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Стрелка: вправо 48">
              <a:extLst>
                <a:ext uri="{FF2B5EF4-FFF2-40B4-BE49-F238E27FC236}">
                  <a16:creationId xmlns:a16="http://schemas.microsoft.com/office/drawing/2014/main" id="{343CAC63-B137-6CF3-2016-301AA6EB74A2}"/>
                </a:ext>
              </a:extLst>
            </p:cNvPr>
            <p:cNvSpPr/>
            <p:nvPr/>
          </p:nvSpPr>
          <p:spPr>
            <a:xfrm>
              <a:off x="9220200" y="7505700"/>
              <a:ext cx="6858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Стрелка: вправо 49">
              <a:extLst>
                <a:ext uri="{FF2B5EF4-FFF2-40B4-BE49-F238E27FC236}">
                  <a16:creationId xmlns:a16="http://schemas.microsoft.com/office/drawing/2014/main" id="{EC4DABCB-1FB2-F2C3-F7DC-87CCBA786BD4}"/>
                </a:ext>
              </a:extLst>
            </p:cNvPr>
            <p:cNvSpPr/>
            <p:nvPr/>
          </p:nvSpPr>
          <p:spPr>
            <a:xfrm>
              <a:off x="11658600" y="7353300"/>
              <a:ext cx="6858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Стрелка: вправо 50">
              <a:extLst>
                <a:ext uri="{FF2B5EF4-FFF2-40B4-BE49-F238E27FC236}">
                  <a16:creationId xmlns:a16="http://schemas.microsoft.com/office/drawing/2014/main" id="{BA6D7062-2ABF-BEB7-6180-E00E3E108362}"/>
                </a:ext>
              </a:extLst>
            </p:cNvPr>
            <p:cNvSpPr/>
            <p:nvPr/>
          </p:nvSpPr>
          <p:spPr>
            <a:xfrm>
              <a:off x="14097000" y="7353300"/>
              <a:ext cx="6858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Rectangle 1">
            <a:extLst>
              <a:ext uri="{FF2B5EF4-FFF2-40B4-BE49-F238E27FC236}">
                <a16:creationId xmlns:a16="http://schemas.microsoft.com/office/drawing/2014/main" id="{2E99F576-634D-CC70-B3DA-4B44CDF77A2B}"/>
              </a:ext>
            </a:extLst>
          </p:cNvPr>
          <p:cNvSpPr>
            <a:spLocks noChangeArrowheads="1"/>
          </p:cNvSpPr>
          <p:nvPr/>
        </p:nvSpPr>
        <p:spPr bwMode="auto">
          <a:xfrm>
            <a:off x="10972800" y="6743700"/>
            <a:ext cx="640080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Char char="•"/>
              <a:tabLst/>
            </a:pPr>
            <a:r>
              <a:rPr lang="en-US" altLang="en-US" sz="4400" dirty="0">
                <a:solidFill>
                  <a:schemeClr val="tx2"/>
                </a:solidFill>
                <a:latin typeface="Bahnschrift Condensed" panose="020B0502040204020203" pitchFamily="34" charset="0"/>
              </a:rPr>
              <a:t>Regression trees: </a:t>
            </a:r>
          </a:p>
          <a:p>
            <a:pPr marR="0" lvl="0" indent="0" fontAlgn="base">
              <a:lnSpc>
                <a:spcPct val="100000"/>
              </a:lnSpc>
              <a:spcBef>
                <a:spcPct val="0"/>
              </a:spcBef>
              <a:spcAft>
                <a:spcPct val="0"/>
              </a:spcAft>
              <a:buClrTx/>
              <a:buSzTx/>
              <a:buFontTx/>
              <a:buChar char="•"/>
              <a:tabLst/>
            </a:pPr>
            <a:r>
              <a:rPr lang="en-US" altLang="en-US" sz="4400" dirty="0">
                <a:solidFill>
                  <a:schemeClr val="tx2"/>
                </a:solidFill>
                <a:latin typeface="Bahnschrift Condensed" panose="020B0502040204020203" pitchFamily="34" charset="0"/>
              </a:rPr>
              <a:t>with grade </a:t>
            </a:r>
          </a:p>
          <a:p>
            <a:pPr marR="0" lvl="0" indent="0" fontAlgn="base">
              <a:lnSpc>
                <a:spcPct val="100000"/>
              </a:lnSpc>
              <a:spcBef>
                <a:spcPct val="0"/>
              </a:spcBef>
              <a:spcAft>
                <a:spcPct val="0"/>
              </a:spcAft>
              <a:buClrTx/>
              <a:buSzTx/>
              <a:buFontTx/>
              <a:buChar char="•"/>
              <a:tabLst/>
            </a:pPr>
            <a:r>
              <a:rPr lang="en-US" altLang="en-US" sz="4400" dirty="0">
                <a:solidFill>
                  <a:schemeClr val="tx2"/>
                </a:solidFill>
                <a:latin typeface="Bahnschrift Condensed" panose="020B0502040204020203" pitchFamily="34" charset="0"/>
              </a:rPr>
              <a:t>without grade</a:t>
            </a:r>
            <a:endParaRPr kumimoji="0" lang="en-US" altLang="en-US" sz="4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34254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4AFB84-C1AC-4BB4-156C-D50655DB888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11B20C9-0D60-F0EB-D261-04F2842A9657}"/>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F1358353-E1F1-326D-1C1D-48BC8DD5B827}"/>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5" name="TextBox 4">
            <a:extLst>
              <a:ext uri="{FF2B5EF4-FFF2-40B4-BE49-F238E27FC236}">
                <a16:creationId xmlns:a16="http://schemas.microsoft.com/office/drawing/2014/main" id="{805723B8-07D0-8FD8-B20D-506D9A698BA2}"/>
              </a:ext>
            </a:extLst>
          </p:cNvPr>
          <p:cNvSpPr txBox="1"/>
          <p:nvPr/>
        </p:nvSpPr>
        <p:spPr>
          <a:xfrm>
            <a:off x="609600" y="3429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rgbClr val="FF0000"/>
                </a:solidFill>
                <a:latin typeface="Bahnschrift Condensed" panose="020B0502040204020203" pitchFamily="34" charset="0"/>
              </a:rPr>
              <a:t>INITIAL EVIDENCE: WEAK DIRECT RELATIONSHIPS</a:t>
            </a:r>
          </a:p>
        </p:txBody>
      </p:sp>
      <p:sp>
        <p:nvSpPr>
          <p:cNvPr id="8" name="TextBox 7">
            <a:extLst>
              <a:ext uri="{FF2B5EF4-FFF2-40B4-BE49-F238E27FC236}">
                <a16:creationId xmlns:a16="http://schemas.microsoft.com/office/drawing/2014/main" id="{8EFC75F4-9D5A-302D-9EA2-76BE21B4611D}"/>
              </a:ext>
            </a:extLst>
          </p:cNvPr>
          <p:cNvSpPr txBox="1"/>
          <p:nvPr/>
        </p:nvSpPr>
        <p:spPr>
          <a:xfrm>
            <a:off x="537029" y="1257300"/>
            <a:ext cx="4038600" cy="3416320"/>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 Borrower characteristics alone show weak direct association with interest rate.</a:t>
            </a:r>
          </a:p>
          <a:p>
            <a:pPr fontAlgn="base">
              <a:spcBef>
                <a:spcPct val="0"/>
              </a:spcBef>
              <a:spcAft>
                <a:spcPct val="0"/>
              </a:spcAft>
            </a:pPr>
            <a:endParaRPr lang="en-US" sz="3600" dirty="0">
              <a:solidFill>
                <a:srgbClr val="002060"/>
              </a:solidFill>
              <a:latin typeface="Bahnschrift Condensed" panose="020B0502040204020203" pitchFamily="34" charset="0"/>
            </a:endParaRPr>
          </a:p>
        </p:txBody>
      </p:sp>
      <p:sp>
        <p:nvSpPr>
          <p:cNvPr id="3" name="Rectangle 1">
            <a:extLst>
              <a:ext uri="{FF2B5EF4-FFF2-40B4-BE49-F238E27FC236}">
                <a16:creationId xmlns:a16="http://schemas.microsoft.com/office/drawing/2014/main" id="{88E75D74-091C-2C43-9F55-922B9AC3D271}"/>
              </a:ext>
            </a:extLst>
          </p:cNvPr>
          <p:cNvSpPr>
            <a:spLocks noChangeArrowheads="1"/>
          </p:cNvSpPr>
          <p:nvPr/>
        </p:nvSpPr>
        <p:spPr bwMode="auto">
          <a:xfrm>
            <a:off x="609600" y="4856321"/>
            <a:ext cx="53340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fontAlgn="base">
              <a:spcBef>
                <a:spcPct val="0"/>
              </a:spcBef>
              <a:spcAft>
                <a:spcPct val="0"/>
              </a:spcAft>
              <a:buFontTx/>
              <a:buChar char="•"/>
            </a:pPr>
            <a:r>
              <a:rPr lang="en-US" altLang="en-US" sz="3600" dirty="0">
                <a:solidFill>
                  <a:schemeClr val="tx2"/>
                </a:solidFill>
                <a:latin typeface="Bahnschrift Condensed" panose="020B0502040204020203" pitchFamily="34" charset="0"/>
              </a:rPr>
              <a:t>Small correlations </a:t>
            </a:r>
          </a:p>
          <a:p>
            <a:pPr fontAlgn="base">
              <a:spcBef>
                <a:spcPct val="0"/>
              </a:spcBef>
              <a:spcAft>
                <a:spcPct val="0"/>
              </a:spcAft>
              <a:buFontTx/>
              <a:buChar char="•"/>
            </a:pPr>
            <a:r>
              <a:rPr lang="en-US" altLang="en-US" sz="3600" dirty="0">
                <a:solidFill>
                  <a:schemeClr val="tx2"/>
                </a:solidFill>
                <a:latin typeface="Bahnschrift Condensed" panose="020B0502040204020203" pitchFamily="34" charset="0"/>
              </a:rPr>
              <a:t>Weak linear patterns </a:t>
            </a:r>
          </a:p>
          <a:p>
            <a:pPr fontAlgn="base">
              <a:spcBef>
                <a:spcPct val="0"/>
              </a:spcBef>
              <a:spcAft>
                <a:spcPct val="0"/>
              </a:spcAft>
              <a:buFontTx/>
              <a:buChar char="•"/>
            </a:pPr>
            <a:r>
              <a:rPr lang="en-US" altLang="en-US" sz="3600" dirty="0">
                <a:solidFill>
                  <a:schemeClr val="tx2"/>
                </a:solidFill>
                <a:latin typeface="Bahnschrift Condensed" panose="020B0502040204020203" pitchFamily="34" charset="0"/>
              </a:rPr>
              <a:t>Borrower effects limited </a:t>
            </a:r>
          </a:p>
          <a:p>
            <a:pPr fontAlgn="base">
              <a:spcBef>
                <a:spcPct val="0"/>
              </a:spcBef>
              <a:spcAft>
                <a:spcPct val="0"/>
              </a:spcAft>
              <a:buFontTx/>
              <a:buChar char="•"/>
            </a:pPr>
            <a:r>
              <a:rPr lang="en-US" altLang="en-US" sz="3600" dirty="0">
                <a:solidFill>
                  <a:schemeClr val="tx2"/>
                </a:solidFill>
                <a:latin typeface="Bahnschrift Condensed" panose="020B0502040204020203" pitchFamily="34" charset="0"/>
              </a:rPr>
              <a:t>Risk signal exists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9" name="Рисунок 8">
            <a:extLst>
              <a:ext uri="{FF2B5EF4-FFF2-40B4-BE49-F238E27FC236}">
                <a16:creationId xmlns:a16="http://schemas.microsoft.com/office/drawing/2014/main" id="{05BFC250-40B0-597D-CED0-49FCE454A9F5}"/>
              </a:ext>
            </a:extLst>
          </p:cNvPr>
          <p:cNvPicPr>
            <a:picLocks noChangeAspect="1"/>
          </p:cNvPicPr>
          <p:nvPr/>
        </p:nvPicPr>
        <p:blipFill>
          <a:blip r:embed="rId4"/>
          <a:stretch>
            <a:fillRect/>
          </a:stretch>
        </p:blipFill>
        <p:spPr>
          <a:xfrm>
            <a:off x="5257800" y="1790700"/>
            <a:ext cx="11634801" cy="7068324"/>
          </a:xfrm>
          <a:prstGeom prst="rect">
            <a:avLst/>
          </a:prstGeom>
        </p:spPr>
      </p:pic>
      <p:pic>
        <p:nvPicPr>
          <p:cNvPr id="12" name="Picture 2">
            <a:extLst>
              <a:ext uri="{FF2B5EF4-FFF2-40B4-BE49-F238E27FC236}">
                <a16:creationId xmlns:a16="http://schemas.microsoft.com/office/drawing/2014/main" id="{AEA6D13B-73AC-8BCC-3E51-158BACBAC09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616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E3547F-2D9E-EB06-9FCB-84F7FBCE121B}"/>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9FF41AB8-5C93-582A-6D66-AAE1822C86F7}"/>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5" name="TextBox 4">
            <a:extLst>
              <a:ext uri="{FF2B5EF4-FFF2-40B4-BE49-F238E27FC236}">
                <a16:creationId xmlns:a16="http://schemas.microsoft.com/office/drawing/2014/main" id="{5F9DD985-B115-B05A-2EA9-894C10F60CDE}"/>
              </a:ext>
            </a:extLst>
          </p:cNvPr>
          <p:cNvSpPr txBox="1"/>
          <p:nvPr/>
        </p:nvSpPr>
        <p:spPr>
          <a:xfrm>
            <a:off x="609600" y="342900"/>
            <a:ext cx="12344400" cy="1200329"/>
          </a:xfrm>
          <a:prstGeom prst="rect">
            <a:avLst/>
          </a:prstGeom>
          <a:noFill/>
        </p:spPr>
        <p:txBody>
          <a:bodyPr wrap="square">
            <a:spAutoFit/>
          </a:bodyPr>
          <a:lstStyle/>
          <a:p>
            <a:pPr indent="-457200">
              <a:buFont typeface="Arial" panose="020B0604020202020204" pitchFamily="34" charset="0"/>
              <a:buChar char="•"/>
            </a:pPr>
            <a:r>
              <a:rPr lang="en-US" sz="3600" b="1" u="sng" dirty="0">
                <a:solidFill>
                  <a:srgbClr val="FF0000"/>
                </a:solidFill>
                <a:latin typeface="Bahnschrift Condensed" panose="020B0502040204020203" pitchFamily="34" charset="0"/>
              </a:rPr>
              <a:t>CATEGORICAL RISK SIGNAL: PRIOR DEFAULT MATTERS</a:t>
            </a:r>
          </a:p>
          <a:p>
            <a:pPr indent="-457200">
              <a:buFont typeface="Arial" panose="020B0604020202020204" pitchFamily="34" charset="0"/>
              <a:buChar char="•"/>
            </a:pPr>
            <a:endParaRPr lang="en-US" sz="3600" b="1" u="sng" dirty="0">
              <a:solidFill>
                <a:schemeClr val="tx2"/>
              </a:solidFill>
              <a:latin typeface="Bahnschrift Condensed" panose="020B0502040204020203" pitchFamily="34" charset="0"/>
            </a:endParaRPr>
          </a:p>
        </p:txBody>
      </p:sp>
      <p:sp>
        <p:nvSpPr>
          <p:cNvPr id="8" name="TextBox 7">
            <a:extLst>
              <a:ext uri="{FF2B5EF4-FFF2-40B4-BE49-F238E27FC236}">
                <a16:creationId xmlns:a16="http://schemas.microsoft.com/office/drawing/2014/main" id="{3FAEDB2F-D0CA-A95D-D365-8E1028B9715D}"/>
              </a:ext>
            </a:extLst>
          </p:cNvPr>
          <p:cNvSpPr txBox="1"/>
          <p:nvPr/>
        </p:nvSpPr>
        <p:spPr>
          <a:xfrm>
            <a:off x="537029" y="1257300"/>
            <a:ext cx="4038600" cy="3970318"/>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 Among borrower characteristics, prior default history shows the clearest early pricing signal</a:t>
            </a:r>
          </a:p>
          <a:p>
            <a:pPr fontAlgn="base">
              <a:spcBef>
                <a:spcPct val="0"/>
              </a:spcBef>
              <a:spcAft>
                <a:spcPct val="0"/>
              </a:spcAft>
            </a:pPr>
            <a:endParaRPr lang="en-US" sz="3600" dirty="0">
              <a:solidFill>
                <a:srgbClr val="002060"/>
              </a:solidFill>
              <a:latin typeface="Bahnschrift Condensed" panose="020B0502040204020203" pitchFamily="34" charset="0"/>
            </a:endParaRPr>
          </a:p>
        </p:txBody>
      </p:sp>
      <p:pic>
        <p:nvPicPr>
          <p:cNvPr id="12" name="Picture 2">
            <a:extLst>
              <a:ext uri="{FF2B5EF4-FFF2-40B4-BE49-F238E27FC236}">
                <a16:creationId xmlns:a16="http://schemas.microsoft.com/office/drawing/2014/main" id="{19EA30EC-C7D7-BA19-9F83-3B405A21162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a:extLst>
              <a:ext uri="{FF2B5EF4-FFF2-40B4-BE49-F238E27FC236}">
                <a16:creationId xmlns:a16="http://schemas.microsoft.com/office/drawing/2014/main" id="{811B2E98-6805-2467-4D00-85EAE66B0D66}"/>
              </a:ext>
            </a:extLst>
          </p:cNvPr>
          <p:cNvSpPr>
            <a:spLocks noChangeArrowheads="1"/>
          </p:cNvSpPr>
          <p:nvPr/>
        </p:nvSpPr>
        <p:spPr bwMode="auto">
          <a:xfrm>
            <a:off x="533400" y="5524500"/>
            <a:ext cx="534473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indent="-285750" fontAlgn="base">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Clear group difference </a:t>
            </a:r>
          </a:p>
          <a:p>
            <a:pPr marR="0" lvl="0" indent="-285750" fontAlgn="base">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Default history → higher rates </a:t>
            </a:r>
          </a:p>
          <a:p>
            <a:pPr marR="0" lvl="0" indent="-285750" fontAlgn="base">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Risk already priced in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Рисунок 9">
            <a:extLst>
              <a:ext uri="{FF2B5EF4-FFF2-40B4-BE49-F238E27FC236}">
                <a16:creationId xmlns:a16="http://schemas.microsoft.com/office/drawing/2014/main" id="{2980153C-9D9D-09D2-35B3-05A2D1D35907}"/>
              </a:ext>
            </a:extLst>
          </p:cNvPr>
          <p:cNvPicPr>
            <a:picLocks noChangeAspect="1"/>
          </p:cNvPicPr>
          <p:nvPr/>
        </p:nvPicPr>
        <p:blipFill>
          <a:blip r:embed="rId4"/>
          <a:stretch>
            <a:fillRect/>
          </a:stretch>
        </p:blipFill>
        <p:spPr>
          <a:xfrm>
            <a:off x="5638800" y="1714096"/>
            <a:ext cx="11758023" cy="7163204"/>
          </a:xfrm>
          <a:prstGeom prst="rect">
            <a:avLst/>
          </a:prstGeom>
        </p:spPr>
      </p:pic>
      <p:sp>
        <p:nvSpPr>
          <p:cNvPr id="2" name="Freeform 2">
            <a:extLst>
              <a:ext uri="{FF2B5EF4-FFF2-40B4-BE49-F238E27FC236}">
                <a16:creationId xmlns:a16="http://schemas.microsoft.com/office/drawing/2014/main" id="{FD22AE93-F269-11F4-E30A-B9A9A829937D}"/>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653417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BB92D3-1D29-1052-8361-1A21C8CA5885}"/>
            </a:ext>
          </a:extLst>
        </p:cNvPr>
        <p:cNvGrpSpPr/>
        <p:nvPr/>
      </p:nvGrpSpPr>
      <p:grpSpPr>
        <a:xfrm>
          <a:off x="0" y="0"/>
          <a:ext cx="0" cy="0"/>
          <a:chOff x="0" y="0"/>
          <a:chExt cx="0" cy="0"/>
        </a:xfrm>
      </p:grpSpPr>
      <p:pic>
        <p:nvPicPr>
          <p:cNvPr id="13" name="Рисунок 12">
            <a:extLst>
              <a:ext uri="{FF2B5EF4-FFF2-40B4-BE49-F238E27FC236}">
                <a16:creationId xmlns:a16="http://schemas.microsoft.com/office/drawing/2014/main" id="{3CD83247-E2FA-81DF-559C-7A36271BA1F7}"/>
              </a:ext>
            </a:extLst>
          </p:cNvPr>
          <p:cNvPicPr>
            <a:picLocks noChangeAspect="1"/>
          </p:cNvPicPr>
          <p:nvPr/>
        </p:nvPicPr>
        <p:blipFill>
          <a:blip r:embed="rId2"/>
          <a:stretch>
            <a:fillRect/>
          </a:stretch>
        </p:blipFill>
        <p:spPr>
          <a:xfrm>
            <a:off x="5486400" y="1409700"/>
            <a:ext cx="8859486" cy="5668166"/>
          </a:xfrm>
          <a:prstGeom prst="rect">
            <a:avLst/>
          </a:prstGeom>
        </p:spPr>
      </p:pic>
      <p:sp>
        <p:nvSpPr>
          <p:cNvPr id="5" name="TextBox 4">
            <a:extLst>
              <a:ext uri="{FF2B5EF4-FFF2-40B4-BE49-F238E27FC236}">
                <a16:creationId xmlns:a16="http://schemas.microsoft.com/office/drawing/2014/main" id="{083D9B94-F36B-2AC0-B5E1-C625ED735F81}"/>
              </a:ext>
            </a:extLst>
          </p:cNvPr>
          <p:cNvSpPr txBox="1"/>
          <p:nvPr/>
        </p:nvSpPr>
        <p:spPr>
          <a:xfrm>
            <a:off x="609600" y="3429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rgbClr val="FF0000"/>
                </a:solidFill>
                <a:latin typeface="Bahnschrift Condensed" panose="020B0502040204020203" pitchFamily="34" charset="0"/>
              </a:rPr>
              <a:t>MODEL 1: BORROWER CHARACTERISTICS ONLY</a:t>
            </a:r>
          </a:p>
        </p:txBody>
      </p:sp>
      <p:sp>
        <p:nvSpPr>
          <p:cNvPr id="8" name="TextBox 7">
            <a:extLst>
              <a:ext uri="{FF2B5EF4-FFF2-40B4-BE49-F238E27FC236}">
                <a16:creationId xmlns:a16="http://schemas.microsoft.com/office/drawing/2014/main" id="{9A0E4962-DB0C-081B-A9F8-ECC7A38E65BB}"/>
              </a:ext>
            </a:extLst>
          </p:cNvPr>
          <p:cNvSpPr txBox="1"/>
          <p:nvPr/>
        </p:nvSpPr>
        <p:spPr>
          <a:xfrm>
            <a:off x="537029" y="1257300"/>
            <a:ext cx="4038600" cy="2862322"/>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Borrower variables matter statistically, but explain only a moderate portion of pricing.</a:t>
            </a:r>
          </a:p>
        </p:txBody>
      </p:sp>
      <p:pic>
        <p:nvPicPr>
          <p:cNvPr id="12" name="Picture 2">
            <a:extLst>
              <a:ext uri="{FF2B5EF4-FFF2-40B4-BE49-F238E27FC236}">
                <a16:creationId xmlns:a16="http://schemas.microsoft.com/office/drawing/2014/main" id="{B76FA95D-D362-DF03-9EB6-8E825019368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3BCA50B9-23A0-79CF-E6D1-C15D5E17897D}"/>
              </a:ext>
            </a:extLst>
          </p:cNvPr>
          <p:cNvSpPr>
            <a:spLocks noChangeArrowheads="1"/>
          </p:cNvSpPr>
          <p:nvPr/>
        </p:nvSpPr>
        <p:spPr bwMode="auto">
          <a:xfrm>
            <a:off x="685800" y="5219700"/>
            <a:ext cx="54102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Several variables significant </a:t>
            </a:r>
          </a:p>
          <a:p>
            <a:pPr indent="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Prior default strongest </a:t>
            </a:r>
          </a:p>
          <a:p>
            <a:pPr indent="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R² = 26.3% </a:t>
            </a:r>
          </a:p>
          <a:p>
            <a:pPr indent="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Moderate explanatory power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Рисунок 8">
            <a:extLst>
              <a:ext uri="{FF2B5EF4-FFF2-40B4-BE49-F238E27FC236}">
                <a16:creationId xmlns:a16="http://schemas.microsoft.com/office/drawing/2014/main" id="{F481EBCC-D3ED-B9D4-72F7-37B4138D5C39}"/>
              </a:ext>
            </a:extLst>
          </p:cNvPr>
          <p:cNvPicPr>
            <a:picLocks noChangeAspect="1"/>
          </p:cNvPicPr>
          <p:nvPr/>
        </p:nvPicPr>
        <p:blipFill>
          <a:blip r:embed="rId4"/>
          <a:stretch>
            <a:fillRect/>
          </a:stretch>
        </p:blipFill>
        <p:spPr>
          <a:xfrm>
            <a:off x="9448800" y="3619500"/>
            <a:ext cx="7497221" cy="4858428"/>
          </a:xfrm>
          <a:prstGeom prst="rect">
            <a:avLst/>
          </a:prstGeom>
        </p:spPr>
      </p:pic>
      <p:sp>
        <p:nvSpPr>
          <p:cNvPr id="4" name="Freeform 4">
            <a:extLst>
              <a:ext uri="{FF2B5EF4-FFF2-40B4-BE49-F238E27FC236}">
                <a16:creationId xmlns:a16="http://schemas.microsoft.com/office/drawing/2014/main" id="{B8AF6047-947B-CBB3-23FF-7A186F07C026}"/>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2" name="Freeform 2">
            <a:extLst>
              <a:ext uri="{FF2B5EF4-FFF2-40B4-BE49-F238E27FC236}">
                <a16:creationId xmlns:a16="http://schemas.microsoft.com/office/drawing/2014/main" id="{C56F5335-7A8B-ACB5-B07A-12E6E57F8EDB}"/>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extLst>
      <p:ext uri="{BB962C8B-B14F-4D97-AF65-F5344CB8AC3E}">
        <p14:creationId xmlns:p14="http://schemas.microsoft.com/office/powerpoint/2010/main" val="3121588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051BF9-6A1C-5DF8-E399-E2CF78F2D87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1AD84C0-5549-ECE4-1980-C2D8F0670A6D}"/>
              </a:ext>
            </a:extLst>
          </p:cNvPr>
          <p:cNvSpPr txBox="1"/>
          <p:nvPr/>
        </p:nvSpPr>
        <p:spPr>
          <a:xfrm>
            <a:off x="609600" y="3429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rgbClr val="FF0000"/>
                </a:solidFill>
                <a:latin typeface="Bahnschrift Condensed" panose="020B0502040204020203" pitchFamily="34" charset="0"/>
              </a:rPr>
              <a:t>MODEL 2: LOAN GRADE CHANGES THE STORY</a:t>
            </a:r>
          </a:p>
        </p:txBody>
      </p:sp>
      <p:sp>
        <p:nvSpPr>
          <p:cNvPr id="8" name="TextBox 7">
            <a:extLst>
              <a:ext uri="{FF2B5EF4-FFF2-40B4-BE49-F238E27FC236}">
                <a16:creationId xmlns:a16="http://schemas.microsoft.com/office/drawing/2014/main" id="{08A25A74-B3D3-EAAA-0774-0FFA40E791AB}"/>
              </a:ext>
            </a:extLst>
          </p:cNvPr>
          <p:cNvSpPr txBox="1"/>
          <p:nvPr/>
        </p:nvSpPr>
        <p:spPr>
          <a:xfrm>
            <a:off x="537029" y="1257300"/>
            <a:ext cx="4034972" cy="2308324"/>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Loan grade dramatically improves model fit and dominates pricing</a:t>
            </a:r>
          </a:p>
        </p:txBody>
      </p:sp>
      <p:pic>
        <p:nvPicPr>
          <p:cNvPr id="12" name="Picture 2">
            <a:extLst>
              <a:ext uri="{FF2B5EF4-FFF2-40B4-BE49-F238E27FC236}">
                <a16:creationId xmlns:a16="http://schemas.microsoft.com/office/drawing/2014/main" id="{F68C6BE6-AD3C-33FB-7E1C-976499D9793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a:extLst>
              <a:ext uri="{FF2B5EF4-FFF2-40B4-BE49-F238E27FC236}">
                <a16:creationId xmlns:a16="http://schemas.microsoft.com/office/drawing/2014/main" id="{EC63F569-9ABD-0A13-9C15-6543BB021D52}"/>
              </a:ext>
            </a:extLst>
          </p:cNvPr>
          <p:cNvSpPr>
            <a:spLocks noChangeArrowheads="1"/>
          </p:cNvSpPr>
          <p:nvPr/>
        </p:nvSpPr>
        <p:spPr bwMode="auto">
          <a:xfrm>
            <a:off x="609600" y="5067300"/>
            <a:ext cx="512672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Adding loan grade </a:t>
            </a:r>
          </a:p>
          <a:p>
            <a:pPr marR="0" lvl="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R²: 26.3% → 90.3% </a:t>
            </a:r>
          </a:p>
          <a:p>
            <a:pPr marR="0" lvl="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Borrower effects weaken </a:t>
            </a:r>
          </a:p>
          <a:p>
            <a:pPr marR="0" lvl="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Grade absorbs risk information </a:t>
            </a:r>
          </a:p>
        </p:txBody>
      </p:sp>
      <p:pic>
        <p:nvPicPr>
          <p:cNvPr id="10" name="Рисунок 9">
            <a:extLst>
              <a:ext uri="{FF2B5EF4-FFF2-40B4-BE49-F238E27FC236}">
                <a16:creationId xmlns:a16="http://schemas.microsoft.com/office/drawing/2014/main" id="{F98D7BD5-B481-1609-20D6-1D7116959231}"/>
              </a:ext>
            </a:extLst>
          </p:cNvPr>
          <p:cNvPicPr>
            <a:picLocks noChangeAspect="1"/>
          </p:cNvPicPr>
          <p:nvPr/>
        </p:nvPicPr>
        <p:blipFill>
          <a:blip r:embed="rId3"/>
          <a:stretch>
            <a:fillRect/>
          </a:stretch>
        </p:blipFill>
        <p:spPr>
          <a:xfrm>
            <a:off x="8828355" y="4605673"/>
            <a:ext cx="9459645" cy="5715798"/>
          </a:xfrm>
          <a:prstGeom prst="rect">
            <a:avLst/>
          </a:prstGeom>
        </p:spPr>
      </p:pic>
      <p:sp>
        <p:nvSpPr>
          <p:cNvPr id="2" name="Freeform 2">
            <a:extLst>
              <a:ext uri="{FF2B5EF4-FFF2-40B4-BE49-F238E27FC236}">
                <a16:creationId xmlns:a16="http://schemas.microsoft.com/office/drawing/2014/main" id="{39877B5B-9567-9EF7-BCB1-0419C46F3A44}"/>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14" name="Рисунок 13">
            <a:extLst>
              <a:ext uri="{FF2B5EF4-FFF2-40B4-BE49-F238E27FC236}">
                <a16:creationId xmlns:a16="http://schemas.microsoft.com/office/drawing/2014/main" id="{885820B5-8B69-931F-2CDF-8B1867A3E402}"/>
              </a:ext>
            </a:extLst>
          </p:cNvPr>
          <p:cNvPicPr>
            <a:picLocks noChangeAspect="1"/>
          </p:cNvPicPr>
          <p:nvPr/>
        </p:nvPicPr>
        <p:blipFill>
          <a:blip r:embed="rId5"/>
          <a:stretch>
            <a:fillRect/>
          </a:stretch>
        </p:blipFill>
        <p:spPr>
          <a:xfrm>
            <a:off x="6553200" y="1181100"/>
            <a:ext cx="7573432" cy="6058746"/>
          </a:xfrm>
          <a:prstGeom prst="rect">
            <a:avLst/>
          </a:prstGeom>
        </p:spPr>
      </p:pic>
      <p:sp>
        <p:nvSpPr>
          <p:cNvPr id="4" name="Freeform 4">
            <a:extLst>
              <a:ext uri="{FF2B5EF4-FFF2-40B4-BE49-F238E27FC236}">
                <a16:creationId xmlns:a16="http://schemas.microsoft.com/office/drawing/2014/main" id="{EA455B92-5C9C-F236-1F51-9451A2F1E004}"/>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Tree>
    <p:extLst>
      <p:ext uri="{BB962C8B-B14F-4D97-AF65-F5344CB8AC3E}">
        <p14:creationId xmlns:p14="http://schemas.microsoft.com/office/powerpoint/2010/main" val="517087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B79ADD-080A-DB0C-035A-BEA4558B84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3D003C4-03E1-11FF-7923-8867ACBBE7D0}"/>
              </a:ext>
            </a:extLst>
          </p:cNvPr>
          <p:cNvSpPr txBox="1"/>
          <p:nvPr/>
        </p:nvSpPr>
        <p:spPr>
          <a:xfrm>
            <a:off x="609600" y="3429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rgbClr val="FF0000"/>
                </a:solidFill>
                <a:latin typeface="Bahnschrift Condensed" panose="020B0502040204020203" pitchFamily="34" charset="0"/>
              </a:rPr>
              <a:t>ANOVA CONFIRMS THE IMPROVEMENT</a:t>
            </a:r>
          </a:p>
        </p:txBody>
      </p:sp>
      <p:sp>
        <p:nvSpPr>
          <p:cNvPr id="8" name="TextBox 7">
            <a:extLst>
              <a:ext uri="{FF2B5EF4-FFF2-40B4-BE49-F238E27FC236}">
                <a16:creationId xmlns:a16="http://schemas.microsoft.com/office/drawing/2014/main" id="{7174BFB3-53AB-1FF5-F564-B004CBF98EB3}"/>
              </a:ext>
            </a:extLst>
          </p:cNvPr>
          <p:cNvSpPr txBox="1"/>
          <p:nvPr/>
        </p:nvSpPr>
        <p:spPr>
          <a:xfrm>
            <a:off x="537029" y="1257300"/>
            <a:ext cx="4034972" cy="2308324"/>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The improvement from adding loan grade is statistically decisive</a:t>
            </a:r>
            <a:r>
              <a:rPr lang="en-US" sz="3600" dirty="0"/>
              <a:t>.</a:t>
            </a:r>
            <a:endParaRPr lang="en-US" sz="3600" dirty="0">
              <a:solidFill>
                <a:srgbClr val="002060"/>
              </a:solidFill>
              <a:latin typeface="Bahnschrift Condensed" panose="020B0502040204020203" pitchFamily="34" charset="0"/>
            </a:endParaRPr>
          </a:p>
        </p:txBody>
      </p:sp>
      <p:pic>
        <p:nvPicPr>
          <p:cNvPr id="12" name="Picture 2">
            <a:extLst>
              <a:ext uri="{FF2B5EF4-FFF2-40B4-BE49-F238E27FC236}">
                <a16:creationId xmlns:a16="http://schemas.microsoft.com/office/drawing/2014/main" id="{D8CEBBD0-2144-FF04-E541-3F3B852FF73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2">
            <a:extLst>
              <a:ext uri="{FF2B5EF4-FFF2-40B4-BE49-F238E27FC236}">
                <a16:creationId xmlns:a16="http://schemas.microsoft.com/office/drawing/2014/main" id="{4F1CFA79-C531-29D3-D3C2-854C7D5CF93D}"/>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Rectangle 1">
            <a:extLst>
              <a:ext uri="{FF2B5EF4-FFF2-40B4-BE49-F238E27FC236}">
                <a16:creationId xmlns:a16="http://schemas.microsoft.com/office/drawing/2014/main" id="{DD7F06E9-FFBA-8A74-489A-6B7C9AAE36C4}"/>
              </a:ext>
            </a:extLst>
          </p:cNvPr>
          <p:cNvSpPr>
            <a:spLocks noChangeArrowheads="1"/>
          </p:cNvSpPr>
          <p:nvPr/>
        </p:nvSpPr>
        <p:spPr bwMode="auto">
          <a:xfrm>
            <a:off x="838200" y="4533900"/>
            <a:ext cx="477085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indent="-28575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Large RSS reduction </a:t>
            </a:r>
          </a:p>
          <a:p>
            <a:pPr indent="-28575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F = 31,485 </a:t>
            </a:r>
          </a:p>
          <a:p>
            <a:pPr indent="-28575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p &lt; 2e-16 </a:t>
            </a:r>
          </a:p>
          <a:p>
            <a:pPr indent="-28575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Model 2 significantly better </a:t>
            </a:r>
          </a:p>
        </p:txBody>
      </p:sp>
      <p:pic>
        <p:nvPicPr>
          <p:cNvPr id="9" name="Рисунок 8">
            <a:extLst>
              <a:ext uri="{FF2B5EF4-FFF2-40B4-BE49-F238E27FC236}">
                <a16:creationId xmlns:a16="http://schemas.microsoft.com/office/drawing/2014/main" id="{9FD59B9C-4B7D-0461-05D8-E70F3060E240}"/>
              </a:ext>
            </a:extLst>
          </p:cNvPr>
          <p:cNvPicPr>
            <a:picLocks noChangeAspect="1"/>
          </p:cNvPicPr>
          <p:nvPr/>
        </p:nvPicPr>
        <p:blipFill>
          <a:blip r:embed="rId4"/>
          <a:stretch>
            <a:fillRect/>
          </a:stretch>
        </p:blipFill>
        <p:spPr>
          <a:xfrm>
            <a:off x="7239000" y="1181100"/>
            <a:ext cx="8059275" cy="3924848"/>
          </a:xfrm>
          <a:prstGeom prst="rect">
            <a:avLst/>
          </a:prstGeom>
        </p:spPr>
      </p:pic>
      <p:sp>
        <p:nvSpPr>
          <p:cNvPr id="4" name="Freeform 4">
            <a:extLst>
              <a:ext uri="{FF2B5EF4-FFF2-40B4-BE49-F238E27FC236}">
                <a16:creationId xmlns:a16="http://schemas.microsoft.com/office/drawing/2014/main" id="{56169FB0-7AE2-98A8-2330-8FB2CDFAA61A}"/>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pic>
        <p:nvPicPr>
          <p:cNvPr id="13" name="Рисунок 12">
            <a:extLst>
              <a:ext uri="{FF2B5EF4-FFF2-40B4-BE49-F238E27FC236}">
                <a16:creationId xmlns:a16="http://schemas.microsoft.com/office/drawing/2014/main" id="{87E2CC8A-4CD5-756D-D9D4-911BEF44C1C9}"/>
              </a:ext>
            </a:extLst>
          </p:cNvPr>
          <p:cNvPicPr>
            <a:picLocks noChangeAspect="1"/>
          </p:cNvPicPr>
          <p:nvPr/>
        </p:nvPicPr>
        <p:blipFill>
          <a:blip r:embed="rId6"/>
          <a:stretch>
            <a:fillRect/>
          </a:stretch>
        </p:blipFill>
        <p:spPr>
          <a:xfrm>
            <a:off x="6172200" y="5448300"/>
            <a:ext cx="6639852" cy="2372056"/>
          </a:xfrm>
          <a:prstGeom prst="rect">
            <a:avLst/>
          </a:prstGeom>
        </p:spPr>
      </p:pic>
    </p:spTree>
    <p:extLst>
      <p:ext uri="{BB962C8B-B14F-4D97-AF65-F5344CB8AC3E}">
        <p14:creationId xmlns:p14="http://schemas.microsoft.com/office/powerpoint/2010/main" val="2959142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342F34-FF55-9ABE-A154-32CCAAC1FEB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C38487C-1B8A-90CB-1865-C1746D0A86D3}"/>
              </a:ext>
            </a:extLst>
          </p:cNvPr>
          <p:cNvSpPr txBox="1"/>
          <p:nvPr/>
        </p:nvSpPr>
        <p:spPr>
          <a:xfrm>
            <a:off x="609600" y="3429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rgbClr val="FF0000"/>
                </a:solidFill>
                <a:latin typeface="Bahnschrift Condensed" panose="020B0502040204020203" pitchFamily="34" charset="0"/>
              </a:rPr>
              <a:t>MODEL DIAGNOSTICS: THE REGRESSION IS RELIABLE</a:t>
            </a:r>
          </a:p>
        </p:txBody>
      </p:sp>
      <p:sp>
        <p:nvSpPr>
          <p:cNvPr id="8" name="TextBox 7">
            <a:extLst>
              <a:ext uri="{FF2B5EF4-FFF2-40B4-BE49-F238E27FC236}">
                <a16:creationId xmlns:a16="http://schemas.microsoft.com/office/drawing/2014/main" id="{7F0C5966-FDA0-1CAC-B007-6A19165B9ADE}"/>
              </a:ext>
            </a:extLst>
          </p:cNvPr>
          <p:cNvSpPr txBox="1"/>
          <p:nvPr/>
        </p:nvSpPr>
        <p:spPr>
          <a:xfrm>
            <a:off x="537029" y="1257300"/>
            <a:ext cx="4034972" cy="1754326"/>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Regression assumptions are reasonably satisfied</a:t>
            </a:r>
            <a:r>
              <a:rPr lang="en-US" sz="3600" dirty="0"/>
              <a:t>.</a:t>
            </a:r>
            <a:endParaRPr lang="en-US" sz="3600" dirty="0">
              <a:solidFill>
                <a:srgbClr val="002060"/>
              </a:solidFill>
              <a:latin typeface="Bahnschrift Condensed" panose="020B0502040204020203" pitchFamily="34" charset="0"/>
            </a:endParaRPr>
          </a:p>
        </p:txBody>
      </p:sp>
      <p:pic>
        <p:nvPicPr>
          <p:cNvPr id="12" name="Picture 2">
            <a:extLst>
              <a:ext uri="{FF2B5EF4-FFF2-40B4-BE49-F238E27FC236}">
                <a16:creationId xmlns:a16="http://schemas.microsoft.com/office/drawing/2014/main" id="{12646613-238F-7164-69FC-948D3F9DD6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4">
            <a:extLst>
              <a:ext uri="{FF2B5EF4-FFF2-40B4-BE49-F238E27FC236}">
                <a16:creationId xmlns:a16="http://schemas.microsoft.com/office/drawing/2014/main" id="{163EDFBD-5C08-F26C-A423-E0CE4B8F3D5F}"/>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6" name="Rectangle 1">
            <a:extLst>
              <a:ext uri="{FF2B5EF4-FFF2-40B4-BE49-F238E27FC236}">
                <a16:creationId xmlns:a16="http://schemas.microsoft.com/office/drawing/2014/main" id="{9E01FDEA-E268-06CC-DA05-199E30D5C28C}"/>
              </a:ext>
            </a:extLst>
          </p:cNvPr>
          <p:cNvSpPr>
            <a:spLocks noChangeArrowheads="1"/>
          </p:cNvSpPr>
          <p:nvPr/>
        </p:nvSpPr>
        <p:spPr bwMode="auto">
          <a:xfrm>
            <a:off x="685800" y="4533900"/>
            <a:ext cx="442300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No strong pattern </a:t>
            </a: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Variance mostly stable </a:t>
            </a: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No dominant outliers </a:t>
            </a: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Minor tail deviations only </a:t>
            </a:r>
          </a:p>
        </p:txBody>
      </p:sp>
      <p:pic>
        <p:nvPicPr>
          <p:cNvPr id="10" name="Рисунок 9">
            <a:extLst>
              <a:ext uri="{FF2B5EF4-FFF2-40B4-BE49-F238E27FC236}">
                <a16:creationId xmlns:a16="http://schemas.microsoft.com/office/drawing/2014/main" id="{35CF3708-1A56-D17B-6342-B91BF93E0D5E}"/>
              </a:ext>
            </a:extLst>
          </p:cNvPr>
          <p:cNvPicPr>
            <a:picLocks noChangeAspect="1"/>
          </p:cNvPicPr>
          <p:nvPr/>
        </p:nvPicPr>
        <p:blipFill>
          <a:blip r:embed="rId4"/>
          <a:stretch>
            <a:fillRect/>
          </a:stretch>
        </p:blipFill>
        <p:spPr>
          <a:xfrm>
            <a:off x="5181600" y="1790700"/>
            <a:ext cx="11129873" cy="6620256"/>
          </a:xfrm>
          <a:prstGeom prst="rect">
            <a:avLst/>
          </a:prstGeom>
        </p:spPr>
      </p:pic>
      <p:sp>
        <p:nvSpPr>
          <p:cNvPr id="2" name="Freeform 2">
            <a:extLst>
              <a:ext uri="{FF2B5EF4-FFF2-40B4-BE49-F238E27FC236}">
                <a16:creationId xmlns:a16="http://schemas.microsoft.com/office/drawing/2014/main" id="{F9C25C1A-7C20-D403-BE96-86EC71088D28}"/>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713389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13837E-B38F-53B1-49CE-EF9695074D7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5A6C7E4-0894-933B-E0BA-8A2BDFD0598A}"/>
              </a:ext>
            </a:extLst>
          </p:cNvPr>
          <p:cNvSpPr txBox="1"/>
          <p:nvPr/>
        </p:nvSpPr>
        <p:spPr>
          <a:xfrm>
            <a:off x="609600" y="3429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rgbClr val="FF0000"/>
                </a:solidFill>
                <a:latin typeface="Bahnschrift Condensed" panose="020B0502040204020203" pitchFamily="34" charset="0"/>
              </a:rPr>
              <a:t>KEY VISUAL RESULT: INTEREST RATE RISES BY LOAN GRADE</a:t>
            </a:r>
          </a:p>
        </p:txBody>
      </p:sp>
      <p:sp>
        <p:nvSpPr>
          <p:cNvPr id="8" name="TextBox 7">
            <a:extLst>
              <a:ext uri="{FF2B5EF4-FFF2-40B4-BE49-F238E27FC236}">
                <a16:creationId xmlns:a16="http://schemas.microsoft.com/office/drawing/2014/main" id="{184AE900-27DB-B3F2-2FE1-7F413DA091E0}"/>
              </a:ext>
            </a:extLst>
          </p:cNvPr>
          <p:cNvSpPr txBox="1"/>
          <p:nvPr/>
        </p:nvSpPr>
        <p:spPr>
          <a:xfrm>
            <a:off x="537029" y="1257300"/>
            <a:ext cx="4034972" cy="2308324"/>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Loan grade provides the clearest visual summary of the pricing </a:t>
            </a:r>
            <a:r>
              <a:rPr lang="en-US" sz="3600" dirty="0" err="1">
                <a:solidFill>
                  <a:srgbClr val="002060"/>
                </a:solidFill>
                <a:latin typeface="Bahnschrift Condensed" panose="020B0502040204020203" pitchFamily="34" charset="0"/>
              </a:rPr>
              <a:t>mechnism</a:t>
            </a:r>
            <a:r>
              <a:rPr lang="en-US" sz="3600" dirty="0"/>
              <a:t>.</a:t>
            </a:r>
            <a:endParaRPr lang="en-US" sz="3600" dirty="0">
              <a:solidFill>
                <a:srgbClr val="002060"/>
              </a:solidFill>
              <a:latin typeface="Bahnschrift Condensed" panose="020B0502040204020203" pitchFamily="34" charset="0"/>
            </a:endParaRPr>
          </a:p>
        </p:txBody>
      </p:sp>
      <p:pic>
        <p:nvPicPr>
          <p:cNvPr id="12" name="Picture 2">
            <a:extLst>
              <a:ext uri="{FF2B5EF4-FFF2-40B4-BE49-F238E27FC236}">
                <a16:creationId xmlns:a16="http://schemas.microsoft.com/office/drawing/2014/main" id="{3D2A29AE-21CF-A4C8-3596-634612F6EB7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4">
            <a:extLst>
              <a:ext uri="{FF2B5EF4-FFF2-40B4-BE49-F238E27FC236}">
                <a16:creationId xmlns:a16="http://schemas.microsoft.com/office/drawing/2014/main" id="{011B941C-B6D2-3654-BE56-1D5E778592F5}"/>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3" name="Rectangle 1">
            <a:extLst>
              <a:ext uri="{FF2B5EF4-FFF2-40B4-BE49-F238E27FC236}">
                <a16:creationId xmlns:a16="http://schemas.microsoft.com/office/drawing/2014/main" id="{1E431501-9860-B98B-8516-29505B9AEDD8}"/>
              </a:ext>
            </a:extLst>
          </p:cNvPr>
          <p:cNvSpPr>
            <a:spLocks noChangeArrowheads="1"/>
          </p:cNvSpPr>
          <p:nvPr/>
        </p:nvSpPr>
        <p:spPr bwMode="auto">
          <a:xfrm>
            <a:off x="609600" y="4991100"/>
            <a:ext cx="486954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0" eaLnBrk="0" fontAlgn="base" hangingPunct="0">
              <a:spcBef>
                <a:spcPct val="0"/>
              </a:spcBef>
              <a:spcAft>
                <a:spcPct val="0"/>
              </a:spcAft>
              <a:buFontTx/>
              <a:buNone/>
            </a:pPr>
            <a:endParaRPr lang="en-US" altLang="en-US" dirty="0">
              <a:latin typeface="Arial" panose="020B0604020202020204" pitchFamily="34" charset="0"/>
            </a:endParaRPr>
          </a:p>
          <a:p>
            <a:pPr indent="-28575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Clear upward trend</a:t>
            </a:r>
          </a:p>
          <a:p>
            <a:pPr indent="-28575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 A → G monotonic increase </a:t>
            </a:r>
          </a:p>
          <a:p>
            <a:pPr indent="-28575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Strong evidence of                    </a:t>
            </a:r>
          </a:p>
          <a:p>
            <a:pPr eaLnBrk="0" fontAlgn="base" hangingPunct="0">
              <a:spcBef>
                <a:spcPct val="0"/>
              </a:spcBef>
              <a:spcAft>
                <a:spcPct val="0"/>
              </a:spcAft>
            </a:pPr>
            <a:r>
              <a:rPr lang="en-US" altLang="en-US" sz="3600" dirty="0">
                <a:solidFill>
                  <a:schemeClr val="tx2"/>
                </a:solidFill>
                <a:latin typeface="Bahnschrift Condensed" panose="020B0502040204020203" pitchFamily="34" charset="0"/>
              </a:rPr>
              <a:t>   risk-based pricing </a:t>
            </a:r>
          </a:p>
        </p:txBody>
      </p:sp>
      <p:pic>
        <p:nvPicPr>
          <p:cNvPr id="9" name="Рисунок 8">
            <a:extLst>
              <a:ext uri="{FF2B5EF4-FFF2-40B4-BE49-F238E27FC236}">
                <a16:creationId xmlns:a16="http://schemas.microsoft.com/office/drawing/2014/main" id="{E480ACB5-A6CA-FF66-3D51-8FE73A99C3A1}"/>
              </a:ext>
            </a:extLst>
          </p:cNvPr>
          <p:cNvPicPr>
            <a:picLocks noChangeAspect="1"/>
          </p:cNvPicPr>
          <p:nvPr/>
        </p:nvPicPr>
        <p:blipFill>
          <a:blip r:embed="rId4"/>
          <a:stretch>
            <a:fillRect/>
          </a:stretch>
        </p:blipFill>
        <p:spPr>
          <a:xfrm>
            <a:off x="5410200" y="2476500"/>
            <a:ext cx="10955100" cy="7206073"/>
          </a:xfrm>
          <a:prstGeom prst="rect">
            <a:avLst/>
          </a:prstGeom>
        </p:spPr>
      </p:pic>
      <p:sp>
        <p:nvSpPr>
          <p:cNvPr id="2" name="Freeform 2">
            <a:extLst>
              <a:ext uri="{FF2B5EF4-FFF2-40B4-BE49-F238E27FC236}">
                <a16:creationId xmlns:a16="http://schemas.microsoft.com/office/drawing/2014/main" id="{BC856B21-9AC2-FB1E-3766-81AEDAB1E1C2}"/>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3609528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F642FA-F5B8-7C8C-DA3F-5BBA49D9972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1B73F9C-7D21-E2AC-0518-CDC84A39A0CB}"/>
              </a:ext>
            </a:extLst>
          </p:cNvPr>
          <p:cNvSpPr txBox="1"/>
          <p:nvPr/>
        </p:nvSpPr>
        <p:spPr>
          <a:xfrm>
            <a:off x="609600" y="3429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rgbClr val="FF0000"/>
                </a:solidFill>
                <a:latin typeface="Bahnschrift Condensed" panose="020B0502040204020203" pitchFamily="34" charset="0"/>
              </a:rPr>
              <a:t>PREDICTION TOOL: ESTIMATING INTEREST RATE FOR A NEW BORROWER</a:t>
            </a:r>
          </a:p>
        </p:txBody>
      </p:sp>
      <p:sp>
        <p:nvSpPr>
          <p:cNvPr id="8" name="TextBox 7">
            <a:extLst>
              <a:ext uri="{FF2B5EF4-FFF2-40B4-BE49-F238E27FC236}">
                <a16:creationId xmlns:a16="http://schemas.microsoft.com/office/drawing/2014/main" id="{EF0730E0-35C3-8598-B543-2943444D3409}"/>
              </a:ext>
            </a:extLst>
          </p:cNvPr>
          <p:cNvSpPr txBox="1"/>
          <p:nvPr/>
        </p:nvSpPr>
        <p:spPr>
          <a:xfrm>
            <a:off x="537029" y="1257300"/>
            <a:ext cx="4034972" cy="2308324"/>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The model can be operationalized as a practical pricing tool.</a:t>
            </a:r>
          </a:p>
        </p:txBody>
      </p:sp>
      <p:pic>
        <p:nvPicPr>
          <p:cNvPr id="12" name="Picture 2">
            <a:extLst>
              <a:ext uri="{FF2B5EF4-FFF2-40B4-BE49-F238E27FC236}">
                <a16:creationId xmlns:a16="http://schemas.microsoft.com/office/drawing/2014/main" id="{CE8865E5-0F2A-DD8A-D489-45222BA6948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4">
            <a:extLst>
              <a:ext uri="{FF2B5EF4-FFF2-40B4-BE49-F238E27FC236}">
                <a16:creationId xmlns:a16="http://schemas.microsoft.com/office/drawing/2014/main" id="{A7022616-165E-F103-A4B4-5199CB7F0011}"/>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6" name="Rectangle 1">
            <a:extLst>
              <a:ext uri="{FF2B5EF4-FFF2-40B4-BE49-F238E27FC236}">
                <a16:creationId xmlns:a16="http://schemas.microsoft.com/office/drawing/2014/main" id="{A4D7F07A-1FE6-0683-C774-22539DE3139D}"/>
              </a:ext>
            </a:extLst>
          </p:cNvPr>
          <p:cNvSpPr>
            <a:spLocks noChangeArrowheads="1"/>
          </p:cNvSpPr>
          <p:nvPr/>
        </p:nvSpPr>
        <p:spPr bwMode="auto">
          <a:xfrm>
            <a:off x="381000" y="4076700"/>
            <a:ext cx="446308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indent="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Input borrower profile </a:t>
            </a:r>
          </a:p>
          <a:p>
            <a:pPr marR="0" lvl="0" indent="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Predict interest rate </a:t>
            </a:r>
          </a:p>
          <a:p>
            <a:pPr marR="0" lvl="0" indent="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Practical decision-support </a:t>
            </a:r>
          </a:p>
          <a:p>
            <a:pPr marR="0" lvl="0" indent="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Not exact institutional rule </a:t>
            </a:r>
          </a:p>
        </p:txBody>
      </p:sp>
      <p:pic>
        <p:nvPicPr>
          <p:cNvPr id="10" name="Рисунок 9">
            <a:extLst>
              <a:ext uri="{FF2B5EF4-FFF2-40B4-BE49-F238E27FC236}">
                <a16:creationId xmlns:a16="http://schemas.microsoft.com/office/drawing/2014/main" id="{3BA7100F-E475-F21D-0FC3-382A5BF0770C}"/>
              </a:ext>
            </a:extLst>
          </p:cNvPr>
          <p:cNvPicPr>
            <a:picLocks noChangeAspect="1"/>
          </p:cNvPicPr>
          <p:nvPr/>
        </p:nvPicPr>
        <p:blipFill>
          <a:blip r:embed="rId4"/>
          <a:stretch>
            <a:fillRect/>
          </a:stretch>
        </p:blipFill>
        <p:spPr>
          <a:xfrm>
            <a:off x="5181600" y="2933700"/>
            <a:ext cx="12212754" cy="4696480"/>
          </a:xfrm>
          <a:prstGeom prst="rect">
            <a:avLst/>
          </a:prstGeom>
        </p:spPr>
      </p:pic>
      <p:sp>
        <p:nvSpPr>
          <p:cNvPr id="2" name="Freeform 2">
            <a:extLst>
              <a:ext uri="{FF2B5EF4-FFF2-40B4-BE49-F238E27FC236}">
                <a16:creationId xmlns:a16="http://schemas.microsoft.com/office/drawing/2014/main" id="{F58EC9E5-3166-589F-BCC1-2D067E919F0E}"/>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3100875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C3227F-418A-F0BF-1DEE-EBC90EBD2D8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8C69A4D-C009-A139-703B-33403544C7FA}"/>
              </a:ext>
            </a:extLst>
          </p:cNvPr>
          <p:cNvSpPr txBox="1"/>
          <p:nvPr/>
        </p:nvSpPr>
        <p:spPr>
          <a:xfrm>
            <a:off x="609600" y="3429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rgbClr val="FF0000"/>
                </a:solidFill>
                <a:latin typeface="Bahnschrift Condensed" panose="020B0502040204020203" pitchFamily="34" charset="0"/>
              </a:rPr>
              <a:t>REGRESSION TREE WITH LOAN GRADE</a:t>
            </a:r>
          </a:p>
        </p:txBody>
      </p:sp>
      <p:sp>
        <p:nvSpPr>
          <p:cNvPr id="8" name="TextBox 7">
            <a:extLst>
              <a:ext uri="{FF2B5EF4-FFF2-40B4-BE49-F238E27FC236}">
                <a16:creationId xmlns:a16="http://schemas.microsoft.com/office/drawing/2014/main" id="{E7A0D902-89AD-7726-650D-A07912D80682}"/>
              </a:ext>
            </a:extLst>
          </p:cNvPr>
          <p:cNvSpPr txBox="1"/>
          <p:nvPr/>
        </p:nvSpPr>
        <p:spPr>
          <a:xfrm>
            <a:off x="537029" y="1257300"/>
            <a:ext cx="4034972" cy="2308324"/>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The tree confirms that pricing is dominated by loan grade.</a:t>
            </a:r>
          </a:p>
        </p:txBody>
      </p:sp>
      <p:pic>
        <p:nvPicPr>
          <p:cNvPr id="12" name="Picture 2">
            <a:extLst>
              <a:ext uri="{FF2B5EF4-FFF2-40B4-BE49-F238E27FC236}">
                <a16:creationId xmlns:a16="http://schemas.microsoft.com/office/drawing/2014/main" id="{83CA017D-89AD-ACB2-A388-C7D1AAEEF2D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4">
            <a:extLst>
              <a:ext uri="{FF2B5EF4-FFF2-40B4-BE49-F238E27FC236}">
                <a16:creationId xmlns:a16="http://schemas.microsoft.com/office/drawing/2014/main" id="{40AC0F34-3711-923E-3F93-BC0C1634F0D8}"/>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3" name="Rectangle 1">
            <a:extLst>
              <a:ext uri="{FF2B5EF4-FFF2-40B4-BE49-F238E27FC236}">
                <a16:creationId xmlns:a16="http://schemas.microsoft.com/office/drawing/2014/main" id="{BCC4827B-9BA7-B148-D1BE-114978C9DB4C}"/>
              </a:ext>
            </a:extLst>
          </p:cNvPr>
          <p:cNvSpPr>
            <a:spLocks noChangeArrowheads="1"/>
          </p:cNvSpPr>
          <p:nvPr/>
        </p:nvSpPr>
        <p:spPr bwMode="auto">
          <a:xfrm>
            <a:off x="457200" y="5891599"/>
            <a:ext cx="457849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First split: loan grade </a:t>
            </a:r>
          </a:p>
          <a:p>
            <a:pPr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Sequential risk ladder </a:t>
            </a:r>
          </a:p>
          <a:p>
            <a:pPr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No borrower variables used </a:t>
            </a:r>
          </a:p>
          <a:p>
            <a:pPr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Rule-based pricing </a:t>
            </a:r>
          </a:p>
        </p:txBody>
      </p:sp>
      <p:pic>
        <p:nvPicPr>
          <p:cNvPr id="9" name="Рисунок 8">
            <a:extLst>
              <a:ext uri="{FF2B5EF4-FFF2-40B4-BE49-F238E27FC236}">
                <a16:creationId xmlns:a16="http://schemas.microsoft.com/office/drawing/2014/main" id="{AFD86D1E-E38B-D275-F18F-EAE845E84D79}"/>
              </a:ext>
            </a:extLst>
          </p:cNvPr>
          <p:cNvPicPr>
            <a:picLocks noChangeAspect="1"/>
          </p:cNvPicPr>
          <p:nvPr/>
        </p:nvPicPr>
        <p:blipFill>
          <a:blip r:embed="rId4"/>
          <a:stretch>
            <a:fillRect/>
          </a:stretch>
        </p:blipFill>
        <p:spPr>
          <a:xfrm>
            <a:off x="5486400" y="1943100"/>
            <a:ext cx="11379697" cy="6967914"/>
          </a:xfrm>
          <a:prstGeom prst="rect">
            <a:avLst/>
          </a:prstGeom>
        </p:spPr>
      </p:pic>
      <p:sp>
        <p:nvSpPr>
          <p:cNvPr id="2" name="Freeform 2">
            <a:extLst>
              <a:ext uri="{FF2B5EF4-FFF2-40B4-BE49-F238E27FC236}">
                <a16:creationId xmlns:a16="http://schemas.microsoft.com/office/drawing/2014/main" id="{41F49436-168B-3DC2-DFBE-6212663EF9C6}"/>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1812183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72DA43-F982-4443-8858-3055CB5592A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72A7B94-55E5-CC85-9055-A299BDBA4891}"/>
              </a:ext>
            </a:extLst>
          </p:cNvPr>
          <p:cNvSpPr txBox="1"/>
          <p:nvPr/>
        </p:nvSpPr>
        <p:spPr>
          <a:xfrm>
            <a:off x="609600" y="342900"/>
            <a:ext cx="12344400" cy="1200329"/>
          </a:xfrm>
          <a:prstGeom prst="rect">
            <a:avLst/>
          </a:prstGeom>
          <a:noFill/>
        </p:spPr>
        <p:txBody>
          <a:bodyPr wrap="square">
            <a:spAutoFit/>
          </a:bodyPr>
          <a:lstStyle/>
          <a:p>
            <a:pPr indent="-457200">
              <a:buFont typeface="Arial" panose="020B0604020202020204" pitchFamily="34" charset="0"/>
              <a:buChar char="•"/>
            </a:pPr>
            <a:r>
              <a:rPr lang="en-US" sz="3600" b="1" u="sng" dirty="0">
                <a:solidFill>
                  <a:srgbClr val="FF0000"/>
                </a:solidFill>
                <a:latin typeface="Bahnschrift Condensed" panose="020B0502040204020203" pitchFamily="34" charset="0"/>
              </a:rPr>
              <a:t>REGRESSION TREE WITHOUT LOAN GRADE</a:t>
            </a:r>
          </a:p>
          <a:p>
            <a:pPr indent="-457200">
              <a:buFont typeface="Arial" panose="020B0604020202020204" pitchFamily="34" charset="0"/>
              <a:buChar char="•"/>
            </a:pPr>
            <a:endParaRPr lang="en-US" sz="3600" b="1" u="sng" dirty="0">
              <a:solidFill>
                <a:schemeClr val="tx2"/>
              </a:solidFill>
              <a:latin typeface="Bahnschrift Condensed" panose="020B0502040204020203" pitchFamily="34" charset="0"/>
            </a:endParaRPr>
          </a:p>
        </p:txBody>
      </p:sp>
      <p:sp>
        <p:nvSpPr>
          <p:cNvPr id="8" name="TextBox 7">
            <a:extLst>
              <a:ext uri="{FF2B5EF4-FFF2-40B4-BE49-F238E27FC236}">
                <a16:creationId xmlns:a16="http://schemas.microsoft.com/office/drawing/2014/main" id="{2A7A8A9D-203D-38B9-8619-F40B769C9673}"/>
              </a:ext>
            </a:extLst>
          </p:cNvPr>
          <p:cNvSpPr txBox="1"/>
          <p:nvPr/>
        </p:nvSpPr>
        <p:spPr>
          <a:xfrm>
            <a:off x="537029" y="1257300"/>
            <a:ext cx="4034972" cy="2308324"/>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Without loan grade, borrower-level pricing drivers become visible</a:t>
            </a:r>
          </a:p>
        </p:txBody>
      </p:sp>
      <p:pic>
        <p:nvPicPr>
          <p:cNvPr id="12" name="Picture 2">
            <a:extLst>
              <a:ext uri="{FF2B5EF4-FFF2-40B4-BE49-F238E27FC236}">
                <a16:creationId xmlns:a16="http://schemas.microsoft.com/office/drawing/2014/main" id="{3C45D50B-9CF1-5539-AFC1-ADE430204CE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4">
            <a:extLst>
              <a:ext uri="{FF2B5EF4-FFF2-40B4-BE49-F238E27FC236}">
                <a16:creationId xmlns:a16="http://schemas.microsoft.com/office/drawing/2014/main" id="{C70ECF32-39D1-F7D4-A1BB-E1376B7A7E77}"/>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6" name="Rectangle 1">
            <a:extLst>
              <a:ext uri="{FF2B5EF4-FFF2-40B4-BE49-F238E27FC236}">
                <a16:creationId xmlns:a16="http://schemas.microsoft.com/office/drawing/2014/main" id="{5272640E-13C8-B533-7CA5-43AE19F16766}"/>
              </a:ext>
            </a:extLst>
          </p:cNvPr>
          <p:cNvSpPr>
            <a:spLocks noChangeArrowheads="1"/>
          </p:cNvSpPr>
          <p:nvPr/>
        </p:nvSpPr>
        <p:spPr bwMode="auto">
          <a:xfrm>
            <a:off x="685800" y="4152900"/>
            <a:ext cx="559961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Without grade:</a:t>
            </a: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 prior default </a:t>
            </a: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home ownership </a:t>
            </a: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Grade summarizes borrower risk </a:t>
            </a: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May recover bank pricing rule </a:t>
            </a: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Market/time factors missing </a:t>
            </a:r>
          </a:p>
        </p:txBody>
      </p:sp>
      <p:pic>
        <p:nvPicPr>
          <p:cNvPr id="10" name="Рисунок 9">
            <a:extLst>
              <a:ext uri="{FF2B5EF4-FFF2-40B4-BE49-F238E27FC236}">
                <a16:creationId xmlns:a16="http://schemas.microsoft.com/office/drawing/2014/main" id="{24CDFE87-F1CC-9A8F-7294-8039A35B9EFD}"/>
              </a:ext>
            </a:extLst>
          </p:cNvPr>
          <p:cNvPicPr>
            <a:picLocks noChangeAspect="1"/>
          </p:cNvPicPr>
          <p:nvPr/>
        </p:nvPicPr>
        <p:blipFill>
          <a:blip r:embed="rId4"/>
          <a:stretch>
            <a:fillRect/>
          </a:stretch>
        </p:blipFill>
        <p:spPr>
          <a:xfrm>
            <a:off x="6400800" y="1866900"/>
            <a:ext cx="9747151" cy="5984730"/>
          </a:xfrm>
          <a:prstGeom prst="rect">
            <a:avLst/>
          </a:prstGeom>
        </p:spPr>
      </p:pic>
      <p:sp>
        <p:nvSpPr>
          <p:cNvPr id="2" name="Freeform 2">
            <a:extLst>
              <a:ext uri="{FF2B5EF4-FFF2-40B4-BE49-F238E27FC236}">
                <a16:creationId xmlns:a16="http://schemas.microsoft.com/office/drawing/2014/main" id="{46096702-EADC-C3F8-9C6E-12F31CB1209F}"/>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2356494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C6C1B3-A553-6B70-25A1-D85F8972DE7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F603A45-4BAF-1D12-5FD5-2DBE9D62EE44}"/>
              </a:ext>
            </a:extLst>
          </p:cNvPr>
          <p:cNvSpPr txBox="1"/>
          <p:nvPr/>
        </p:nvSpPr>
        <p:spPr>
          <a:xfrm>
            <a:off x="609600" y="342900"/>
            <a:ext cx="12344400" cy="1200329"/>
          </a:xfrm>
          <a:prstGeom prst="rect">
            <a:avLst/>
          </a:prstGeom>
          <a:noFill/>
        </p:spPr>
        <p:txBody>
          <a:bodyPr wrap="square">
            <a:spAutoFit/>
          </a:bodyPr>
          <a:lstStyle/>
          <a:p>
            <a:pPr indent="-457200">
              <a:buFont typeface="Arial" panose="020B0604020202020204" pitchFamily="34" charset="0"/>
              <a:buChar char="•"/>
            </a:pPr>
            <a:r>
              <a:rPr lang="en-US" sz="3600" b="1" u="sng" dirty="0">
                <a:solidFill>
                  <a:schemeClr val="tx2"/>
                </a:solidFill>
                <a:highlight>
                  <a:srgbClr val="FFFF00"/>
                </a:highlight>
                <a:latin typeface="Bahnschrift Condensed" panose="020B0502040204020203" pitchFamily="34" charset="0"/>
              </a:rPr>
              <a:t>KEY FINDINGS</a:t>
            </a:r>
          </a:p>
          <a:p>
            <a:pPr indent="-457200">
              <a:buFont typeface="Arial" panose="020B0604020202020204" pitchFamily="34" charset="0"/>
              <a:buChar char="•"/>
            </a:pPr>
            <a:endParaRPr lang="en-US" sz="3600" b="1" u="sng" dirty="0">
              <a:solidFill>
                <a:schemeClr val="tx2"/>
              </a:solidFill>
              <a:latin typeface="Bahnschrift Condensed" panose="020B0502040204020203" pitchFamily="34" charset="0"/>
            </a:endParaRPr>
          </a:p>
        </p:txBody>
      </p:sp>
      <p:pic>
        <p:nvPicPr>
          <p:cNvPr id="12" name="Picture 2">
            <a:extLst>
              <a:ext uri="{FF2B5EF4-FFF2-40B4-BE49-F238E27FC236}">
                <a16:creationId xmlns:a16="http://schemas.microsoft.com/office/drawing/2014/main" id="{BE157D09-10D3-F34B-6E86-A6896BCEF8D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4">
            <a:extLst>
              <a:ext uri="{FF2B5EF4-FFF2-40B4-BE49-F238E27FC236}">
                <a16:creationId xmlns:a16="http://schemas.microsoft.com/office/drawing/2014/main" id="{1C1BA4C2-3D73-DF33-0CBF-F7862459EA9B}"/>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2" name="Freeform 2">
            <a:extLst>
              <a:ext uri="{FF2B5EF4-FFF2-40B4-BE49-F238E27FC236}">
                <a16:creationId xmlns:a16="http://schemas.microsoft.com/office/drawing/2014/main" id="{46DA58E7-E7DE-EB5F-9253-A1588425D4C4}"/>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5">
            <a:extLst>
              <a:ext uri="{FF2B5EF4-FFF2-40B4-BE49-F238E27FC236}">
                <a16:creationId xmlns:a16="http://schemas.microsoft.com/office/drawing/2014/main" id="{89EBDD29-E5B4-418A-C428-49ABFE2A04F9}"/>
              </a:ext>
            </a:extLst>
          </p:cNvPr>
          <p:cNvSpPr txBox="1"/>
          <p:nvPr/>
        </p:nvSpPr>
        <p:spPr>
          <a:xfrm>
            <a:off x="1219200" y="1257300"/>
            <a:ext cx="5029200" cy="954107"/>
          </a:xfrm>
          <a:prstGeom prst="rect">
            <a:avLst/>
          </a:prstGeom>
          <a:noFill/>
        </p:spPr>
        <p:txBody>
          <a:bodyPr wrap="square">
            <a:spAutoFit/>
          </a:bodyPr>
          <a:lstStyle/>
          <a:p>
            <a:r>
              <a:rPr lang="en-US" sz="2800" dirty="0">
                <a:solidFill>
                  <a:srgbClr val="002060"/>
                </a:solidFill>
                <a:latin typeface="Bahnschrift Condensed" panose="020B0502040204020203" pitchFamily="34" charset="0"/>
              </a:rPr>
              <a:t>Borrower characteristics alone explain surprisingly little of interest rates</a:t>
            </a:r>
          </a:p>
        </p:txBody>
      </p:sp>
      <p:sp>
        <p:nvSpPr>
          <p:cNvPr id="9" name="TextBox 8">
            <a:extLst>
              <a:ext uri="{FF2B5EF4-FFF2-40B4-BE49-F238E27FC236}">
                <a16:creationId xmlns:a16="http://schemas.microsoft.com/office/drawing/2014/main" id="{83977A36-A101-833D-C2BA-1B7D01ADB1CF}"/>
              </a:ext>
            </a:extLst>
          </p:cNvPr>
          <p:cNvSpPr txBox="1"/>
          <p:nvPr/>
        </p:nvSpPr>
        <p:spPr>
          <a:xfrm>
            <a:off x="6477000" y="1257300"/>
            <a:ext cx="11201400" cy="1569660"/>
          </a:xfrm>
          <a:prstGeom prst="rect">
            <a:avLst/>
          </a:prstGeom>
          <a:noFill/>
        </p:spPr>
        <p:txBody>
          <a:bodyPr wrap="square">
            <a:spAutoFit/>
          </a:bodyPr>
          <a:lstStyle/>
          <a:p>
            <a:pPr>
              <a:buNone/>
            </a:pPr>
            <a:r>
              <a:rPr lang="en-US" sz="2400" dirty="0">
                <a:solidFill>
                  <a:srgbClr val="FF0000"/>
                </a:solidFill>
                <a:latin typeface="Bahnschrift Condensed" panose="020B0502040204020203" pitchFamily="34" charset="0"/>
              </a:rPr>
              <a:t>Finding:</a:t>
            </a:r>
            <a:br>
              <a:rPr lang="en-US" sz="2400" dirty="0">
                <a:solidFill>
                  <a:srgbClr val="002060"/>
                </a:solidFill>
                <a:latin typeface="Bahnschrift Condensed" panose="020B0502040204020203" pitchFamily="34" charset="0"/>
              </a:rPr>
            </a:br>
            <a:r>
              <a:rPr lang="en-US" sz="2400" dirty="0">
                <a:solidFill>
                  <a:srgbClr val="002060"/>
                </a:solidFill>
                <a:latin typeface="Bahnschrift Condensed" panose="020B0502040204020203" pitchFamily="34" charset="0"/>
              </a:rPr>
              <a:t>While borrower attributes (income, employment, credit history) are statistically                                          significant, they explain only about 26% of variation in interest rates.</a:t>
            </a:r>
          </a:p>
          <a:p>
            <a:pPr>
              <a:buNone/>
            </a:pPr>
            <a:r>
              <a:rPr lang="en-US" sz="2400" dirty="0">
                <a:solidFill>
                  <a:srgbClr val="FF0000"/>
                </a:solidFill>
                <a:latin typeface="Bahnschrift Condensed" panose="020B0502040204020203" pitchFamily="34" charset="0"/>
              </a:rPr>
              <a:t>Why this is striking: </a:t>
            </a:r>
            <a:r>
              <a:rPr lang="en-US" sz="2400" dirty="0">
                <a:solidFill>
                  <a:srgbClr val="002060"/>
                </a:solidFill>
                <a:latin typeface="Bahnschrift Condensed" panose="020B0502040204020203" pitchFamily="34" charset="0"/>
              </a:rPr>
              <a:t>I expected borrower profile to strongly drive pricing - but it doesn’t</a:t>
            </a:r>
            <a:r>
              <a:rPr lang="en-US" sz="2400" dirty="0"/>
              <a:t>.</a:t>
            </a:r>
          </a:p>
        </p:txBody>
      </p:sp>
      <p:sp>
        <p:nvSpPr>
          <p:cNvPr id="13" name="TextBox 12">
            <a:extLst>
              <a:ext uri="{FF2B5EF4-FFF2-40B4-BE49-F238E27FC236}">
                <a16:creationId xmlns:a16="http://schemas.microsoft.com/office/drawing/2014/main" id="{79078AE2-8528-70A6-89EF-276DDD931AC1}"/>
              </a:ext>
            </a:extLst>
          </p:cNvPr>
          <p:cNvSpPr txBox="1"/>
          <p:nvPr/>
        </p:nvSpPr>
        <p:spPr>
          <a:xfrm>
            <a:off x="1295400" y="2951946"/>
            <a:ext cx="5257800" cy="954107"/>
          </a:xfrm>
          <a:prstGeom prst="rect">
            <a:avLst/>
          </a:prstGeom>
          <a:noFill/>
        </p:spPr>
        <p:txBody>
          <a:bodyPr wrap="square">
            <a:spAutoFit/>
          </a:bodyPr>
          <a:lstStyle/>
          <a:p>
            <a:r>
              <a:rPr lang="en-US" sz="2800" dirty="0">
                <a:solidFill>
                  <a:srgbClr val="002060"/>
                </a:solidFill>
                <a:latin typeface="Bahnschrift Condensed" panose="020B0502040204020203" pitchFamily="34" charset="0"/>
              </a:rPr>
              <a:t>Loan grade almost completely           determines interest rates</a:t>
            </a:r>
          </a:p>
        </p:txBody>
      </p:sp>
      <p:sp>
        <p:nvSpPr>
          <p:cNvPr id="16" name="TextBox 15">
            <a:extLst>
              <a:ext uri="{FF2B5EF4-FFF2-40B4-BE49-F238E27FC236}">
                <a16:creationId xmlns:a16="http://schemas.microsoft.com/office/drawing/2014/main" id="{8E6BA822-3BFE-7123-9362-1C6CA8F6201E}"/>
              </a:ext>
            </a:extLst>
          </p:cNvPr>
          <p:cNvSpPr txBox="1"/>
          <p:nvPr/>
        </p:nvSpPr>
        <p:spPr>
          <a:xfrm>
            <a:off x="6477000" y="2933700"/>
            <a:ext cx="9144000" cy="1200329"/>
          </a:xfrm>
          <a:prstGeom prst="rect">
            <a:avLst/>
          </a:prstGeom>
          <a:noFill/>
        </p:spPr>
        <p:txBody>
          <a:bodyPr wrap="square">
            <a:spAutoFit/>
          </a:bodyPr>
          <a:lstStyle/>
          <a:p>
            <a:pPr>
              <a:buNone/>
            </a:pPr>
            <a:r>
              <a:rPr lang="en-US" sz="2400" dirty="0">
                <a:solidFill>
                  <a:srgbClr val="FF0000"/>
                </a:solidFill>
                <a:latin typeface="Bahnschrift Condensed" panose="020B0502040204020203" pitchFamily="34" charset="0"/>
              </a:rPr>
              <a:t>Finding:</a:t>
            </a:r>
            <a:br>
              <a:rPr lang="en-US" sz="2400" dirty="0">
                <a:solidFill>
                  <a:srgbClr val="002060"/>
                </a:solidFill>
                <a:latin typeface="Bahnschrift Condensed" panose="020B0502040204020203" pitchFamily="34" charset="0"/>
              </a:rPr>
            </a:br>
            <a:r>
              <a:rPr lang="en-US" sz="2400" dirty="0">
                <a:solidFill>
                  <a:srgbClr val="002060"/>
                </a:solidFill>
                <a:latin typeface="Bahnschrift Condensed" panose="020B0502040204020203" pitchFamily="34" charset="0"/>
              </a:rPr>
              <a:t>Adding loan grade increases R² from 26% → over 90%.</a:t>
            </a:r>
          </a:p>
          <a:p>
            <a:pPr>
              <a:buNone/>
            </a:pPr>
            <a:r>
              <a:rPr lang="en-US" sz="2400" dirty="0">
                <a:solidFill>
                  <a:srgbClr val="FF0000"/>
                </a:solidFill>
                <a:latin typeface="Bahnschrift Condensed" panose="020B0502040204020203" pitchFamily="34" charset="0"/>
              </a:rPr>
              <a:t>Why this is shocking:  </a:t>
            </a:r>
            <a:r>
              <a:rPr lang="en-US" sz="2400" dirty="0">
                <a:solidFill>
                  <a:srgbClr val="002060"/>
                </a:solidFill>
                <a:latin typeface="Bahnschrift Condensed" panose="020B0502040204020203" pitchFamily="34" charset="0"/>
              </a:rPr>
              <a:t>One variable explains almost everything</a:t>
            </a:r>
            <a:r>
              <a:rPr lang="en-US" sz="2400" dirty="0"/>
              <a:t>.</a:t>
            </a:r>
          </a:p>
        </p:txBody>
      </p:sp>
      <p:sp>
        <p:nvSpPr>
          <p:cNvPr id="18" name="TextBox 17">
            <a:extLst>
              <a:ext uri="{FF2B5EF4-FFF2-40B4-BE49-F238E27FC236}">
                <a16:creationId xmlns:a16="http://schemas.microsoft.com/office/drawing/2014/main" id="{0EA26CD9-22E4-4BF2-56CC-E22B6C1CB9D2}"/>
              </a:ext>
            </a:extLst>
          </p:cNvPr>
          <p:cNvSpPr txBox="1"/>
          <p:nvPr/>
        </p:nvSpPr>
        <p:spPr>
          <a:xfrm>
            <a:off x="1371600" y="4457700"/>
            <a:ext cx="3886200" cy="954107"/>
          </a:xfrm>
          <a:prstGeom prst="rect">
            <a:avLst/>
          </a:prstGeom>
          <a:noFill/>
        </p:spPr>
        <p:txBody>
          <a:bodyPr wrap="square">
            <a:spAutoFit/>
          </a:bodyPr>
          <a:lstStyle/>
          <a:p>
            <a:r>
              <a:rPr lang="en-US" sz="2800" dirty="0">
                <a:solidFill>
                  <a:srgbClr val="002060"/>
                </a:solidFill>
                <a:latin typeface="Bahnschrift Condensed" panose="020B0502040204020203" pitchFamily="34" charset="0"/>
              </a:rPr>
              <a:t>Prior default loses its effect once loan grade is included</a:t>
            </a:r>
          </a:p>
        </p:txBody>
      </p:sp>
      <p:sp>
        <p:nvSpPr>
          <p:cNvPr id="20" name="TextBox 19">
            <a:extLst>
              <a:ext uri="{FF2B5EF4-FFF2-40B4-BE49-F238E27FC236}">
                <a16:creationId xmlns:a16="http://schemas.microsoft.com/office/drawing/2014/main" id="{DA09EE31-5D3A-D219-B689-1995395B3A32}"/>
              </a:ext>
            </a:extLst>
          </p:cNvPr>
          <p:cNvSpPr txBox="1"/>
          <p:nvPr/>
        </p:nvSpPr>
        <p:spPr>
          <a:xfrm>
            <a:off x="6477000" y="4381500"/>
            <a:ext cx="9144000" cy="1200329"/>
          </a:xfrm>
          <a:prstGeom prst="rect">
            <a:avLst/>
          </a:prstGeom>
          <a:noFill/>
        </p:spPr>
        <p:txBody>
          <a:bodyPr wrap="square">
            <a:spAutoFit/>
          </a:bodyPr>
          <a:lstStyle/>
          <a:p>
            <a:pPr>
              <a:buNone/>
            </a:pPr>
            <a:r>
              <a:rPr lang="en-US" sz="2400" dirty="0">
                <a:solidFill>
                  <a:srgbClr val="FF0000"/>
                </a:solidFill>
                <a:latin typeface="Bahnschrift Condensed" panose="020B0502040204020203" pitchFamily="34" charset="0"/>
              </a:rPr>
              <a:t>Finding:</a:t>
            </a:r>
            <a:br>
              <a:rPr lang="en-US" sz="2400" dirty="0">
                <a:solidFill>
                  <a:srgbClr val="002060"/>
                </a:solidFill>
                <a:latin typeface="Bahnschrift Condensed" panose="020B0502040204020203" pitchFamily="34" charset="0"/>
              </a:rPr>
            </a:br>
            <a:r>
              <a:rPr lang="en-US" sz="2400" dirty="0">
                <a:solidFill>
                  <a:srgbClr val="002060"/>
                </a:solidFill>
                <a:latin typeface="Bahnschrift Condensed" panose="020B0502040204020203" pitchFamily="34" charset="0"/>
              </a:rPr>
              <a:t>Prior default is highly significant in Model 1, but becomes insignificant in Model 2.</a:t>
            </a:r>
          </a:p>
          <a:p>
            <a:pPr>
              <a:buNone/>
            </a:pPr>
            <a:r>
              <a:rPr lang="en-US" sz="2400" dirty="0">
                <a:solidFill>
                  <a:srgbClr val="FF0000"/>
                </a:solidFill>
                <a:latin typeface="Bahnschrift Condensed" panose="020B0502040204020203" pitchFamily="34" charset="0"/>
              </a:rPr>
              <a:t>Why this is revealing: </a:t>
            </a:r>
            <a:r>
              <a:rPr lang="en-US" sz="2400" dirty="0">
                <a:solidFill>
                  <a:srgbClr val="002060"/>
                </a:solidFill>
                <a:latin typeface="Bahnschrift Condensed" panose="020B0502040204020203" pitchFamily="34" charset="0"/>
              </a:rPr>
              <a:t>A key risk factor suddenly “disappears.”</a:t>
            </a:r>
          </a:p>
        </p:txBody>
      </p:sp>
      <p:sp>
        <p:nvSpPr>
          <p:cNvPr id="22" name="TextBox 21">
            <a:extLst>
              <a:ext uri="{FF2B5EF4-FFF2-40B4-BE49-F238E27FC236}">
                <a16:creationId xmlns:a16="http://schemas.microsoft.com/office/drawing/2014/main" id="{DF86B7BB-7FB2-9E6B-D37D-00ADED6F6293}"/>
              </a:ext>
            </a:extLst>
          </p:cNvPr>
          <p:cNvSpPr txBox="1"/>
          <p:nvPr/>
        </p:nvSpPr>
        <p:spPr>
          <a:xfrm>
            <a:off x="1371600" y="5905500"/>
            <a:ext cx="3657600" cy="954107"/>
          </a:xfrm>
          <a:prstGeom prst="rect">
            <a:avLst/>
          </a:prstGeom>
          <a:noFill/>
        </p:spPr>
        <p:txBody>
          <a:bodyPr wrap="square">
            <a:spAutoFit/>
          </a:bodyPr>
          <a:lstStyle/>
          <a:p>
            <a:r>
              <a:rPr lang="en-US" sz="2800" dirty="0">
                <a:solidFill>
                  <a:srgbClr val="002060"/>
                </a:solidFill>
                <a:latin typeface="Bahnschrift Condensed" panose="020B0502040204020203" pitchFamily="34" charset="0"/>
              </a:rPr>
              <a:t>Regression tree confirms a rule-based pricing system</a:t>
            </a:r>
          </a:p>
        </p:txBody>
      </p:sp>
      <p:sp>
        <p:nvSpPr>
          <p:cNvPr id="24" name="TextBox 23">
            <a:extLst>
              <a:ext uri="{FF2B5EF4-FFF2-40B4-BE49-F238E27FC236}">
                <a16:creationId xmlns:a16="http://schemas.microsoft.com/office/drawing/2014/main" id="{DD7C9FD3-61EF-481A-3990-3E6D4B19F06F}"/>
              </a:ext>
            </a:extLst>
          </p:cNvPr>
          <p:cNvSpPr txBox="1"/>
          <p:nvPr/>
        </p:nvSpPr>
        <p:spPr>
          <a:xfrm>
            <a:off x="6477000" y="5753100"/>
            <a:ext cx="10134600" cy="1200329"/>
          </a:xfrm>
          <a:prstGeom prst="rect">
            <a:avLst/>
          </a:prstGeom>
          <a:noFill/>
        </p:spPr>
        <p:txBody>
          <a:bodyPr wrap="square">
            <a:spAutoFit/>
          </a:bodyPr>
          <a:lstStyle/>
          <a:p>
            <a:pPr>
              <a:buNone/>
            </a:pPr>
            <a:r>
              <a:rPr lang="en-US" sz="2400" dirty="0">
                <a:solidFill>
                  <a:srgbClr val="FF0000"/>
                </a:solidFill>
                <a:latin typeface="Bahnschrift Condensed" panose="020B0502040204020203" pitchFamily="34" charset="0"/>
              </a:rPr>
              <a:t>Finding:</a:t>
            </a:r>
            <a:br>
              <a:rPr lang="en-US" sz="2400" dirty="0">
                <a:solidFill>
                  <a:srgbClr val="002060"/>
                </a:solidFill>
                <a:latin typeface="Bahnschrift Condensed" panose="020B0502040204020203" pitchFamily="34" charset="0"/>
              </a:rPr>
            </a:br>
            <a:r>
              <a:rPr lang="en-US" sz="2400" dirty="0">
                <a:solidFill>
                  <a:srgbClr val="002060"/>
                </a:solidFill>
                <a:latin typeface="Bahnschrift Condensed" panose="020B0502040204020203" pitchFamily="34" charset="0"/>
              </a:rPr>
              <a:t>The regression tree (with loan grade) uses only loan grade for splitting.</a:t>
            </a:r>
          </a:p>
          <a:p>
            <a:pPr>
              <a:buNone/>
            </a:pPr>
            <a:r>
              <a:rPr lang="en-US" sz="2400" dirty="0">
                <a:solidFill>
                  <a:srgbClr val="FF0000"/>
                </a:solidFill>
                <a:latin typeface="Bahnschrift Condensed" panose="020B0502040204020203" pitchFamily="34" charset="0"/>
              </a:rPr>
              <a:t>Why this is unexpected: </a:t>
            </a:r>
            <a:r>
              <a:rPr lang="en-US" sz="2400" dirty="0">
                <a:solidFill>
                  <a:srgbClr val="002060"/>
                </a:solidFill>
                <a:latin typeface="Bahnschrift Condensed" panose="020B0502040204020203" pitchFamily="34" charset="0"/>
              </a:rPr>
              <a:t>We included many variables - but the tree ignores all except one.</a:t>
            </a:r>
          </a:p>
        </p:txBody>
      </p:sp>
      <p:sp>
        <p:nvSpPr>
          <p:cNvPr id="26" name="TextBox 25">
            <a:extLst>
              <a:ext uri="{FF2B5EF4-FFF2-40B4-BE49-F238E27FC236}">
                <a16:creationId xmlns:a16="http://schemas.microsoft.com/office/drawing/2014/main" id="{7FDE911A-DA5A-47B4-F223-D8639E6CCFD0}"/>
              </a:ext>
            </a:extLst>
          </p:cNvPr>
          <p:cNvSpPr txBox="1"/>
          <p:nvPr/>
        </p:nvSpPr>
        <p:spPr>
          <a:xfrm>
            <a:off x="1371600" y="7353300"/>
            <a:ext cx="4876800" cy="1384995"/>
          </a:xfrm>
          <a:prstGeom prst="rect">
            <a:avLst/>
          </a:prstGeom>
          <a:noFill/>
        </p:spPr>
        <p:txBody>
          <a:bodyPr wrap="square">
            <a:spAutoFit/>
          </a:bodyPr>
          <a:lstStyle/>
          <a:p>
            <a:r>
              <a:rPr lang="en-US" sz="2800" dirty="0">
                <a:solidFill>
                  <a:srgbClr val="002060"/>
                </a:solidFill>
                <a:latin typeface="Bahnschrift Condensed" panose="020B0502040204020203" pitchFamily="34" charset="0"/>
              </a:rPr>
              <a:t>Without loan grade, pricing                   falls back to fundamental                   borrower risk factors</a:t>
            </a:r>
          </a:p>
        </p:txBody>
      </p:sp>
      <p:sp>
        <p:nvSpPr>
          <p:cNvPr id="28" name="TextBox 27">
            <a:extLst>
              <a:ext uri="{FF2B5EF4-FFF2-40B4-BE49-F238E27FC236}">
                <a16:creationId xmlns:a16="http://schemas.microsoft.com/office/drawing/2014/main" id="{E63E02B0-C005-5749-0B5B-3CD24B9DEF0C}"/>
              </a:ext>
            </a:extLst>
          </p:cNvPr>
          <p:cNvSpPr txBox="1"/>
          <p:nvPr/>
        </p:nvSpPr>
        <p:spPr>
          <a:xfrm>
            <a:off x="6477000" y="7277100"/>
            <a:ext cx="10820400" cy="1200329"/>
          </a:xfrm>
          <a:prstGeom prst="rect">
            <a:avLst/>
          </a:prstGeom>
          <a:noFill/>
        </p:spPr>
        <p:txBody>
          <a:bodyPr wrap="square">
            <a:spAutoFit/>
          </a:bodyPr>
          <a:lstStyle/>
          <a:p>
            <a:r>
              <a:rPr lang="en-US" sz="2400" dirty="0">
                <a:solidFill>
                  <a:srgbClr val="FF0000"/>
                </a:solidFill>
                <a:latin typeface="Bahnschrift Condensed" panose="020B0502040204020203" pitchFamily="34" charset="0"/>
              </a:rPr>
              <a:t>Finding:</a:t>
            </a:r>
            <a:br>
              <a:rPr lang="en-US" sz="2400" dirty="0">
                <a:solidFill>
                  <a:srgbClr val="002060"/>
                </a:solidFill>
                <a:latin typeface="Bahnschrift Condensed" panose="020B0502040204020203" pitchFamily="34" charset="0"/>
              </a:rPr>
            </a:br>
            <a:r>
              <a:rPr lang="en-US" sz="2400" dirty="0">
                <a:solidFill>
                  <a:srgbClr val="002060"/>
                </a:solidFill>
                <a:latin typeface="Bahnschrift Condensed" panose="020B0502040204020203" pitchFamily="34" charset="0"/>
              </a:rPr>
              <a:t>When loan grade is removed, the tree uses: prior default &amp; home ownership </a:t>
            </a:r>
          </a:p>
          <a:p>
            <a:r>
              <a:rPr lang="en-US" sz="2400" dirty="0">
                <a:solidFill>
                  <a:srgbClr val="FF0000"/>
                </a:solidFill>
                <a:latin typeface="Bahnschrift Condensed" panose="020B0502040204020203" pitchFamily="34" charset="0"/>
              </a:rPr>
              <a:t>Why this is insightful: </a:t>
            </a:r>
            <a:r>
              <a:rPr lang="en-US" sz="2400" dirty="0">
                <a:solidFill>
                  <a:srgbClr val="002060"/>
                </a:solidFill>
                <a:latin typeface="Bahnschrift Condensed" panose="020B0502040204020203" pitchFamily="34" charset="0"/>
              </a:rPr>
              <a:t>The model reveals what the bank is really using behind the scenes</a:t>
            </a:r>
            <a:r>
              <a:rPr lang="en-US" sz="2400" dirty="0"/>
              <a:t>.</a:t>
            </a:r>
          </a:p>
        </p:txBody>
      </p:sp>
      <p:sp>
        <p:nvSpPr>
          <p:cNvPr id="30" name="TextBox 29">
            <a:extLst>
              <a:ext uri="{FF2B5EF4-FFF2-40B4-BE49-F238E27FC236}">
                <a16:creationId xmlns:a16="http://schemas.microsoft.com/office/drawing/2014/main" id="{781C13DF-390C-5E31-97CE-CDD7D5E403B5}"/>
              </a:ext>
            </a:extLst>
          </p:cNvPr>
          <p:cNvSpPr txBox="1"/>
          <p:nvPr/>
        </p:nvSpPr>
        <p:spPr>
          <a:xfrm>
            <a:off x="228600" y="1333500"/>
            <a:ext cx="1066800" cy="830997"/>
          </a:xfrm>
          <a:prstGeom prst="rect">
            <a:avLst/>
          </a:prstGeom>
          <a:noFill/>
        </p:spPr>
        <p:txBody>
          <a:bodyPr wrap="square">
            <a:spAutoFit/>
          </a:bodyPr>
          <a:lstStyle/>
          <a:p>
            <a:r>
              <a:rPr lang="en-US" sz="4800" dirty="0"/>
              <a:t>🔥</a:t>
            </a:r>
          </a:p>
        </p:txBody>
      </p:sp>
      <p:sp>
        <p:nvSpPr>
          <p:cNvPr id="33" name="TextBox 32">
            <a:extLst>
              <a:ext uri="{FF2B5EF4-FFF2-40B4-BE49-F238E27FC236}">
                <a16:creationId xmlns:a16="http://schemas.microsoft.com/office/drawing/2014/main" id="{635B81D8-6AB2-3D83-962E-BDB55D773710}"/>
              </a:ext>
            </a:extLst>
          </p:cNvPr>
          <p:cNvSpPr txBox="1"/>
          <p:nvPr/>
        </p:nvSpPr>
        <p:spPr>
          <a:xfrm>
            <a:off x="304800" y="2857500"/>
            <a:ext cx="1066800" cy="830997"/>
          </a:xfrm>
          <a:prstGeom prst="rect">
            <a:avLst/>
          </a:prstGeom>
          <a:noFill/>
        </p:spPr>
        <p:txBody>
          <a:bodyPr wrap="square">
            <a:spAutoFit/>
          </a:bodyPr>
          <a:lstStyle/>
          <a:p>
            <a:r>
              <a:rPr lang="en-US" sz="4800" dirty="0"/>
              <a:t>🔥</a:t>
            </a:r>
          </a:p>
        </p:txBody>
      </p:sp>
      <p:sp>
        <p:nvSpPr>
          <p:cNvPr id="34" name="TextBox 33">
            <a:extLst>
              <a:ext uri="{FF2B5EF4-FFF2-40B4-BE49-F238E27FC236}">
                <a16:creationId xmlns:a16="http://schemas.microsoft.com/office/drawing/2014/main" id="{05AC3AD2-EF41-2C3B-2344-BFC6B4126775}"/>
              </a:ext>
            </a:extLst>
          </p:cNvPr>
          <p:cNvSpPr txBox="1"/>
          <p:nvPr/>
        </p:nvSpPr>
        <p:spPr>
          <a:xfrm>
            <a:off x="304800" y="4381500"/>
            <a:ext cx="1066800" cy="830997"/>
          </a:xfrm>
          <a:prstGeom prst="rect">
            <a:avLst/>
          </a:prstGeom>
          <a:noFill/>
        </p:spPr>
        <p:txBody>
          <a:bodyPr wrap="square">
            <a:spAutoFit/>
          </a:bodyPr>
          <a:lstStyle/>
          <a:p>
            <a:r>
              <a:rPr lang="en-US" sz="4800" dirty="0"/>
              <a:t>🔥</a:t>
            </a:r>
          </a:p>
        </p:txBody>
      </p:sp>
      <p:sp>
        <p:nvSpPr>
          <p:cNvPr id="35" name="TextBox 34">
            <a:extLst>
              <a:ext uri="{FF2B5EF4-FFF2-40B4-BE49-F238E27FC236}">
                <a16:creationId xmlns:a16="http://schemas.microsoft.com/office/drawing/2014/main" id="{8C3E7E3D-3440-B04E-0D5C-137B5EDEA61A}"/>
              </a:ext>
            </a:extLst>
          </p:cNvPr>
          <p:cNvSpPr txBox="1"/>
          <p:nvPr/>
        </p:nvSpPr>
        <p:spPr>
          <a:xfrm>
            <a:off x="381000" y="5829300"/>
            <a:ext cx="1066800" cy="830997"/>
          </a:xfrm>
          <a:prstGeom prst="rect">
            <a:avLst/>
          </a:prstGeom>
          <a:noFill/>
        </p:spPr>
        <p:txBody>
          <a:bodyPr wrap="square">
            <a:spAutoFit/>
          </a:bodyPr>
          <a:lstStyle/>
          <a:p>
            <a:r>
              <a:rPr lang="en-US" sz="4800" dirty="0"/>
              <a:t>🔥</a:t>
            </a:r>
          </a:p>
        </p:txBody>
      </p:sp>
      <p:sp>
        <p:nvSpPr>
          <p:cNvPr id="36" name="TextBox 35">
            <a:extLst>
              <a:ext uri="{FF2B5EF4-FFF2-40B4-BE49-F238E27FC236}">
                <a16:creationId xmlns:a16="http://schemas.microsoft.com/office/drawing/2014/main" id="{BA5F4BB4-4B2A-FE6C-F44D-41057C072DE0}"/>
              </a:ext>
            </a:extLst>
          </p:cNvPr>
          <p:cNvSpPr txBox="1"/>
          <p:nvPr/>
        </p:nvSpPr>
        <p:spPr>
          <a:xfrm>
            <a:off x="457200" y="7429500"/>
            <a:ext cx="1066800" cy="830997"/>
          </a:xfrm>
          <a:prstGeom prst="rect">
            <a:avLst/>
          </a:prstGeom>
          <a:noFill/>
        </p:spPr>
        <p:txBody>
          <a:bodyPr wrap="square">
            <a:spAutoFit/>
          </a:bodyPr>
          <a:lstStyle/>
          <a:p>
            <a:r>
              <a:rPr lang="en-US" sz="4800" dirty="0"/>
              <a:t>🔥</a:t>
            </a:r>
          </a:p>
        </p:txBody>
      </p:sp>
    </p:spTree>
    <p:extLst>
      <p:ext uri="{BB962C8B-B14F-4D97-AF65-F5344CB8AC3E}">
        <p14:creationId xmlns:p14="http://schemas.microsoft.com/office/powerpoint/2010/main" val="607125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A4C0E8-1FAA-6C87-64DA-323F106CEF0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ACB953E-1520-D546-0F63-997862529B69}"/>
              </a:ext>
            </a:extLst>
          </p:cNvPr>
          <p:cNvSpPr txBox="1"/>
          <p:nvPr/>
        </p:nvSpPr>
        <p:spPr>
          <a:xfrm>
            <a:off x="609600" y="342900"/>
            <a:ext cx="12344400" cy="1200329"/>
          </a:xfrm>
          <a:prstGeom prst="rect">
            <a:avLst/>
          </a:prstGeom>
          <a:noFill/>
        </p:spPr>
        <p:txBody>
          <a:bodyPr wrap="square">
            <a:spAutoFit/>
          </a:bodyPr>
          <a:lstStyle/>
          <a:p>
            <a:pPr indent="-457200">
              <a:buFont typeface="Arial" panose="020B0604020202020204" pitchFamily="34" charset="0"/>
              <a:buChar char="•"/>
            </a:pPr>
            <a:r>
              <a:rPr lang="en-US" sz="3600" b="1" u="sng" dirty="0">
                <a:solidFill>
                  <a:srgbClr val="FF0000"/>
                </a:solidFill>
                <a:latin typeface="Bahnschrift Condensed" panose="020B0502040204020203" pitchFamily="34" charset="0"/>
              </a:rPr>
              <a:t>FINAL SUMMARY</a:t>
            </a:r>
          </a:p>
          <a:p>
            <a:pPr indent="-457200">
              <a:buFont typeface="Arial" panose="020B0604020202020204" pitchFamily="34" charset="0"/>
              <a:buChar char="•"/>
            </a:pPr>
            <a:endParaRPr lang="en-US" sz="3600" b="1" u="sng" dirty="0">
              <a:solidFill>
                <a:schemeClr val="tx2"/>
              </a:solidFill>
              <a:latin typeface="Bahnschrift Condensed" panose="020B0502040204020203" pitchFamily="34" charset="0"/>
            </a:endParaRPr>
          </a:p>
        </p:txBody>
      </p:sp>
      <p:pic>
        <p:nvPicPr>
          <p:cNvPr id="12" name="Picture 2">
            <a:extLst>
              <a:ext uri="{FF2B5EF4-FFF2-40B4-BE49-F238E27FC236}">
                <a16:creationId xmlns:a16="http://schemas.microsoft.com/office/drawing/2014/main" id="{1E853E3C-F03E-F20C-5704-62A431346A8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4">
            <a:extLst>
              <a:ext uri="{FF2B5EF4-FFF2-40B4-BE49-F238E27FC236}">
                <a16:creationId xmlns:a16="http://schemas.microsoft.com/office/drawing/2014/main" id="{02338C6B-0322-2682-AA67-7CB3B43EF12E}"/>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7" name="TextBox 6">
            <a:extLst>
              <a:ext uri="{FF2B5EF4-FFF2-40B4-BE49-F238E27FC236}">
                <a16:creationId xmlns:a16="http://schemas.microsoft.com/office/drawing/2014/main" id="{70A5B104-FD2C-E4D1-C866-5118DFE52BB6}"/>
              </a:ext>
            </a:extLst>
          </p:cNvPr>
          <p:cNvSpPr txBox="1"/>
          <p:nvPr/>
        </p:nvSpPr>
        <p:spPr>
          <a:xfrm>
            <a:off x="914400" y="2400300"/>
            <a:ext cx="15697200" cy="2862322"/>
          </a:xfrm>
          <a:prstGeom prst="rect">
            <a:avLst/>
          </a:prstGeom>
          <a:noFill/>
        </p:spPr>
        <p:txBody>
          <a:bodyPr wrap="square">
            <a:spAutoFit/>
          </a:bodyPr>
          <a:lstStyle/>
          <a:p>
            <a:pPr algn="just"/>
            <a:r>
              <a:rPr lang="en-US" sz="3600" dirty="0">
                <a:solidFill>
                  <a:srgbClr val="0070C0"/>
                </a:solidFill>
                <a:latin typeface="Bahnschrift Condensed" panose="020B0502040204020203" pitchFamily="34" charset="0"/>
              </a:rPr>
              <a:t>Taken together, the regression and tree analyses imply that interest rate determination is primarily driven by structured risk classification rather than by raw borrower characteristics alone. At the same time, because loan grade is likely part of the bank’s own pricing formula, the very high explanatory power may partly reflect recovery of an internal pricing rule rather than a purely causal relationship. In addition, external market and time-related factors are not observed in the dataset</a:t>
            </a:r>
          </a:p>
        </p:txBody>
      </p:sp>
      <p:sp>
        <p:nvSpPr>
          <p:cNvPr id="2" name="Freeform 2">
            <a:extLst>
              <a:ext uri="{FF2B5EF4-FFF2-40B4-BE49-F238E27FC236}">
                <a16:creationId xmlns:a16="http://schemas.microsoft.com/office/drawing/2014/main" id="{977E548C-D07A-B7BE-E5F7-BA78A1083E0B}"/>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TextBox 10">
            <a:extLst>
              <a:ext uri="{FF2B5EF4-FFF2-40B4-BE49-F238E27FC236}">
                <a16:creationId xmlns:a16="http://schemas.microsoft.com/office/drawing/2014/main" id="{74F3A865-3345-D826-17B5-77E36BDC06EE}"/>
              </a:ext>
            </a:extLst>
          </p:cNvPr>
          <p:cNvSpPr txBox="1"/>
          <p:nvPr/>
        </p:nvSpPr>
        <p:spPr>
          <a:xfrm>
            <a:off x="6858000" y="5600700"/>
            <a:ext cx="3352800" cy="3170099"/>
          </a:xfrm>
          <a:prstGeom prst="rect">
            <a:avLst/>
          </a:prstGeom>
          <a:noFill/>
        </p:spPr>
        <p:txBody>
          <a:bodyPr wrap="square">
            <a:spAutoFit/>
          </a:bodyPr>
          <a:lstStyle/>
          <a:p>
            <a:r>
              <a:rPr lang="en-US" sz="20000" dirty="0"/>
              <a:t>🎯</a:t>
            </a:r>
          </a:p>
        </p:txBody>
      </p:sp>
    </p:spTree>
    <p:extLst>
      <p:ext uri="{BB962C8B-B14F-4D97-AF65-F5344CB8AC3E}">
        <p14:creationId xmlns:p14="http://schemas.microsoft.com/office/powerpoint/2010/main" val="3372112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319</TotalTime>
  <Words>945</Words>
  <Application>Microsoft Office PowerPoint</Application>
  <PresentationFormat>Произвольный</PresentationFormat>
  <Paragraphs>174</Paragraphs>
  <Slides>17</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17</vt:i4>
      </vt:variant>
    </vt:vector>
  </HeadingPairs>
  <TitlesOfParts>
    <vt:vector size="24" baseType="lpstr">
      <vt:lpstr>Arial</vt:lpstr>
      <vt:lpstr>Aptos</vt:lpstr>
      <vt:lpstr>Bahnschrift Condensed</vt:lpstr>
      <vt:lpstr>Bahnschrift Light</vt:lpstr>
      <vt:lpstr>Wingdings</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Gradient Technology Company Profile Presentation</dc:title>
  <dc:creator>m-jumanazarov</dc:creator>
  <cp:lastModifiedBy>Ulugbek Islomov</cp:lastModifiedBy>
  <cp:revision>27</cp:revision>
  <dcterms:created xsi:type="dcterms:W3CDTF">2006-08-16T00:00:00Z</dcterms:created>
  <dcterms:modified xsi:type="dcterms:W3CDTF">2026-04-19T16:04:30Z</dcterms:modified>
  <dc:identifier>DAG1Y6K5Lng</dc:identifier>
</cp:coreProperties>
</file>